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423" r:id="rId3"/>
    <p:sldId id="422" r:id="rId4"/>
    <p:sldId id="424" r:id="rId5"/>
    <p:sldId id="499" r:id="rId6"/>
    <p:sldId id="500" r:id="rId7"/>
    <p:sldId id="468" r:id="rId8"/>
    <p:sldId id="427" r:id="rId9"/>
    <p:sldId id="425" r:id="rId10"/>
    <p:sldId id="428" r:id="rId11"/>
    <p:sldId id="429" r:id="rId12"/>
    <p:sldId id="430" r:id="rId13"/>
    <p:sldId id="501" r:id="rId14"/>
    <p:sldId id="431" r:id="rId15"/>
    <p:sldId id="432" r:id="rId16"/>
    <p:sldId id="433" r:id="rId17"/>
    <p:sldId id="434" r:id="rId18"/>
    <p:sldId id="435" r:id="rId19"/>
    <p:sldId id="497" r:id="rId20"/>
    <p:sldId id="436" r:id="rId21"/>
    <p:sldId id="437" r:id="rId22"/>
    <p:sldId id="438" r:id="rId23"/>
    <p:sldId id="481" r:id="rId24"/>
    <p:sldId id="439" r:id="rId25"/>
    <p:sldId id="440" r:id="rId26"/>
    <p:sldId id="441" r:id="rId27"/>
    <p:sldId id="442" r:id="rId28"/>
    <p:sldId id="443" r:id="rId29"/>
    <p:sldId id="444" r:id="rId30"/>
    <p:sldId id="482" r:id="rId31"/>
    <p:sldId id="483" r:id="rId32"/>
    <p:sldId id="445" r:id="rId33"/>
    <p:sldId id="446" r:id="rId34"/>
    <p:sldId id="484" r:id="rId35"/>
    <p:sldId id="485" r:id="rId36"/>
    <p:sldId id="486" r:id="rId37"/>
    <p:sldId id="498" r:id="rId38"/>
    <p:sldId id="448" r:id="rId39"/>
    <p:sldId id="488" r:id="rId40"/>
    <p:sldId id="487" r:id="rId41"/>
    <p:sldId id="489" r:id="rId42"/>
    <p:sldId id="490" r:id="rId43"/>
    <p:sldId id="491" r:id="rId44"/>
    <p:sldId id="450" r:id="rId45"/>
    <p:sldId id="452" r:id="rId46"/>
    <p:sldId id="492" r:id="rId47"/>
    <p:sldId id="454" r:id="rId48"/>
    <p:sldId id="458" r:id="rId49"/>
    <p:sldId id="493" r:id="rId50"/>
    <p:sldId id="460" r:id="rId51"/>
    <p:sldId id="461" r:id="rId52"/>
    <p:sldId id="462" r:id="rId53"/>
    <p:sldId id="463" r:id="rId54"/>
    <p:sldId id="464" r:id="rId55"/>
    <p:sldId id="494" r:id="rId56"/>
    <p:sldId id="465" r:id="rId57"/>
    <p:sldId id="466" r:id="rId58"/>
    <p:sldId id="467" r:id="rId59"/>
    <p:sldId id="480" r:id="rId60"/>
    <p:sldId id="469" r:id="rId61"/>
    <p:sldId id="507" r:id="rId62"/>
    <p:sldId id="495" r:id="rId63"/>
    <p:sldId id="496" r:id="rId64"/>
    <p:sldId id="502" r:id="rId65"/>
    <p:sldId id="505" r:id="rId66"/>
    <p:sldId id="503" r:id="rId67"/>
    <p:sldId id="504" r:id="rId68"/>
    <p:sldId id="506" r:id="rId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86A"/>
    <a:srgbClr val="FFD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79"/>
    <p:restoredTop sz="96405"/>
  </p:normalViewPr>
  <p:slideViewPr>
    <p:cSldViewPr snapToGrid="0" showGuides="1">
      <p:cViewPr varScale="1">
        <p:scale>
          <a:sx n="134" d="100"/>
          <a:sy n="134" d="100"/>
        </p:scale>
        <p:origin x="2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F1CFB-1DED-71E7-5407-6EB108BFD3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000" b="0" i="0" dirty="0">
                <a:solidFill>
                  <a:schemeClr val="tx1"/>
                </a:solidFill>
                <a:effectLst/>
                <a:latin typeface="-apple-system"/>
              </a:rPr>
              <a:t>Клиент–сервер. Сокеты. </a:t>
            </a:r>
            <a:br>
              <a:rPr lang="en-US" sz="4000" b="0" i="0" dirty="0">
                <a:solidFill>
                  <a:schemeClr val="tx1"/>
                </a:solidFill>
                <a:effectLst/>
                <a:latin typeface="-apple-system"/>
              </a:rPr>
            </a:br>
            <a:r>
              <a:rPr lang="en" sz="4000" b="0" i="0" dirty="0">
                <a:solidFill>
                  <a:schemeClr val="tx1"/>
                </a:solidFill>
                <a:effectLst/>
                <a:latin typeface="-apple-system"/>
              </a:rPr>
              <a:t>Wire-</a:t>
            </a:r>
            <a:r>
              <a:rPr lang="ru-RU" sz="4000" b="0" i="0" dirty="0">
                <a:solidFill>
                  <a:schemeClr val="tx1"/>
                </a:solidFill>
                <a:effectLst/>
                <a:latin typeface="-apple-system"/>
              </a:rPr>
              <a:t>протокол.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B81CC-D5FA-4BB2-3BAB-8D4894EAC5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</a:t>
            </a:r>
            <a:r>
              <a:rPr lang="en-US" dirty="0" err="1">
                <a:solidFill>
                  <a:schemeClr val="tx1"/>
                </a:solidFill>
              </a:rPr>
              <a:t>entral</a:t>
            </a:r>
            <a:r>
              <a:rPr lang="en-US" dirty="0">
                <a:solidFill>
                  <a:schemeClr val="tx1"/>
                </a:solidFill>
              </a:rPr>
              <a:t> University Database Engineering</a:t>
            </a:r>
          </a:p>
        </p:txBody>
      </p:sp>
    </p:spTree>
    <p:extLst>
      <p:ext uri="{BB962C8B-B14F-4D97-AF65-F5344CB8AC3E}">
        <p14:creationId xmlns:p14="http://schemas.microsoft.com/office/powerpoint/2010/main" val="1879628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chemeClr val="tx1"/>
                </a:solidFill>
              </a:rPr>
              <a:t>Цель занятия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Понять, как клиент и сервер физически общаются через сокеты</a:t>
            </a:r>
            <a:endParaRPr lang="en-US" sz="2400" b="0" i="0" dirty="0">
              <a:solidFill>
                <a:schemeClr val="tx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Разобраться в архитектуре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PostgreSQL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вокруг соединений</a:t>
            </a:r>
            <a:endParaRPr lang="en-US" sz="2400" dirty="0">
              <a:solidFill>
                <a:schemeClr val="tx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Освоить базовые принципы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wire-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протокола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PostgreSQL</a:t>
            </a:r>
            <a:endParaRPr lang="en-US" sz="2400" b="0" i="0" dirty="0">
              <a:solidFill>
                <a:schemeClr val="tx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Применить всё вышеописанное на практике, спроектировав упрощённые клиент и сервер для нашей учебной СУБД</a:t>
            </a:r>
          </a:p>
        </p:txBody>
      </p:sp>
    </p:spTree>
    <p:extLst>
      <p:ext uri="{BB962C8B-B14F-4D97-AF65-F5344CB8AC3E}">
        <p14:creationId xmlns:p14="http://schemas.microsoft.com/office/powerpoint/2010/main" val="226493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4999E94B-574B-F990-9EDF-B1225C29B168}"/>
              </a:ext>
            </a:extLst>
          </p:cNvPr>
          <p:cNvSpPr/>
          <p:nvPr/>
        </p:nvSpPr>
        <p:spPr>
          <a:xfrm>
            <a:off x="1143000" y="1702713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C7E9590F-75CE-4710-16DC-BBB54944ED56}"/>
              </a:ext>
            </a:extLst>
          </p:cNvPr>
          <p:cNvSpPr/>
          <p:nvPr/>
        </p:nvSpPr>
        <p:spPr>
          <a:xfrm>
            <a:off x="1143000" y="2017038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4DE43BC-180B-B94E-02AF-93564320991A}"/>
              </a:ext>
            </a:extLst>
          </p:cNvPr>
          <p:cNvSpPr/>
          <p:nvPr/>
        </p:nvSpPr>
        <p:spPr>
          <a:xfrm>
            <a:off x="6563439" y="1636395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13BD12D2-2F73-7173-7F38-991CBCCF5B4E}"/>
              </a:ext>
            </a:extLst>
          </p:cNvPr>
          <p:cNvSpPr/>
          <p:nvPr/>
        </p:nvSpPr>
        <p:spPr>
          <a:xfrm>
            <a:off x="6563439" y="1950720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1106300-7E32-5849-EC2C-B87D34A6540A}"/>
              </a:ext>
            </a:extLst>
          </p:cNvPr>
          <p:cNvSpPr/>
          <p:nvPr/>
        </p:nvSpPr>
        <p:spPr>
          <a:xfrm>
            <a:off x="1143000" y="3255883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7F509C43-5E31-CDED-04DD-CD22847B0881}"/>
              </a:ext>
            </a:extLst>
          </p:cNvPr>
          <p:cNvSpPr/>
          <p:nvPr/>
        </p:nvSpPr>
        <p:spPr>
          <a:xfrm>
            <a:off x="1143000" y="3570208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C5BA821-CAAF-3A33-803A-61B3FC30A056}"/>
              </a:ext>
            </a:extLst>
          </p:cNvPr>
          <p:cNvSpPr/>
          <p:nvPr/>
        </p:nvSpPr>
        <p:spPr>
          <a:xfrm>
            <a:off x="6563439" y="3189565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8663BC8-B4C0-467A-ED08-4D4AB7FF8DE2}"/>
              </a:ext>
            </a:extLst>
          </p:cNvPr>
          <p:cNvSpPr/>
          <p:nvPr/>
        </p:nvSpPr>
        <p:spPr>
          <a:xfrm>
            <a:off x="6563439" y="3503890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A8B88F0-A2BC-A0A6-A5C8-A01ACB4AE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270" y="466249"/>
            <a:ext cx="4320540" cy="767595"/>
          </a:xfrm>
        </p:spPr>
        <p:txBody>
          <a:bodyPr>
            <a:normAutofit fontScale="90000"/>
          </a:bodyPr>
          <a:lstStyle/>
          <a:p>
            <a:r>
              <a:rPr lang="ru-RU" sz="5400" dirty="0">
                <a:solidFill>
                  <a:schemeClr val="tx1"/>
                </a:solidFill>
              </a:rPr>
              <a:t>План занятия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26009-25DE-A7CE-8602-1EF1DF77B65B}"/>
              </a:ext>
            </a:extLst>
          </p:cNvPr>
          <p:cNvSpPr txBox="1"/>
          <p:nvPr/>
        </p:nvSpPr>
        <p:spPr>
          <a:xfrm>
            <a:off x="1017270" y="2161877"/>
            <a:ext cx="2857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 Базовое понятие Сокетов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4C8D05-0D4C-C84F-A391-E2DFA8203216}"/>
              </a:ext>
            </a:extLst>
          </p:cNvPr>
          <p:cNvSpPr txBox="1"/>
          <p:nvPr/>
        </p:nvSpPr>
        <p:spPr>
          <a:xfrm>
            <a:off x="6563439" y="2095559"/>
            <a:ext cx="4302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Архитектура </a:t>
            </a:r>
            <a:r>
              <a:rPr lang="en" dirty="0"/>
              <a:t>Postgres </a:t>
            </a:r>
            <a:r>
              <a:rPr lang="ru-RU" dirty="0"/>
              <a:t>вокруг соединений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EB97B-97BB-A3F9-52A9-242ED766D6F9}"/>
              </a:ext>
            </a:extLst>
          </p:cNvPr>
          <p:cNvSpPr txBox="1"/>
          <p:nvPr/>
        </p:nvSpPr>
        <p:spPr>
          <a:xfrm>
            <a:off x="1143000" y="3750873"/>
            <a:ext cx="3667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Основы </a:t>
            </a:r>
            <a:r>
              <a:rPr lang="en" dirty="0"/>
              <a:t>wire-</a:t>
            </a:r>
            <a:r>
              <a:rPr lang="ru-RU" dirty="0"/>
              <a:t>протокола </a:t>
            </a:r>
            <a:r>
              <a:rPr lang="en" dirty="0"/>
              <a:t>PostgreSQL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30619-91E6-A6B0-0E8C-E16F5A3ED7FE}"/>
              </a:ext>
            </a:extLst>
          </p:cNvPr>
          <p:cNvSpPr txBox="1"/>
          <p:nvPr/>
        </p:nvSpPr>
        <p:spPr>
          <a:xfrm>
            <a:off x="6526104" y="3701474"/>
            <a:ext cx="5134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Как воспроизвести модель </a:t>
            </a:r>
            <a:r>
              <a:rPr lang="en" dirty="0"/>
              <a:t>Postgres </a:t>
            </a:r>
            <a:r>
              <a:rPr lang="ru-RU" dirty="0"/>
              <a:t>в учебной БД</a:t>
            </a:r>
          </a:p>
        </p:txBody>
      </p:sp>
    </p:spTree>
    <p:extLst>
      <p:ext uri="{BB962C8B-B14F-4D97-AF65-F5344CB8AC3E}">
        <p14:creationId xmlns:p14="http://schemas.microsoft.com/office/powerpoint/2010/main" val="1271686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6C0F2A2-67BE-DA50-C606-9AC7832F6524}"/>
              </a:ext>
            </a:extLst>
          </p:cNvPr>
          <p:cNvSpPr txBox="1"/>
          <p:nvPr/>
        </p:nvSpPr>
        <p:spPr>
          <a:xfrm>
            <a:off x="3162301" y="2537780"/>
            <a:ext cx="60483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/>
              <a:t>Если бы вам нужно было отправить </a:t>
            </a:r>
            <a:r>
              <a:rPr lang="en-US" sz="3600" dirty="0" err="1"/>
              <a:t>с</a:t>
            </a:r>
            <a:r>
              <a:rPr lang="ru-RU" sz="3600" dirty="0" err="1"/>
              <a:t>ообщение</a:t>
            </a:r>
            <a:r>
              <a:rPr lang="ru-RU" sz="3600" dirty="0"/>
              <a:t> другому процессу, какой механизм вы бы выбрали ?</a:t>
            </a:r>
          </a:p>
        </p:txBody>
      </p:sp>
      <p:pic>
        <p:nvPicPr>
          <p:cNvPr id="1028" name="Picture 4" descr="Вопрос на засыпку) — Volkswagen Passat B5, 1,8 л, 2000 года | просто так |  DRIVE2">
            <a:extLst>
              <a:ext uri="{FF2B5EF4-FFF2-40B4-BE49-F238E27FC236}">
                <a16:creationId xmlns:a16="http://schemas.microsoft.com/office/drawing/2014/main" id="{C08A0827-83FE-E6E4-4FA5-087A6149D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0676" y="1518805"/>
            <a:ext cx="2781300" cy="4536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Вопрос на засыпку) — Volkswagen Passat B5, 1,8 л, 2000 года | просто так |  DRIVE2">
            <a:extLst>
              <a:ext uri="{FF2B5EF4-FFF2-40B4-BE49-F238E27FC236}">
                <a16:creationId xmlns:a16="http://schemas.microsoft.com/office/drawing/2014/main" id="{F8BAE4D5-5CE9-0773-486A-6E5A16E62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6" y="1518805"/>
            <a:ext cx="2781300" cy="4536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5205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6C0F2A2-67BE-DA50-C606-9AC7832F6524}"/>
              </a:ext>
            </a:extLst>
          </p:cNvPr>
          <p:cNvSpPr txBox="1"/>
          <p:nvPr/>
        </p:nvSpPr>
        <p:spPr>
          <a:xfrm>
            <a:off x="990600" y="923924"/>
            <a:ext cx="1071562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Если нужно отправить сообщение другому процессу, </a:t>
            </a:r>
            <a:r>
              <a:rPr lang="ru-RU" sz="2400" b="1" i="1" dirty="0"/>
              <a:t>сокет – наиболее очевидный вариант</a:t>
            </a:r>
            <a:r>
              <a:rPr lang="ru-RU" sz="2400" b="1" dirty="0"/>
              <a:t>, потому что: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он обеспечивает </a:t>
            </a:r>
            <a:r>
              <a:rPr lang="ru-RU" sz="2400" b="1" dirty="0"/>
              <a:t>двусторонний обмен данными</a:t>
            </a:r>
            <a:r>
              <a:rPr lang="ru-RU" sz="2400" dirty="0"/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работает как </a:t>
            </a:r>
            <a:r>
              <a:rPr lang="ru-RU" sz="2400" b="1" dirty="0"/>
              <a:t>универсальный канал</a:t>
            </a:r>
            <a:r>
              <a:rPr lang="ru-RU" sz="2400" dirty="0"/>
              <a:t> — и между процессами на одной машине, и по сети,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поддерживает </a:t>
            </a:r>
            <a:r>
              <a:rPr lang="ru-RU" sz="2400" b="1" dirty="0"/>
              <a:t>надёжную доставку</a:t>
            </a:r>
            <a:r>
              <a:rPr lang="ru-RU" sz="2400" dirty="0"/>
              <a:t> (в случае </a:t>
            </a:r>
            <a:r>
              <a:rPr lang="en" sz="2400" dirty="0"/>
              <a:t>TCP),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и подходит для </a:t>
            </a:r>
            <a:r>
              <a:rPr lang="ru-RU" sz="2400" b="1" dirty="0"/>
              <a:t>долговременного общения</a:t>
            </a:r>
            <a:r>
              <a:rPr lang="ru-RU" sz="2400" dirty="0"/>
              <a:t> клиента и сервера.</a:t>
            </a:r>
          </a:p>
          <a:p>
            <a:endParaRPr lang="ru-RU" sz="2400" dirty="0"/>
          </a:p>
          <a:p>
            <a:endParaRPr lang="ru-RU" sz="2400" dirty="0"/>
          </a:p>
          <a:p>
            <a:r>
              <a:rPr lang="ru-RU" sz="2400" dirty="0"/>
              <a:t>Файлы, очереди сообщений или </a:t>
            </a:r>
            <a:r>
              <a:rPr lang="en" sz="2400" dirty="0"/>
              <a:t>HTTP </a:t>
            </a:r>
            <a:r>
              <a:rPr lang="ru-RU" sz="2400" dirty="0"/>
              <a:t>тоже можно использовать, но сокеты — базовый и наиболее прямой способ организовать сетевое взаимодействие между процессами.</a:t>
            </a:r>
          </a:p>
        </p:txBody>
      </p:sp>
    </p:spTree>
    <p:extLst>
      <p:ext uri="{BB962C8B-B14F-4D97-AF65-F5344CB8AC3E}">
        <p14:creationId xmlns:p14="http://schemas.microsoft.com/office/powerpoint/2010/main" val="1048058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276225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Базовое понятие Сокетов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C0F2A2-67BE-DA50-C606-9AC7832F6524}"/>
              </a:ext>
            </a:extLst>
          </p:cNvPr>
          <p:cNvSpPr txBox="1"/>
          <p:nvPr/>
        </p:nvSpPr>
        <p:spPr>
          <a:xfrm>
            <a:off x="1447800" y="1352550"/>
            <a:ext cx="102489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Сокет — это конечная точка двустороннего сетевого соединения между двумя процессами.</a:t>
            </a:r>
          </a:p>
          <a:p>
            <a:endParaRPr lang="ru-RU" sz="2400" dirty="0"/>
          </a:p>
          <a:p>
            <a:r>
              <a:rPr lang="ru-RU" sz="2400" dirty="0"/>
              <a:t>Проще говоря, это дескриптор, через который можно: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отправлять байты (</a:t>
            </a:r>
            <a:r>
              <a:rPr lang="en" sz="2400" dirty="0"/>
              <a:t>send)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получать байты (</a:t>
            </a:r>
            <a:r>
              <a:rPr lang="en" sz="2400" dirty="0" err="1"/>
              <a:t>recv</a:t>
            </a:r>
            <a:r>
              <a:rPr lang="en" sz="2400" dirty="0"/>
              <a:t>)</a:t>
            </a:r>
          </a:p>
          <a:p>
            <a:endParaRPr lang="en" sz="2400" dirty="0"/>
          </a:p>
          <a:p>
            <a:r>
              <a:rPr lang="ru-RU" sz="2400" dirty="0"/>
              <a:t>Но эти байты идут не на диск, а по сети.</a:t>
            </a:r>
          </a:p>
        </p:txBody>
      </p:sp>
      <p:pic>
        <p:nvPicPr>
          <p:cNvPr id="14338" name="Picture 2" descr="Проводной телефон Panasonic KX-TS2362RUW по выгодной цене 5 550 р. с  доставкой по России - Тысяча товаров для автоматизации">
            <a:extLst>
              <a:ext uri="{FF2B5EF4-FFF2-40B4-BE49-F238E27FC236}">
                <a16:creationId xmlns:a16="http://schemas.microsoft.com/office/drawing/2014/main" id="{4378BB64-FAA5-585B-6071-CC6D4870D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317" y="3286125"/>
            <a:ext cx="4124708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B17C8C-E65F-7165-8207-F06F333C3CCE}"/>
              </a:ext>
            </a:extLst>
          </p:cNvPr>
          <p:cNvSpPr txBox="1"/>
          <p:nvPr/>
        </p:nvSpPr>
        <p:spPr>
          <a:xfrm>
            <a:off x="3190875" y="5724525"/>
            <a:ext cx="34998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FF0000"/>
                </a:solidFill>
              </a:rPr>
              <a:t>При чем здесь телефон ?</a:t>
            </a:r>
          </a:p>
        </p:txBody>
      </p:sp>
    </p:spTree>
    <p:extLst>
      <p:ext uri="{BB962C8B-B14F-4D97-AF65-F5344CB8AC3E}">
        <p14:creationId xmlns:p14="http://schemas.microsoft.com/office/powerpoint/2010/main" val="455374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276225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Что такое сокет</a:t>
            </a:r>
            <a:endParaRPr lang="en-US" sz="3400" dirty="0">
              <a:solidFill>
                <a:schemeClr val="tx1"/>
              </a:solidFill>
            </a:endParaRPr>
          </a:p>
        </p:txBody>
      </p:sp>
      <p:pic>
        <p:nvPicPr>
          <p:cNvPr id="1026" name="Picture 2" descr="Postgres adapter | Socket.IO">
            <a:extLst>
              <a:ext uri="{FF2B5EF4-FFF2-40B4-BE49-F238E27FC236}">
                <a16:creationId xmlns:a16="http://schemas.microsoft.com/office/drawing/2014/main" id="{8652FFEE-9ECC-DAB5-2F44-BD4BFFA4F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4" y="989574"/>
            <a:ext cx="8982075" cy="561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245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8A2D1C-ED88-FC3E-0BD9-464465B31AF8}"/>
              </a:ext>
            </a:extLst>
          </p:cNvPr>
          <p:cNvSpPr txBox="1"/>
          <p:nvPr/>
        </p:nvSpPr>
        <p:spPr>
          <a:xfrm>
            <a:off x="1114425" y="1003610"/>
            <a:ext cx="102679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</a:rPr>
              <a:t>В любом случае не существует </a:t>
            </a:r>
            <a:r>
              <a:rPr lang="en" sz="4000" dirty="0">
                <a:solidFill>
                  <a:srgbClr val="FF0000"/>
                </a:solidFill>
              </a:rPr>
              <a:t>SQL/SELECT/</a:t>
            </a:r>
            <a:r>
              <a:rPr lang="ru-RU" sz="4000" dirty="0">
                <a:solidFill>
                  <a:srgbClr val="FF0000"/>
                </a:solidFill>
              </a:rPr>
              <a:t>пользователей — </a:t>
            </a:r>
          </a:p>
          <a:p>
            <a:pPr algn="ctr"/>
            <a:r>
              <a:rPr lang="ru-RU" sz="4000" dirty="0">
                <a:solidFill>
                  <a:srgbClr val="FF0000"/>
                </a:solidFill>
              </a:rPr>
              <a:t>существуют только байты.</a:t>
            </a:r>
          </a:p>
        </p:txBody>
      </p:sp>
      <p:sp>
        <p:nvSpPr>
          <p:cNvPr id="12" name="AutoShape 12" descr="Смайлик-эмодзи ❗ 'Красный восклицательный знак' ВК (ВКонтакте), Телеграм,  Ватсап: код смайла, значение и расшифровка">
            <a:extLst>
              <a:ext uri="{FF2B5EF4-FFF2-40B4-BE49-F238E27FC236}">
                <a16:creationId xmlns:a16="http://schemas.microsoft.com/office/drawing/2014/main" id="{149EDBE8-8A2D-8C76-5492-8BF190F754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AutoShape 14" descr="Смайлик-эмодзи ❗ 'Красный восклицательный знак' ВК (ВКонтакте), Телеграм,  Ватсап: код смайла, значение и расшифровка">
            <a:extLst>
              <a:ext uri="{FF2B5EF4-FFF2-40B4-BE49-F238E27FC236}">
                <a16:creationId xmlns:a16="http://schemas.microsoft.com/office/drawing/2014/main" id="{D0BE50FF-F2DA-0AA4-7CB9-9F2FC88D7C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" name="AutoShape 16" descr="Смайлик-эмодзи ❗ 'Красный восклицательный знак' ВК (ВКонтакте), Телеграм,  Ватсап: код смайла, значение и расшифровка">
            <a:extLst>
              <a:ext uri="{FF2B5EF4-FFF2-40B4-BE49-F238E27FC236}">
                <a16:creationId xmlns:a16="http://schemas.microsoft.com/office/drawing/2014/main" id="{6633414C-E947-F1BD-B5C4-C49E8ECCDF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5A125FA-3C63-FAA3-0226-CD4ACD0E7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76600"/>
            <a:ext cx="7772400" cy="234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62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Основные типы сокетов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685924"/>
            <a:ext cx="4810127" cy="4657725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" sz="2400" b="1" i="0" dirty="0">
                <a:solidFill>
                  <a:schemeClr val="tx1"/>
                </a:solidFill>
                <a:effectLst/>
              </a:rPr>
              <a:t>TCP-</a:t>
            </a:r>
            <a:r>
              <a:rPr lang="ru-RU" sz="2400" b="1" i="0" dirty="0">
                <a:solidFill>
                  <a:schemeClr val="tx1"/>
                </a:solidFill>
                <a:effectLst/>
              </a:rPr>
              <a:t>сокеты</a:t>
            </a:r>
          </a:p>
          <a:p>
            <a:pPr marL="0" indent="0" algn="l">
              <a:buNone/>
            </a:pPr>
            <a:endParaRPr lang="ru-RU" sz="2400" b="0" i="0" dirty="0">
              <a:solidFill>
                <a:schemeClr val="tx1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Соединяют два процесса по сети (или на одной машине через </a:t>
            </a:r>
            <a:r>
              <a:rPr lang="en" b="0" i="0" dirty="0">
                <a:solidFill>
                  <a:schemeClr val="tx1"/>
                </a:solidFill>
                <a:effectLst/>
              </a:rPr>
              <a:t>IP/</a:t>
            </a:r>
            <a:r>
              <a:rPr lang="ru-RU" b="0" i="0" dirty="0">
                <a:solidFill>
                  <a:schemeClr val="tx1"/>
                </a:solidFill>
                <a:effectLst/>
              </a:rPr>
              <a:t>порт).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Обеспечивают: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установку соединения (</a:t>
            </a:r>
            <a:r>
              <a:rPr lang="en" b="0" i="0" dirty="0">
                <a:solidFill>
                  <a:schemeClr val="tx1"/>
                </a:solidFill>
                <a:effectLst/>
              </a:rPr>
              <a:t>TCP-handshake: SYN → SYN/ACK → ACK),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надёжную доставку,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сохранение порядка байт.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E55C67-3117-1963-0831-DFBFB773B025}"/>
              </a:ext>
            </a:extLst>
          </p:cNvPr>
          <p:cNvSpPr txBox="1"/>
          <p:nvPr/>
        </p:nvSpPr>
        <p:spPr>
          <a:xfrm>
            <a:off x="6905625" y="1685924"/>
            <a:ext cx="497204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" sz="2400" b="1" i="0" dirty="0">
                <a:solidFill>
                  <a:schemeClr val="tx1"/>
                </a:solidFill>
                <a:effectLst/>
              </a:rPr>
              <a:t>Unix domain sockets</a:t>
            </a:r>
            <a:endParaRPr lang="ru-RU" sz="2400" b="1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endParaRPr lang="en" sz="2400" b="1" i="0" dirty="0">
              <a:solidFill>
                <a:schemeClr val="tx1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/>
                </a:solidFill>
                <a:effectLst/>
              </a:rPr>
              <a:t>Соединяют процессы на одной машине.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/>
                </a:solidFill>
                <a:effectLst/>
              </a:rPr>
              <a:t>Работают как </a:t>
            </a:r>
            <a:r>
              <a:rPr lang="en" sz="2000" b="0" i="0" dirty="0">
                <a:solidFill>
                  <a:schemeClr val="tx1"/>
                </a:solidFill>
                <a:effectLst/>
              </a:rPr>
              <a:t>TCP, </a:t>
            </a:r>
            <a:r>
              <a:rPr lang="ru-RU" sz="2000" b="0" i="0" dirty="0">
                <a:solidFill>
                  <a:schemeClr val="tx1"/>
                </a:solidFill>
                <a:effectLst/>
              </a:rPr>
              <a:t>но без сетевого стека и </a:t>
            </a:r>
            <a:r>
              <a:rPr lang="en" sz="2000" b="0" i="0" dirty="0">
                <a:solidFill>
                  <a:schemeClr val="tx1"/>
                </a:solidFill>
                <a:effectLst/>
              </a:rPr>
              <a:t>IP-</a:t>
            </a:r>
            <a:r>
              <a:rPr lang="ru-RU" sz="2000" b="0" i="0" dirty="0">
                <a:solidFill>
                  <a:schemeClr val="tx1"/>
                </a:solidFill>
                <a:effectLst/>
              </a:rPr>
              <a:t>слоя.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/>
                </a:solidFill>
                <a:effectLst/>
              </a:rPr>
              <a:t>Обычно быстрее, поэтому локальный </a:t>
            </a:r>
            <a:r>
              <a:rPr lang="en" sz="2000" b="0" i="0" dirty="0" err="1">
                <a:solidFill>
                  <a:schemeClr val="tx1"/>
                </a:solidFill>
                <a:effectLst/>
              </a:rPr>
              <a:t>psql</a:t>
            </a:r>
            <a:r>
              <a:rPr lang="en" sz="2000" b="0" i="0" dirty="0">
                <a:solidFill>
                  <a:schemeClr val="tx1"/>
                </a:solidFill>
                <a:effectLst/>
              </a:rPr>
              <a:t> </a:t>
            </a:r>
            <a:r>
              <a:rPr lang="ru-RU" sz="2000" b="0" i="0" dirty="0">
                <a:solidFill>
                  <a:schemeClr val="tx1"/>
                </a:solidFill>
                <a:effectLst/>
              </a:rPr>
              <a:t>по умолчанию ходит в </a:t>
            </a:r>
            <a:r>
              <a:rPr lang="en" sz="2000" b="0" i="0" dirty="0">
                <a:solidFill>
                  <a:schemeClr val="tx1"/>
                </a:solidFill>
                <a:effectLst/>
              </a:rPr>
              <a:t>Postgres </a:t>
            </a:r>
            <a:r>
              <a:rPr lang="ru-RU" sz="2000" b="0" i="0" dirty="0">
                <a:solidFill>
                  <a:schemeClr val="tx1"/>
                </a:solidFill>
                <a:effectLst/>
              </a:rPr>
              <a:t>через </a:t>
            </a:r>
            <a:r>
              <a:rPr lang="en" sz="2000" b="0" i="0" dirty="0">
                <a:solidFill>
                  <a:schemeClr val="tx1"/>
                </a:solidFill>
                <a:effectLst/>
              </a:rPr>
              <a:t>Unix-</a:t>
            </a:r>
            <a:r>
              <a:rPr lang="ru-RU" sz="2000" b="0" i="0" dirty="0">
                <a:solidFill>
                  <a:schemeClr val="tx1"/>
                </a:solidFill>
                <a:effectLst/>
              </a:rPr>
              <a:t>сокет.</a:t>
            </a:r>
          </a:p>
        </p:txBody>
      </p:sp>
    </p:spTree>
    <p:extLst>
      <p:ext uri="{BB962C8B-B14F-4D97-AF65-F5344CB8AC3E}">
        <p14:creationId xmlns:p14="http://schemas.microsoft.com/office/powerpoint/2010/main" val="736135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Процессная модель </a:t>
            </a:r>
            <a:r>
              <a:rPr lang="en" sz="3400" dirty="0">
                <a:solidFill>
                  <a:schemeClr val="tx1"/>
                </a:solidFill>
              </a:rPr>
              <a:t>PostgreSQL</a:t>
            </a:r>
            <a:endParaRPr lang="en-US" sz="3400" dirty="0">
              <a:solidFill>
                <a:schemeClr val="tx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0A5351-0D91-7FD3-6284-F59CEF112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1593987"/>
            <a:ext cx="11139396" cy="447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02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Главный процесс (</a:t>
            </a:r>
            <a:r>
              <a:rPr lang="en" sz="3400" dirty="0">
                <a:solidFill>
                  <a:schemeClr val="tx1"/>
                </a:solidFill>
              </a:rPr>
              <a:t>postmaster)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19225"/>
            <a:ext cx="9601200" cy="5019675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ru-RU" sz="2400" b="1" i="0" dirty="0">
                <a:solidFill>
                  <a:schemeClr val="tx1"/>
                </a:solidFill>
                <a:effectLst/>
              </a:rPr>
              <a:t>Кто это такой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Единственный процесс на кластер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Инициирует и контролирует работу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PostgreSQL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Видим в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ps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как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postgres</a:t>
            </a:r>
            <a:endParaRPr lang="en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endParaRPr lang="ru-RU" sz="2400" b="1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r>
              <a:rPr lang="ru-RU" sz="2400" b="1" i="0" dirty="0">
                <a:solidFill>
                  <a:schemeClr val="tx1"/>
                </a:solidFill>
                <a:effectLst/>
              </a:rPr>
              <a:t>Основные задачи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Загружает конфигурации: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postgresql.conf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,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pg_hba.conf</a:t>
            </a:r>
            <a:endParaRPr lang="en" sz="2400" b="0" i="0" dirty="0">
              <a:solidFill>
                <a:schemeClr val="tx1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Выделяет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shared memory +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настраивает синхронизацию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Запускает фоновые процессы: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checkpointer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, background writer,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walwriter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,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autovacuum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launcher</a:t>
            </a:r>
            <a:endParaRPr lang="ru-RU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endParaRPr lang="ru-RU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r>
              <a:rPr lang="en" sz="2400" b="1" i="0" dirty="0">
                <a:solidFill>
                  <a:schemeClr val="tx1"/>
                </a:solidFill>
                <a:effectLst/>
              </a:rPr>
              <a:t>postmaster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не выполняет запросы — он управляет жизнью кластера и раздаёт соединения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backend-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процессам.</a:t>
            </a:r>
          </a:p>
        </p:txBody>
      </p:sp>
      <p:pic>
        <p:nvPicPr>
          <p:cNvPr id="15362" name="Picture 2" descr="Мем: &quot;Я тут главный&quot; - Все шаблоны - Meme-arsenal.com">
            <a:extLst>
              <a:ext uri="{FF2B5EF4-FFF2-40B4-BE49-F238E27FC236}">
                <a16:creationId xmlns:a16="http://schemas.microsoft.com/office/drawing/2014/main" id="{C3B996D4-07E4-7968-0853-A9E778F6A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2475" y="209550"/>
            <a:ext cx="3473450" cy="347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3870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38125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Фоновые процессы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305051"/>
            <a:ext cx="9725025" cy="265747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4800" b="0" i="0" dirty="0">
                <a:solidFill>
                  <a:srgbClr val="FF0000"/>
                </a:solidFill>
                <a:effectLst/>
              </a:rPr>
              <a:t>Какие ?</a:t>
            </a:r>
          </a:p>
        </p:txBody>
      </p:sp>
      <p:pic>
        <p:nvPicPr>
          <p:cNvPr id="16386" name="Picture 2" descr="Внимание вопрос - Memchik.ru">
            <a:extLst>
              <a:ext uri="{FF2B5EF4-FFF2-40B4-BE49-F238E27FC236}">
                <a16:creationId xmlns:a16="http://schemas.microsoft.com/office/drawing/2014/main" id="{8462300C-8737-00D1-C064-8A361DC5A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7747" y="857250"/>
            <a:ext cx="5820527" cy="621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0534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38125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Фоновые процессы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933451"/>
            <a:ext cx="9810750" cy="5924550"/>
          </a:xfrm>
        </p:spPr>
        <p:txBody>
          <a:bodyPr>
            <a:normAutofit fontScale="70000" lnSpcReduction="20000"/>
          </a:bodyPr>
          <a:lstStyle/>
          <a:p>
            <a:pPr marL="0" indent="0" algn="l">
              <a:buNone/>
            </a:pPr>
            <a:r>
              <a:rPr lang="ru-RU" sz="2400" b="1" i="0" dirty="0">
                <a:solidFill>
                  <a:schemeClr val="tx1"/>
                </a:solidFill>
                <a:effectLst/>
              </a:rPr>
              <a:t>Зачем они нужны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Делают общую работу сервера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Не привязаны к конкретным клиентам/сессиям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Работают через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shared memory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и помогают всем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backend’</a:t>
            </a:r>
            <a:r>
              <a:rPr lang="ru-RU" sz="2400" b="0" i="0" dirty="0" err="1">
                <a:solidFill>
                  <a:schemeClr val="tx1"/>
                </a:solidFill>
                <a:effectLst/>
              </a:rPr>
              <a:t>ам</a:t>
            </a:r>
            <a:endParaRPr lang="ru-RU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endParaRPr lang="en-US" sz="2400" b="1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r>
              <a:rPr lang="ru-RU" sz="2400" b="1" i="0" dirty="0">
                <a:solidFill>
                  <a:schemeClr val="tx1"/>
                </a:solidFill>
                <a:effectLst/>
              </a:rPr>
              <a:t>Основные типы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sz="2400" b="0" i="0" dirty="0" err="1">
                <a:solidFill>
                  <a:schemeClr val="tx1"/>
                </a:solidFill>
                <a:effectLst/>
              </a:rPr>
              <a:t>checkpointer</a:t>
            </a:r>
            <a:endParaRPr lang="en" sz="2400" b="0" i="0" dirty="0">
              <a:solidFill>
                <a:schemeClr val="tx1"/>
              </a:solidFill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периодически сбрасывает изменённые страницы на диск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пишет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checkpoint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в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WAL (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быстрый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recovery)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sz="2400" b="0" i="0" dirty="0">
                <a:solidFill>
                  <a:schemeClr val="tx1"/>
                </a:solidFill>
                <a:effectLst/>
              </a:rPr>
              <a:t>background writer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в фоне выталкивает грязные страницы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чтобы запросы меньше страдали от записи/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fsync</a:t>
            </a:r>
            <a:endParaRPr lang="en" sz="2400" b="0" i="0" dirty="0">
              <a:solidFill>
                <a:schemeClr val="tx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" sz="2400" b="0" i="0" dirty="0" err="1">
                <a:solidFill>
                  <a:schemeClr val="tx1"/>
                </a:solidFill>
                <a:effectLst/>
              </a:rPr>
              <a:t>walwriter</a:t>
            </a:r>
            <a:endParaRPr lang="en" sz="2400" b="0" i="0" dirty="0">
              <a:solidFill>
                <a:schemeClr val="tx1"/>
              </a:solidFill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эффективно пишет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WAL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группирует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fsync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(group commit)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sz="2400" b="0" i="0" dirty="0" err="1">
                <a:solidFill>
                  <a:schemeClr val="tx1"/>
                </a:solidFill>
                <a:effectLst/>
              </a:rPr>
              <a:t>autovacuum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launcher + workers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чистят «мёртвые» версии строк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запускают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VACUUM / ANALYZE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по статистике</a:t>
            </a:r>
          </a:p>
        </p:txBody>
      </p:sp>
    </p:spTree>
    <p:extLst>
      <p:ext uri="{BB962C8B-B14F-4D97-AF65-F5344CB8AC3E}">
        <p14:creationId xmlns:p14="http://schemas.microsoft.com/office/powerpoint/2010/main" val="2722282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475" y="185738"/>
            <a:ext cx="9601200" cy="1076325"/>
          </a:xfrm>
        </p:spPr>
        <p:txBody>
          <a:bodyPr>
            <a:normAutofit/>
          </a:bodyPr>
          <a:lstStyle/>
          <a:p>
            <a:r>
              <a:rPr lang="en" sz="3400" dirty="0">
                <a:solidFill>
                  <a:schemeClr val="tx1"/>
                </a:solidFill>
              </a:rPr>
              <a:t>Backend-</a:t>
            </a:r>
            <a:r>
              <a:rPr lang="ru-RU" sz="3400" dirty="0">
                <a:solidFill>
                  <a:schemeClr val="tx1"/>
                </a:solidFill>
              </a:rPr>
              <a:t>процессы (клиентские сессии)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48EB02-6B85-6092-8977-4440E1E5A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269" y="1021137"/>
            <a:ext cx="9853612" cy="565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73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Как это выглядит в </a:t>
            </a:r>
            <a:r>
              <a:rPr lang="en" sz="3400" dirty="0" err="1">
                <a:solidFill>
                  <a:schemeClr val="tx1"/>
                </a:solidFill>
              </a:rPr>
              <a:t>ps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14438"/>
            <a:ext cx="9601200" cy="153828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В выводе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ps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aux | grep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postgres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можно увидеть примерно такую картину (упрощённо):</a:t>
            </a:r>
          </a:p>
          <a:p>
            <a:pPr marL="0" indent="0" algn="l">
              <a:buNone/>
            </a:pPr>
            <a:endParaRPr lang="ru-RU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endParaRPr lang="ru-RU" sz="2400" b="0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D1CBD7E-254E-764B-7BBD-BEF869617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90763"/>
            <a:ext cx="7772400" cy="2103574"/>
          </a:xfrm>
          <a:prstGeom prst="rect">
            <a:avLst/>
          </a:prstGeom>
        </p:spPr>
      </p:pic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48512D2-7EC0-C1DE-8138-D5EBC6CC6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684789"/>
              </p:ext>
            </p:extLst>
          </p:nvPr>
        </p:nvGraphicFramePr>
        <p:xfrm>
          <a:off x="1371600" y="4720590"/>
          <a:ext cx="9601200" cy="1632585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3935475997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92477613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803459163"/>
                    </a:ext>
                  </a:extLst>
                </a:gridCol>
              </a:tblGrid>
              <a:tr h="535305">
                <a:tc>
                  <a:txBody>
                    <a:bodyPr/>
                    <a:lstStyle/>
                    <a:p>
                      <a:r>
                        <a:rPr lang="ru-RU" b="1" dirty="0"/>
                        <a:t>Тип процесса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Как выглядит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Роль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964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b="1"/>
                        <a:t>postmaster</a:t>
                      </a:r>
                      <a:endParaRPr lang="e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postgres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главный процесс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155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1"/>
                        <a:t>фоновые</a:t>
                      </a:r>
                      <a:endParaRPr lang="ru-R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postgres: checkpointer </a:t>
                      </a:r>
                      <a:r>
                        <a:rPr lang="ru-RU"/>
                        <a:t>и др.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обслуживание сервера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960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b="1"/>
                        <a:t>backend</a:t>
                      </a:r>
                      <a:endParaRPr lang="e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postgres: user db ... idle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клиентские сессии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8706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24448BB-AD03-CDDF-B86B-9B9CD3A33159}"/>
              </a:ext>
            </a:extLst>
          </p:cNvPr>
          <p:cNvSpPr txBox="1"/>
          <p:nvPr/>
        </p:nvSpPr>
        <p:spPr>
          <a:xfrm>
            <a:off x="9439275" y="2290763"/>
            <a:ext cx="2562225" cy="20313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" dirty="0" err="1"/>
              <a:t>ps</a:t>
            </a:r>
            <a:r>
              <a:rPr lang="en" dirty="0"/>
              <a:t> — </a:t>
            </a:r>
            <a:r>
              <a:rPr lang="ru-RU" dirty="0"/>
              <a:t>это утилита в </a:t>
            </a:r>
            <a:r>
              <a:rPr lang="en" dirty="0"/>
              <a:t>UNIX-</a:t>
            </a:r>
            <a:r>
              <a:rPr lang="ru-RU" dirty="0"/>
              <a:t>подобных системах (</a:t>
            </a:r>
            <a:r>
              <a:rPr lang="en" dirty="0"/>
              <a:t>Linux, macOS), </a:t>
            </a:r>
            <a:r>
              <a:rPr lang="ru-RU" dirty="0"/>
              <a:t>которая показывает </a:t>
            </a:r>
            <a:r>
              <a:rPr lang="ru-RU" b="1" dirty="0"/>
              <a:t>список текущих процессов</a:t>
            </a:r>
            <a:r>
              <a:rPr lang="ru-RU" dirty="0"/>
              <a:t> в операционной системе.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4099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Жизненный цикл соединения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Подключение — клиент создаёт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TCP/Unix-socket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" sz="2400" b="0" i="0" dirty="0">
                <a:solidFill>
                  <a:schemeClr val="tx1"/>
                </a:solidFill>
                <a:effectLst/>
              </a:rPr>
              <a:t>Startup-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протокол — договорились о параметрах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Работа сессии — множество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SQL-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запросов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Транзакции —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begin/commit/rollback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Закрытие —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backend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освобождает ресурсы и исчезает</a:t>
            </a:r>
          </a:p>
        </p:txBody>
      </p:sp>
    </p:spTree>
    <p:extLst>
      <p:ext uri="{BB962C8B-B14F-4D97-AF65-F5344CB8AC3E}">
        <p14:creationId xmlns:p14="http://schemas.microsoft.com/office/powerpoint/2010/main" val="1164146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Подключение клиента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76349"/>
            <a:ext cx="9601200" cy="5095875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2200" b="0" i="0" dirty="0">
                <a:solidFill>
                  <a:schemeClr val="tx1"/>
                </a:solidFill>
                <a:effectLst/>
              </a:rPr>
              <a:t>Драйвер получает: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solidFill>
                  <a:schemeClr val="tx1"/>
                </a:solidFill>
                <a:effectLst/>
              </a:rPr>
              <a:t>адрес (</a:t>
            </a:r>
            <a:r>
              <a:rPr lang="en" sz="2200" b="0" i="0" dirty="0" err="1">
                <a:solidFill>
                  <a:schemeClr val="tx1"/>
                </a:solidFill>
                <a:effectLst/>
              </a:rPr>
              <a:t>host:port</a:t>
            </a:r>
            <a:r>
              <a:rPr lang="en" sz="2200" b="0" i="0" dirty="0">
                <a:solidFill>
                  <a:schemeClr val="tx1"/>
                </a:solidFill>
                <a:effectLst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solidFill>
                  <a:schemeClr val="tx1"/>
                </a:solidFill>
                <a:effectLst/>
              </a:rPr>
              <a:t>пользователя, базу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solidFill>
                  <a:schemeClr val="tx1"/>
                </a:solidFill>
                <a:effectLst/>
              </a:rPr>
              <a:t>параметры сессии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2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r>
              <a:rPr lang="ru-RU" sz="2200" dirty="0"/>
              <a:t>После чего: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dirty="0"/>
              <a:t>ОС принимает входящее соединение на 5432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dirty="0"/>
              <a:t>Передаёт сокет </a:t>
            </a:r>
            <a:r>
              <a:rPr lang="en" sz="2200" b="1" dirty="0"/>
              <a:t>postmaster’</a:t>
            </a:r>
            <a:r>
              <a:rPr lang="ru-RU" sz="2200" b="1" dirty="0"/>
              <a:t>у</a:t>
            </a:r>
            <a:endParaRPr lang="ru-RU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" sz="2200" dirty="0"/>
              <a:t>Postmaster </a:t>
            </a:r>
            <a:r>
              <a:rPr lang="ru-RU" sz="2200" dirty="0"/>
              <a:t>создаёт </a:t>
            </a:r>
            <a:r>
              <a:rPr lang="en" sz="2200" b="1" dirty="0"/>
              <a:t>backend </a:t>
            </a:r>
            <a:r>
              <a:rPr lang="ru-RU" sz="2200" b="1" dirty="0"/>
              <a:t>для клиента</a:t>
            </a:r>
            <a:endParaRPr lang="ru-RU" sz="2200" dirty="0"/>
          </a:p>
          <a:p>
            <a:pPr>
              <a:buFont typeface="Arial" panose="020B0604020202020204" pitchFamily="34" charset="0"/>
              <a:buChar char="•"/>
            </a:pPr>
            <a:endParaRPr lang="ru-RU" sz="2200" b="0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4B268F4-B0BF-2BAF-D6C4-3313135BF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291200"/>
            <a:ext cx="7772400" cy="106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248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Роль </a:t>
            </a:r>
            <a:r>
              <a:rPr lang="en" sz="3400" dirty="0">
                <a:solidFill>
                  <a:schemeClr val="tx1"/>
                </a:solidFill>
              </a:rPr>
              <a:t>postmaster </a:t>
            </a:r>
            <a:r>
              <a:rPr lang="ru-RU" sz="3400" dirty="0">
                <a:solidFill>
                  <a:schemeClr val="tx1"/>
                </a:solidFill>
              </a:rPr>
              <a:t>на этапе подключения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23975"/>
            <a:ext cx="10744200" cy="45624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chemeClr val="tx1"/>
                </a:solidFill>
                <a:effectLst/>
              </a:rPr>
              <a:t>При новом соединении: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b="0" i="0" dirty="0">
                <a:solidFill>
                  <a:schemeClr val="tx1"/>
                </a:solidFill>
                <a:effectLst/>
              </a:rPr>
              <a:t>Принимает сокет от ОС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b="0" i="0" dirty="0">
                <a:solidFill>
                  <a:schemeClr val="tx1"/>
                </a:solidFill>
                <a:effectLst/>
              </a:rPr>
              <a:t>Создаёт </a:t>
            </a:r>
            <a:r>
              <a:rPr lang="en" b="0" i="0" dirty="0">
                <a:solidFill>
                  <a:schemeClr val="tx1"/>
                </a:solidFill>
                <a:effectLst/>
              </a:rPr>
              <a:t>backend-</a:t>
            </a:r>
            <a:r>
              <a:rPr lang="ru-RU" b="0" i="0" dirty="0">
                <a:solidFill>
                  <a:schemeClr val="tx1"/>
                </a:solidFill>
                <a:effectLst/>
              </a:rPr>
              <a:t>процесс (</a:t>
            </a:r>
            <a:r>
              <a:rPr lang="en" b="0" i="0" dirty="0">
                <a:solidFill>
                  <a:schemeClr val="tx1"/>
                </a:solidFill>
                <a:effectLst/>
              </a:rPr>
              <a:t>fork)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b="0" i="0" dirty="0">
                <a:solidFill>
                  <a:schemeClr val="tx1"/>
                </a:solidFill>
                <a:effectLst/>
              </a:rPr>
              <a:t>Передаёт </a:t>
            </a:r>
            <a:r>
              <a:rPr lang="en" b="0" i="0" dirty="0">
                <a:solidFill>
                  <a:schemeClr val="tx1"/>
                </a:solidFill>
                <a:effectLst/>
              </a:rPr>
              <a:t>backend’</a:t>
            </a:r>
            <a:r>
              <a:rPr lang="ru-RU" b="0" i="0" dirty="0">
                <a:solidFill>
                  <a:schemeClr val="tx1"/>
                </a:solidFill>
                <a:effectLst/>
              </a:rPr>
              <a:t>у дескриптор сокета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b="0" i="0" dirty="0">
                <a:solidFill>
                  <a:schemeClr val="tx1"/>
                </a:solidFill>
                <a:effectLst/>
              </a:rPr>
              <a:t>Освобождается от общения с клиентом → ждёт новые подключения</a:t>
            </a:r>
          </a:p>
          <a:p>
            <a:pPr marL="0" indent="0" algn="l">
              <a:buNone/>
            </a:pPr>
            <a:endParaRPr lang="ru-RU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chemeClr val="tx1"/>
                </a:solidFill>
                <a:effectLst/>
              </a:rPr>
              <a:t>ВАЖНО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dirty="0">
                <a:solidFill>
                  <a:schemeClr val="tx1"/>
                </a:solidFill>
                <a:effectLst/>
              </a:rPr>
              <a:t>postmaster </a:t>
            </a:r>
            <a:r>
              <a:rPr lang="ru-RU" b="0" i="0" dirty="0">
                <a:solidFill>
                  <a:schemeClr val="tx1"/>
                </a:solidFill>
                <a:effectLst/>
              </a:rPr>
              <a:t>не обслуживает запросы — он раздаёт соединения </a:t>
            </a:r>
            <a:r>
              <a:rPr lang="en" b="0" i="0" dirty="0">
                <a:solidFill>
                  <a:schemeClr val="tx1"/>
                </a:solidFill>
                <a:effectLst/>
              </a:rPr>
              <a:t>backend’</a:t>
            </a:r>
            <a:r>
              <a:rPr lang="ru-RU" b="0" i="0" dirty="0" err="1">
                <a:solidFill>
                  <a:schemeClr val="tx1"/>
                </a:solidFill>
                <a:effectLst/>
              </a:rPr>
              <a:t>ам</a:t>
            </a:r>
            <a:r>
              <a:rPr lang="ru-RU" b="0" i="0" dirty="0"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3281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A439197-E736-5F51-BC8C-7E94C4E9F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5655"/>
            <a:ext cx="7772400" cy="650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54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en" sz="3400" dirty="0">
                <a:solidFill>
                  <a:schemeClr val="tx1"/>
                </a:solidFill>
              </a:rPr>
              <a:t>Startup-</a:t>
            </a:r>
            <a:r>
              <a:rPr lang="ru-RU" sz="3400" dirty="0">
                <a:solidFill>
                  <a:schemeClr val="tx1"/>
                </a:solidFill>
              </a:rPr>
              <a:t>фаза: </a:t>
            </a:r>
            <a:r>
              <a:rPr lang="en" sz="3400" dirty="0">
                <a:solidFill>
                  <a:schemeClr val="tx1"/>
                </a:solidFill>
              </a:rPr>
              <a:t>backend </a:t>
            </a:r>
            <a:r>
              <a:rPr lang="ru-RU" sz="3400" dirty="0">
                <a:solidFill>
                  <a:schemeClr val="tx1"/>
                </a:solidFill>
              </a:rPr>
              <a:t>и </a:t>
            </a:r>
            <a:r>
              <a:rPr lang="en" sz="3400" dirty="0">
                <a:solidFill>
                  <a:schemeClr val="tx1"/>
                </a:solidFill>
              </a:rPr>
              <a:t>wire-</a:t>
            </a:r>
            <a:r>
              <a:rPr lang="ru-RU" sz="3400" dirty="0">
                <a:solidFill>
                  <a:schemeClr val="tx1"/>
                </a:solidFill>
              </a:rPr>
              <a:t>протокол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57299"/>
            <a:ext cx="9601200" cy="50768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1. </a:t>
            </a:r>
            <a:r>
              <a:rPr lang="ru-RU" sz="2000" b="1" dirty="0"/>
              <a:t>Клиент → </a:t>
            </a:r>
            <a:r>
              <a:rPr lang="en" sz="2000" b="1" dirty="0"/>
              <a:t>Backend (</a:t>
            </a:r>
            <a:r>
              <a:rPr lang="en" sz="2000" b="1" dirty="0" err="1"/>
              <a:t>StartupMessage</a:t>
            </a:r>
            <a:r>
              <a:rPr lang="en" sz="2000" b="1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Версия протокола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b="1" dirty="0"/>
              <a:t>user</a:t>
            </a:r>
            <a:endParaRPr lang="e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" b="1" dirty="0"/>
              <a:t>database</a:t>
            </a:r>
            <a:endParaRPr lang="e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Параметры окружения: </a:t>
            </a:r>
            <a:r>
              <a:rPr lang="en" dirty="0" err="1"/>
              <a:t>client_encoding</a:t>
            </a:r>
            <a:r>
              <a:rPr lang="en" dirty="0"/>
              <a:t>, </a:t>
            </a:r>
            <a:r>
              <a:rPr lang="en" dirty="0" err="1"/>
              <a:t>application_name</a:t>
            </a:r>
            <a:r>
              <a:rPr lang="en" dirty="0"/>
              <a:t>, …</a:t>
            </a:r>
          </a:p>
          <a:p>
            <a:pPr marL="0" indent="0">
              <a:buNone/>
            </a:pPr>
            <a:r>
              <a:rPr lang="en-US" sz="2000" b="1" dirty="0"/>
              <a:t>2. </a:t>
            </a:r>
            <a:r>
              <a:rPr lang="ru-RU" sz="2000" b="1" dirty="0"/>
              <a:t>Аутентификация </a:t>
            </a:r>
            <a:r>
              <a:rPr lang="en-US" b="1" dirty="0"/>
              <a:t>- </a:t>
            </a:r>
            <a:r>
              <a:rPr lang="en" sz="2000" dirty="0"/>
              <a:t>Backend </a:t>
            </a:r>
            <a:r>
              <a:rPr lang="ru-RU" sz="2000" dirty="0"/>
              <a:t>может запросить: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пароль</a:t>
            </a:r>
            <a:endParaRPr lang="e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доверенную </a:t>
            </a:r>
            <a:r>
              <a:rPr lang="en" dirty="0"/>
              <a:t>auth (</a:t>
            </a:r>
            <a:r>
              <a:rPr lang="en" b="1" dirty="0"/>
              <a:t>trust</a:t>
            </a:r>
            <a:r>
              <a:rPr lang="en" dirty="0"/>
              <a:t>, </a:t>
            </a:r>
            <a:r>
              <a:rPr lang="en" b="1" dirty="0"/>
              <a:t>peer</a:t>
            </a:r>
            <a:r>
              <a:rPr lang="en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при ошибке → </a:t>
            </a:r>
            <a:r>
              <a:rPr lang="en" dirty="0" err="1"/>
              <a:t>ErrorResponse</a:t>
            </a:r>
            <a:r>
              <a:rPr lang="en" dirty="0"/>
              <a:t> + </a:t>
            </a:r>
            <a:r>
              <a:rPr lang="ru-RU" dirty="0"/>
              <a:t>закрытие соединения</a:t>
            </a:r>
          </a:p>
          <a:p>
            <a:pPr marL="0" indent="0">
              <a:buNone/>
            </a:pPr>
            <a:r>
              <a:rPr lang="en" sz="2000" b="1" dirty="0"/>
              <a:t>3. Backend → </a:t>
            </a:r>
            <a:r>
              <a:rPr lang="ru-RU" sz="2000" b="1" dirty="0"/>
              <a:t>Клиент (после успеха)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dirty="0" err="1"/>
              <a:t>ParameterStatus</a:t>
            </a:r>
            <a:r>
              <a:rPr lang="en" dirty="0"/>
              <a:t> — </a:t>
            </a:r>
            <a:r>
              <a:rPr lang="ru-RU" dirty="0"/>
              <a:t>параметры сервера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dirty="0" err="1"/>
              <a:t>BackendKeyData</a:t>
            </a:r>
            <a:r>
              <a:rPr lang="en" dirty="0"/>
              <a:t> — PID + secret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b="1" dirty="0" err="1"/>
              <a:t>ReadyForQuery</a:t>
            </a:r>
            <a:r>
              <a:rPr lang="en" dirty="0"/>
              <a:t> — </a:t>
            </a:r>
            <a:r>
              <a:rPr lang="ru-RU" i="1" dirty="0"/>
              <a:t>можно присылать </a:t>
            </a:r>
            <a:r>
              <a:rPr lang="en" i="1" dirty="0"/>
              <a:t>SQL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395692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Основной цикл работы соединения</a:t>
            </a:r>
            <a:endParaRPr lang="en-US" sz="3400" dirty="0">
              <a:solidFill>
                <a:schemeClr val="tx1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6F19D81-E131-CEE0-FAFF-7A36D6B2B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" y="1538109"/>
            <a:ext cx="8448675" cy="475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672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Завершение соединения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95425"/>
            <a:ext cx="9601200" cy="3581400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Что делает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backend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при завершении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Выходит из основного цикла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Закрывает сокет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Освобождает ресурсы сессии:</a:t>
            </a:r>
          </a:p>
          <a:p>
            <a:pPr lvl="1"/>
            <a:r>
              <a:rPr lang="ru-RU" sz="2400" b="0" i="0" dirty="0">
                <a:solidFill>
                  <a:schemeClr val="tx1"/>
                </a:solidFill>
                <a:effectLst/>
              </a:rPr>
              <a:t>блокировки (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row/table/advisory)</a:t>
            </a:r>
          </a:p>
          <a:p>
            <a:pPr lvl="1"/>
            <a:r>
              <a:rPr lang="ru-RU" sz="2400" b="0" i="0" dirty="0">
                <a:solidFill>
                  <a:schemeClr val="tx1"/>
                </a:solidFill>
                <a:effectLst/>
              </a:rPr>
              <a:t>временные таблицы/схемы</a:t>
            </a:r>
          </a:p>
          <a:p>
            <a:pPr lvl="1"/>
            <a:r>
              <a:rPr lang="en" sz="2400" b="0" i="0" dirty="0">
                <a:solidFill>
                  <a:schemeClr val="tx1"/>
                </a:solidFill>
                <a:effectLst/>
              </a:rPr>
              <a:t>memory contexts</a:t>
            </a:r>
          </a:p>
          <a:p>
            <a:pPr lvl="1"/>
            <a:r>
              <a:rPr lang="ru-RU" sz="2400" b="0" i="0" dirty="0">
                <a:solidFill>
                  <a:schemeClr val="tx1"/>
                </a:solidFill>
                <a:effectLst/>
              </a:rPr>
              <a:t>курсоры,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prepared statements (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сессионные)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Исчезает из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ps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,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pg_stat_activity</a:t>
            </a:r>
            <a:endParaRPr lang="ru-RU" sz="2400" b="0" i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56897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Жизненный цикл</a:t>
            </a:r>
            <a:r>
              <a:rPr lang="en-US" sz="3400" dirty="0">
                <a:solidFill>
                  <a:schemeClr val="tx1"/>
                </a:solidFill>
              </a:rPr>
              <a:t> </a:t>
            </a:r>
            <a:r>
              <a:rPr lang="ru-RU" sz="3400" dirty="0">
                <a:solidFill>
                  <a:schemeClr val="tx1"/>
                </a:solidFill>
              </a:rPr>
              <a:t>соединения</a:t>
            </a:r>
            <a:endParaRPr lang="en-US" sz="3400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74E58AC-3F11-EB2D-03DA-E6E4627EF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2045678"/>
            <a:ext cx="10857046" cy="431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200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Сессия и транзакция</a:t>
            </a:r>
            <a:endParaRPr lang="en-US" sz="3400" dirty="0">
              <a:solidFill>
                <a:schemeClr val="tx1"/>
              </a:solidFill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8B38EBC2-8F57-BA73-E5ED-36B7A1B53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462141"/>
              </p:ext>
            </p:extLst>
          </p:nvPr>
        </p:nvGraphicFramePr>
        <p:xfrm>
          <a:off x="1295400" y="2263140"/>
          <a:ext cx="9601200" cy="24688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1196011418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241494608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944524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2400" b="1" dirty="0"/>
                        <a:t>Понятие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Что это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Живёт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267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400" b="1"/>
                        <a:t>Сессия</a:t>
                      </a:r>
                      <a:endParaRPr lang="ru-RU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Жизнь </a:t>
                      </a:r>
                      <a:r>
                        <a:rPr lang="en" sz="2400"/>
                        <a:t>backend-</a:t>
                      </a:r>
                      <a:r>
                        <a:rPr lang="ru-RU" sz="2400"/>
                        <a:t>процесса + сокета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секунды, минуты, дни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6665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400" b="1"/>
                        <a:t>Транзакция</a:t>
                      </a:r>
                      <a:endParaRPr lang="ru-RU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Логическая единица работы с данными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миллисекунды → секунды (должна быть короткой)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5435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527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14325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Сессия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14450"/>
            <a:ext cx="9601200" cy="4552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Что такое сессия: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Жизнь </a:t>
            </a:r>
            <a:r>
              <a:rPr lang="ru-RU" sz="2000" b="1" dirty="0"/>
              <a:t>одного </a:t>
            </a:r>
            <a:r>
              <a:rPr lang="en" sz="2000" b="1" dirty="0"/>
              <a:t>backend-</a:t>
            </a:r>
            <a:r>
              <a:rPr lang="ru-RU" sz="2000" b="1" dirty="0"/>
              <a:t>процесса</a:t>
            </a:r>
            <a:r>
              <a:rPr lang="ru-RU" b="1" dirty="0"/>
              <a:t> </a:t>
            </a:r>
            <a:r>
              <a:rPr lang="ru-RU" sz="2000" dirty="0"/>
              <a:t>от установления соединения → до разрыва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Привязана к </a:t>
            </a:r>
            <a:r>
              <a:rPr lang="ru-RU" sz="2000" b="1" dirty="0"/>
              <a:t>одному </a:t>
            </a:r>
            <a:r>
              <a:rPr lang="en" sz="2000" b="1" dirty="0"/>
              <a:t>TCP-/Unix-</a:t>
            </a:r>
            <a:r>
              <a:rPr lang="ru-RU" sz="2000" b="1" dirty="0"/>
              <a:t>сокету</a:t>
            </a:r>
            <a:endParaRPr lang="ru-R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Существует </a:t>
            </a:r>
            <a:r>
              <a:rPr lang="ru-RU" sz="2000" b="1" dirty="0"/>
              <a:t>независимо от того, есть транзакция или нет</a:t>
            </a:r>
            <a:endParaRPr lang="ru-R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В одной сессии → </a:t>
            </a:r>
            <a:r>
              <a:rPr lang="ru-RU" sz="2000" b="1" dirty="0"/>
              <a:t>много транзакций подряд</a:t>
            </a:r>
            <a:endParaRPr lang="ru-RU" sz="2000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CB4E99FD-AD6E-A431-1A37-C0B3EB7E4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263520"/>
              </p:ext>
            </p:extLst>
          </p:nvPr>
        </p:nvGraphicFramePr>
        <p:xfrm>
          <a:off x="1371600" y="4267200"/>
          <a:ext cx="9601200" cy="1920240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4271094275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18132894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" sz="2400" b="1" dirty="0"/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Что значит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7335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b="1"/>
                        <a:t>idle</a:t>
                      </a:r>
                      <a:endParaRPr lang="e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нет запроса, нет транзакции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7812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b="1"/>
                        <a:t>active</a:t>
                      </a:r>
                      <a:endParaRPr lang="e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выполняется запрос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185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b="1"/>
                        <a:t>idle in transaction</a:t>
                      </a:r>
                      <a:endParaRPr lang="e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транзакция открыта, работы нет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87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b="1"/>
                        <a:t>idle in transaction (aborted)</a:t>
                      </a:r>
                      <a:endParaRPr lang="e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транзакция в ошибке, ждёт </a:t>
                      </a:r>
                      <a:r>
                        <a:rPr lang="en" dirty="0"/>
                        <a:t>ROLLBACK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063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8329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Транзакция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485900"/>
            <a:ext cx="9896475" cy="497205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chemeClr val="tx1"/>
                </a:solidFill>
                <a:effectLst/>
              </a:rPr>
              <a:t>Как она начинается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Явно: </a:t>
            </a:r>
            <a:r>
              <a:rPr lang="en" b="0" i="0" dirty="0">
                <a:solidFill>
                  <a:schemeClr val="tx1"/>
                </a:solidFill>
                <a:effectLst/>
              </a:rPr>
              <a:t>BEGIN, START TRANSACTION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Неявно (</a:t>
            </a:r>
            <a:r>
              <a:rPr lang="en" b="0" i="0" dirty="0" err="1">
                <a:solidFill>
                  <a:schemeClr val="tx1"/>
                </a:solidFill>
                <a:effectLst/>
              </a:rPr>
              <a:t>autocommit</a:t>
            </a:r>
            <a:r>
              <a:rPr lang="en" b="0" i="0" dirty="0">
                <a:solidFill>
                  <a:schemeClr val="tx1"/>
                </a:solidFill>
                <a:effectLst/>
              </a:rPr>
              <a:t> = ON, </a:t>
            </a:r>
            <a:r>
              <a:rPr lang="ru-RU" b="0" i="0" dirty="0">
                <a:solidFill>
                  <a:schemeClr val="tx1"/>
                </a:solidFill>
                <a:effectLst/>
              </a:rPr>
              <a:t>по умолчанию):</a:t>
            </a:r>
            <a:r>
              <a:rPr lang="en-US" b="0" i="0" dirty="0">
                <a:solidFill>
                  <a:schemeClr val="tx1"/>
                </a:solidFill>
                <a:effectLst/>
              </a:rPr>
              <a:t> </a:t>
            </a:r>
            <a:r>
              <a:rPr lang="ru-RU" b="0" i="0" dirty="0">
                <a:solidFill>
                  <a:schemeClr val="tx1"/>
                </a:solidFill>
                <a:effectLst/>
              </a:rPr>
              <a:t>первый запрос запускает транзакцию автоматически</a:t>
            </a:r>
            <a:endParaRPr lang="en-US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 dirty="0"/>
              <a:t>Важные свойства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Живёт </a:t>
            </a:r>
            <a:r>
              <a:rPr lang="ru-RU" b="1" dirty="0"/>
              <a:t>только внутри одной сессии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Не может мигрировать</a:t>
            </a:r>
            <a:r>
              <a:rPr lang="ru-RU" dirty="0"/>
              <a:t> между </a:t>
            </a:r>
            <a:r>
              <a:rPr lang="en" dirty="0"/>
              <a:t>backend-</a:t>
            </a:r>
            <a:r>
              <a:rPr lang="ru-RU" dirty="0"/>
              <a:t>процессами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Все операции идут через </a:t>
            </a:r>
            <a:r>
              <a:rPr lang="ru-RU" b="1" dirty="0"/>
              <a:t>один </a:t>
            </a:r>
            <a:r>
              <a:rPr lang="en" b="1" dirty="0"/>
              <a:t>backend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171339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en" sz="3400" dirty="0" err="1">
                <a:solidFill>
                  <a:schemeClr val="tx1"/>
                </a:solidFill>
              </a:rPr>
              <a:t>Autocommit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81125"/>
            <a:ext cx="9601200" cy="44862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В режиме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autocommit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(true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по умолчанию в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psql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, JDBC,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большинстве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ORM)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каждый отдельный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SQL-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оператор выполняется в своей, отдельной транзакции. 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773FC98-7E0E-BE1E-6DFE-46987EF25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200" y="3267075"/>
            <a:ext cx="5118100" cy="2476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A0AD8B-F58B-7CD9-E4F8-9DFA59207204}"/>
              </a:ext>
            </a:extLst>
          </p:cNvPr>
          <p:cNvSpPr txBox="1"/>
          <p:nvPr/>
        </p:nvSpPr>
        <p:spPr>
          <a:xfrm>
            <a:off x="9010650" y="3076575"/>
            <a:ext cx="2838450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" dirty="0" err="1"/>
              <a:t>psql</a:t>
            </a:r>
            <a:r>
              <a:rPr lang="en" dirty="0"/>
              <a:t> — </a:t>
            </a:r>
            <a:r>
              <a:rPr lang="ru-RU" dirty="0"/>
              <a:t>это </a:t>
            </a:r>
            <a:r>
              <a:rPr lang="ru-RU" b="1" dirty="0"/>
              <a:t>клиентская консольная утилита</a:t>
            </a:r>
            <a:r>
              <a:rPr lang="ru-RU" dirty="0"/>
              <a:t> </a:t>
            </a:r>
            <a:r>
              <a:rPr lang="en" dirty="0"/>
              <a:t>PostgreSQL.</a:t>
            </a:r>
          </a:p>
        </p:txBody>
      </p:sp>
    </p:spTree>
    <p:extLst>
      <p:ext uri="{BB962C8B-B14F-4D97-AF65-F5344CB8AC3E}">
        <p14:creationId xmlns:p14="http://schemas.microsoft.com/office/powerpoint/2010/main" val="3032606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0955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Ручное управление транзакцией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114426"/>
            <a:ext cx="9601200" cy="107632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chemeClr val="tx1"/>
                </a:solidFill>
                <a:effectLst/>
              </a:rPr>
              <a:t>Иногда нужен явный контроль: несколько запросов должны быть частью одной транзакции. Тогда </a:t>
            </a:r>
            <a:r>
              <a:rPr lang="en" b="0" i="0" dirty="0" err="1">
                <a:solidFill>
                  <a:schemeClr val="tx1"/>
                </a:solidFill>
                <a:effectLst/>
              </a:rPr>
              <a:t>autocommit</a:t>
            </a:r>
            <a:r>
              <a:rPr lang="en" b="0" i="0" dirty="0">
                <a:solidFill>
                  <a:schemeClr val="tx1"/>
                </a:solidFill>
                <a:effectLst/>
              </a:rPr>
              <a:t> </a:t>
            </a:r>
            <a:r>
              <a:rPr lang="ru-RU" b="0" i="0" dirty="0">
                <a:solidFill>
                  <a:schemeClr val="tx1"/>
                </a:solidFill>
                <a:effectLst/>
              </a:rPr>
              <a:t>отключают (на уровне драйвера) или явно используют </a:t>
            </a:r>
            <a:r>
              <a:rPr lang="en" b="0" i="0" dirty="0">
                <a:solidFill>
                  <a:schemeClr val="tx1"/>
                </a:solidFill>
                <a:effectLst/>
              </a:rPr>
              <a:t>BEGIN/COMMIT:</a:t>
            </a:r>
            <a:endParaRPr lang="ru-RU" b="0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F743784-0F5F-1124-8032-D27704E44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193421"/>
            <a:ext cx="7772400" cy="15340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F64B0A-D371-AF9F-A982-5B62EBE28E81}"/>
              </a:ext>
            </a:extLst>
          </p:cNvPr>
          <p:cNvSpPr txBox="1"/>
          <p:nvPr/>
        </p:nvSpPr>
        <p:spPr>
          <a:xfrm>
            <a:off x="1371600" y="3952875"/>
            <a:ext cx="2471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или эквивалент в коде: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622466-C002-C4E5-5886-FAE4C40DD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580" y="4137541"/>
            <a:ext cx="3884840" cy="25965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E7041A-79C7-3CA0-570F-0CC9090AC93A}"/>
              </a:ext>
            </a:extLst>
          </p:cNvPr>
          <p:cNvSpPr txBox="1"/>
          <p:nvPr/>
        </p:nvSpPr>
        <p:spPr>
          <a:xfrm>
            <a:off x="8896351" y="4568951"/>
            <a:ext cx="2514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dirty="0">
                <a:solidFill>
                  <a:srgbClr val="FF0000"/>
                </a:solidFill>
              </a:rPr>
              <a:t>Чем может быть плох такой подход?</a:t>
            </a:r>
          </a:p>
        </p:txBody>
      </p:sp>
    </p:spTree>
    <p:extLst>
      <p:ext uri="{BB962C8B-B14F-4D97-AF65-F5344CB8AC3E}">
        <p14:creationId xmlns:p14="http://schemas.microsoft.com/office/powerpoint/2010/main" val="28588898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Почему </a:t>
            </a:r>
            <a:r>
              <a:rPr lang="en" sz="3400" dirty="0">
                <a:solidFill>
                  <a:schemeClr val="tx1"/>
                </a:solidFill>
              </a:rPr>
              <a:t>idle in transaction — </a:t>
            </a:r>
            <a:r>
              <a:rPr lang="ru-RU" sz="3400" dirty="0">
                <a:solidFill>
                  <a:schemeClr val="tx1"/>
                </a:solidFill>
              </a:rPr>
              <a:t>опасно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81125"/>
            <a:ext cx="9601200" cy="44862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chemeClr val="tx1"/>
                </a:solidFill>
                <a:effectLst/>
              </a:rPr>
              <a:t>Состояние </a:t>
            </a:r>
            <a:r>
              <a:rPr lang="en" b="0" i="0" dirty="0">
                <a:solidFill>
                  <a:schemeClr val="tx1"/>
                </a:solidFill>
                <a:effectLst/>
              </a:rPr>
              <a:t>idle in transaction — </a:t>
            </a:r>
            <a:r>
              <a:rPr lang="ru-RU" b="0" i="0" dirty="0">
                <a:solidFill>
                  <a:schemeClr val="tx1"/>
                </a:solidFill>
                <a:effectLst/>
              </a:rPr>
              <a:t>это когда: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транзакция началась (явно или косвенно),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запросы уже закончились,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но </a:t>
            </a:r>
            <a:r>
              <a:rPr lang="en" b="0" i="0" dirty="0">
                <a:solidFill>
                  <a:schemeClr val="tx1"/>
                </a:solidFill>
                <a:effectLst/>
              </a:rPr>
              <a:t>COMMIT/ROLLBACK </a:t>
            </a:r>
            <a:r>
              <a:rPr lang="ru-RU" b="0" i="0" dirty="0">
                <a:solidFill>
                  <a:schemeClr val="tx1"/>
                </a:solidFill>
                <a:effectLst/>
              </a:rPr>
              <a:t>не было.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ru-RU" sz="3000" dirty="0">
                <a:solidFill>
                  <a:srgbClr val="FF0000"/>
                </a:solidFill>
              </a:rPr>
              <a:t>Что при этом происходит внутри?</a:t>
            </a:r>
            <a:endParaRPr lang="ru-RU" sz="3000" b="0" i="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530468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Почему </a:t>
            </a:r>
            <a:r>
              <a:rPr lang="en" sz="3400" dirty="0">
                <a:solidFill>
                  <a:schemeClr val="tx1"/>
                </a:solidFill>
              </a:rPr>
              <a:t>idle in transaction — </a:t>
            </a:r>
            <a:r>
              <a:rPr lang="ru-RU" sz="3400" dirty="0">
                <a:solidFill>
                  <a:schemeClr val="tx1"/>
                </a:solidFill>
              </a:rPr>
              <a:t>опасно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81125"/>
            <a:ext cx="96012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Что происходит внутри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держится </a:t>
            </a:r>
            <a:r>
              <a:rPr lang="en" b="1" dirty="0"/>
              <a:t>snapshot</a:t>
            </a:r>
            <a:r>
              <a:rPr lang="en" dirty="0"/>
              <a:t> → </a:t>
            </a:r>
            <a:r>
              <a:rPr lang="ru-RU" dirty="0"/>
              <a:t>данные «заморожены»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удерживаются </a:t>
            </a:r>
            <a:r>
              <a:rPr lang="ru-RU" b="1" dirty="0"/>
              <a:t>блокировки</a:t>
            </a:r>
            <a:r>
              <a:rPr lang="ru-RU" dirty="0"/>
              <a:t> строк/таблиц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b="1" dirty="0"/>
              <a:t>VACUUM</a:t>
            </a:r>
            <a:r>
              <a:rPr lang="en" dirty="0"/>
              <a:t> </a:t>
            </a:r>
            <a:r>
              <a:rPr lang="ru-RU" dirty="0"/>
              <a:t>не может очищать старые версии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растут цепочки </a:t>
            </a:r>
            <a:r>
              <a:rPr lang="en" dirty="0"/>
              <a:t>MVCC → </a:t>
            </a:r>
            <a:r>
              <a:rPr lang="ru-RU" dirty="0"/>
              <a:t>медленные сканы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Последствия</a:t>
            </a:r>
          </a:p>
          <a:p>
            <a:pPr marL="0" indent="0">
              <a:buNone/>
            </a:pPr>
            <a:r>
              <a:rPr lang="ru-RU" dirty="0"/>
              <a:t>⚠️ рост таблиц и индексов</a:t>
            </a:r>
            <a:br>
              <a:rPr lang="ru-RU" dirty="0"/>
            </a:br>
            <a:r>
              <a:rPr lang="ru-RU" dirty="0"/>
              <a:t>⚠️ падение производительности</a:t>
            </a:r>
            <a:br>
              <a:rPr lang="ru-RU" dirty="0"/>
            </a:br>
            <a:r>
              <a:rPr lang="ru-RU" dirty="0"/>
              <a:t>⚠️ блокировки и </a:t>
            </a:r>
            <a:r>
              <a:rPr lang="ru-RU" dirty="0" err="1"/>
              <a:t>дедлоки</a:t>
            </a:r>
            <a:br>
              <a:rPr lang="ru-RU" dirty="0"/>
            </a:br>
            <a:r>
              <a:rPr lang="ru-RU" dirty="0"/>
              <a:t>⚠️ «утечки» транзакций — признак ошибки в коде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2805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Правило эксплуатации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5276685"/>
            <a:ext cx="9601200" cy="13430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000" dirty="0"/>
              <a:t>✔️ </a:t>
            </a:r>
            <a:r>
              <a:rPr lang="ru-RU" sz="3000" b="1" dirty="0"/>
              <a:t>Сессия может жить долго</a:t>
            </a:r>
            <a:br>
              <a:rPr lang="ru-RU" sz="3000" dirty="0"/>
            </a:br>
            <a:r>
              <a:rPr lang="ru-RU" sz="3000" dirty="0"/>
              <a:t>❌ </a:t>
            </a:r>
            <a:r>
              <a:rPr lang="ru-RU" sz="3000" b="1" dirty="0"/>
              <a:t>Транзакция — должна жить мало</a:t>
            </a:r>
            <a:endParaRPr lang="ru-RU" sz="3000" dirty="0"/>
          </a:p>
        </p:txBody>
      </p:sp>
      <p:pic>
        <p:nvPicPr>
          <p:cNvPr id="7174" name="Picture 6" descr="4 Helpful Traits to Have if You Want to Become a Certified Mechanic">
            <a:extLst>
              <a:ext uri="{FF2B5EF4-FFF2-40B4-BE49-F238E27FC236}">
                <a16:creationId xmlns:a16="http://schemas.microsoft.com/office/drawing/2014/main" id="{55E142CD-AAF2-EAB3-841E-383C62FA8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020" y="1380960"/>
            <a:ext cx="5389959" cy="359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04532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850" y="685800"/>
            <a:ext cx="7562850" cy="1076325"/>
          </a:xfrm>
        </p:spPr>
        <p:txBody>
          <a:bodyPr>
            <a:normAutofit/>
          </a:bodyPr>
          <a:lstStyle/>
          <a:p>
            <a:r>
              <a:rPr lang="ru-RU" sz="3400" b="1" dirty="0">
                <a:solidFill>
                  <a:schemeClr val="tx1"/>
                </a:solidFill>
              </a:rPr>
              <a:t>Важные выводы для разработчика</a:t>
            </a:r>
            <a:endParaRPr lang="en-US" sz="3400" b="1" dirty="0">
              <a:solidFill>
                <a:schemeClr val="tx1"/>
              </a:solidFill>
            </a:endParaRPr>
          </a:p>
        </p:txBody>
      </p:sp>
      <p:pic>
        <p:nvPicPr>
          <p:cNvPr id="9218" name="Picture 2" descr="человечек с указкой на прозрачном фоне 23 фото">
            <a:extLst>
              <a:ext uri="{FF2B5EF4-FFF2-40B4-BE49-F238E27FC236}">
                <a16:creationId xmlns:a16="http://schemas.microsoft.com/office/drawing/2014/main" id="{63B13744-4870-6ABA-14E9-E186C19A7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49" y="1762125"/>
            <a:ext cx="4914899" cy="4914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569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en" sz="3200" b="1" dirty="0" err="1">
                <a:solidFill>
                  <a:schemeClr val="tx1"/>
                </a:solidFill>
              </a:rPr>
              <a:t>max_connections</a:t>
            </a:r>
            <a:r>
              <a:rPr lang="en" sz="3200" b="1" dirty="0">
                <a:solidFill>
                  <a:schemeClr val="tx1"/>
                </a:solidFill>
              </a:rPr>
              <a:t> </a:t>
            </a:r>
            <a:r>
              <a:rPr lang="ru-RU" sz="3200" b="1" dirty="0">
                <a:solidFill>
                  <a:schemeClr val="tx1"/>
                </a:solidFill>
              </a:rPr>
              <a:t>и количество </a:t>
            </a:r>
            <a:r>
              <a:rPr lang="en" sz="3200" b="1" dirty="0">
                <a:solidFill>
                  <a:schemeClr val="tx1"/>
                </a:solidFill>
              </a:rPr>
              <a:t>backend-</a:t>
            </a:r>
            <a:r>
              <a:rPr lang="ru-RU" sz="3200" b="1" dirty="0">
                <a:solidFill>
                  <a:schemeClr val="tx1"/>
                </a:solidFill>
              </a:rPr>
              <a:t>процессов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925" y="1447799"/>
            <a:ext cx="9953625" cy="5000625"/>
          </a:xfrm>
        </p:spPr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Параметр ограничивает число одновременных клиентских соединений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Каждое соединение = один </a:t>
            </a:r>
            <a:r>
              <a:rPr lang="en" b="0" i="0" dirty="0">
                <a:solidFill>
                  <a:schemeClr val="tx1"/>
                </a:solidFill>
                <a:effectLst/>
              </a:rPr>
              <a:t>backend-</a:t>
            </a:r>
            <a:r>
              <a:rPr lang="ru-RU" b="0" i="0" dirty="0">
                <a:solidFill>
                  <a:schemeClr val="tx1"/>
                </a:solidFill>
                <a:effectLst/>
              </a:rPr>
              <a:t>процесс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Значит, </a:t>
            </a:r>
            <a:r>
              <a:rPr lang="en" b="0" i="0" dirty="0" err="1">
                <a:solidFill>
                  <a:schemeClr val="tx1"/>
                </a:solidFill>
                <a:effectLst/>
              </a:rPr>
              <a:t>max_connections</a:t>
            </a:r>
            <a:r>
              <a:rPr lang="en" b="0" i="0" dirty="0">
                <a:solidFill>
                  <a:schemeClr val="tx1"/>
                </a:solidFill>
                <a:effectLst/>
              </a:rPr>
              <a:t> ≈ </a:t>
            </a:r>
            <a:r>
              <a:rPr lang="ru-RU" b="0" i="0" dirty="0">
                <a:solidFill>
                  <a:schemeClr val="tx1"/>
                </a:solidFill>
                <a:effectLst/>
              </a:rPr>
              <a:t>максимум </a:t>
            </a:r>
            <a:r>
              <a:rPr lang="en" b="0" i="0" dirty="0">
                <a:solidFill>
                  <a:schemeClr val="tx1"/>
                </a:solidFill>
                <a:effectLst/>
              </a:rPr>
              <a:t>backend-</a:t>
            </a:r>
            <a:r>
              <a:rPr lang="ru-RU" b="0" i="0" dirty="0">
                <a:solidFill>
                  <a:schemeClr val="tx1"/>
                </a:solidFill>
                <a:effectLst/>
              </a:rPr>
              <a:t>процессов</a:t>
            </a:r>
            <a:endParaRPr lang="en-US" b="0" i="0" dirty="0">
              <a:solidFill>
                <a:schemeClr val="tx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dirty="0"/>
              <a:t>Каждый процесс — это: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свой </a:t>
            </a:r>
            <a:r>
              <a:rPr lang="ru-RU" b="1" dirty="0"/>
              <a:t>стек</a:t>
            </a:r>
            <a:r>
              <a:rPr lang="ru-RU" dirty="0"/>
              <a:t> и внутренние структуры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локальные буферы, рабочие контексты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потенциальный </a:t>
            </a:r>
            <a:r>
              <a:rPr lang="en" b="1" dirty="0" err="1"/>
              <a:t>work_mem</a:t>
            </a:r>
            <a:r>
              <a:rPr lang="en" dirty="0"/>
              <a:t> (</a:t>
            </a:r>
            <a:r>
              <a:rPr lang="ru-RU" dirty="0"/>
              <a:t>сортировки, </a:t>
            </a:r>
            <a:r>
              <a:rPr lang="ru-RU" dirty="0" err="1"/>
              <a:t>хеши</a:t>
            </a:r>
            <a:r>
              <a:rPr lang="ru-RU" dirty="0"/>
              <a:t>, </a:t>
            </a:r>
            <a:r>
              <a:rPr lang="ru-RU" dirty="0" err="1"/>
              <a:t>джойны</a:t>
            </a:r>
            <a:r>
              <a:rPr lang="ru-RU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участие в </a:t>
            </a:r>
            <a:r>
              <a:rPr lang="ru-RU" b="1" dirty="0"/>
              <a:t>планировании </a:t>
            </a:r>
            <a:r>
              <a:rPr lang="en" b="1" dirty="0"/>
              <a:t>CPU</a:t>
            </a:r>
            <a:r>
              <a:rPr lang="en" dirty="0"/>
              <a:t> (context switch’</a:t>
            </a:r>
            <a:r>
              <a:rPr lang="ru-RU" dirty="0"/>
              <a:t>и)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больше операций с </a:t>
            </a:r>
            <a:r>
              <a:rPr lang="en" b="1" dirty="0"/>
              <a:t>lock manager</a:t>
            </a:r>
            <a:endParaRPr lang="en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больше записей в общих структурах (блокировки, активные транзакции)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больше конкуренции за </a:t>
            </a:r>
            <a:r>
              <a:rPr lang="en" b="1" dirty="0"/>
              <a:t>shared memory</a:t>
            </a:r>
          </a:p>
          <a:p>
            <a:pPr>
              <a:buFont typeface="Arial" panose="020B0604020202020204" pitchFamily="34" charset="0"/>
              <a:buChar char="•"/>
            </a:pPr>
            <a:endParaRPr lang="en" b="1" dirty="0"/>
          </a:p>
          <a:p>
            <a:pPr marL="0" indent="0" algn="ctr">
              <a:buNone/>
            </a:pPr>
            <a:r>
              <a:rPr lang="ru-RU" sz="2800" dirty="0">
                <a:solidFill>
                  <a:srgbClr val="FF0000"/>
                </a:solidFill>
              </a:rPr>
              <a:t>Чем опасны сотни/тысячи коннектов</a:t>
            </a:r>
            <a:r>
              <a:rPr lang="en-US" sz="2800" dirty="0">
                <a:solidFill>
                  <a:srgbClr val="FF0000"/>
                </a:solidFill>
              </a:rPr>
              <a:t>?</a:t>
            </a:r>
            <a:endParaRPr lang="e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5139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1"/>
                </a:solidFill>
              </a:rPr>
              <a:t>Чем опасны сотни/тысячи коннектов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925" y="1447799"/>
            <a:ext cx="9953625" cy="5000625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1"/>
                </a:solidFill>
              </a:rPr>
              <a:t>Рост потребления памяти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1"/>
                </a:solidFill>
              </a:rPr>
              <a:t>Больше переключений контекста → выше </a:t>
            </a:r>
            <a:r>
              <a:rPr lang="en" sz="2800" dirty="0">
                <a:solidFill>
                  <a:schemeClr val="tx1"/>
                </a:solidFill>
              </a:rPr>
              <a:t>latency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1"/>
                </a:solidFill>
              </a:rPr>
              <a:t>Падение производительности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1"/>
                </a:solidFill>
              </a:rPr>
              <a:t>Ошибки вида: “</a:t>
            </a:r>
            <a:r>
              <a:rPr lang="en" sz="2800" dirty="0">
                <a:solidFill>
                  <a:schemeClr val="tx1"/>
                </a:solidFill>
              </a:rPr>
              <a:t>too many connections”</a:t>
            </a:r>
          </a:p>
        </p:txBody>
      </p:sp>
    </p:spTree>
    <p:extLst>
      <p:ext uri="{BB962C8B-B14F-4D97-AF65-F5344CB8AC3E}">
        <p14:creationId xmlns:p14="http://schemas.microsoft.com/office/powerpoint/2010/main" val="18724448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Мем с собакой в огне превратили в мобильную игру">
            <a:extLst>
              <a:ext uri="{FF2B5EF4-FFF2-40B4-BE49-F238E27FC236}">
                <a16:creationId xmlns:a16="http://schemas.microsoft.com/office/drawing/2014/main" id="{05915A9D-3E0C-4E3B-DE37-E98742B0E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185" y="390525"/>
            <a:ext cx="9953625" cy="646747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" sz="3200" b="1" dirty="0" err="1">
                <a:solidFill>
                  <a:schemeClr val="bg1"/>
                </a:solidFill>
              </a:rPr>
              <a:t>max_connections</a:t>
            </a:r>
            <a:r>
              <a:rPr lang="en" sz="3200" b="1" dirty="0">
                <a:solidFill>
                  <a:schemeClr val="bg1"/>
                </a:solidFill>
              </a:rPr>
              <a:t> — </a:t>
            </a:r>
            <a:r>
              <a:rPr lang="ru-RU" sz="3200" b="1" dirty="0">
                <a:solidFill>
                  <a:schemeClr val="bg1"/>
                </a:solidFill>
              </a:rPr>
              <a:t>это ресурс, а не «давайте побольше»</a:t>
            </a:r>
          </a:p>
          <a:p>
            <a:pPr marL="0" indent="0" algn="ctr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ru-RU" sz="28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ru-RU" sz="3200" b="1" dirty="0">
                <a:solidFill>
                  <a:schemeClr val="bg1"/>
                </a:solidFill>
              </a:rPr>
              <a:t>Большое число коннектов без пула → почти гарантированные проблемы</a:t>
            </a:r>
          </a:p>
        </p:txBody>
      </p:sp>
    </p:spTree>
    <p:extLst>
      <p:ext uri="{BB962C8B-B14F-4D97-AF65-F5344CB8AC3E}">
        <p14:creationId xmlns:p14="http://schemas.microsoft.com/office/powerpoint/2010/main" val="17813524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en" sz="3400" dirty="0">
                <a:solidFill>
                  <a:schemeClr val="tx1"/>
                </a:solidFill>
              </a:rPr>
              <a:t>Backend </a:t>
            </a:r>
            <a:r>
              <a:rPr lang="ru-RU" sz="3400" dirty="0">
                <a:solidFill>
                  <a:schemeClr val="tx1"/>
                </a:solidFill>
              </a:rPr>
              <a:t>как ресурс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33499"/>
            <a:ext cx="10306050" cy="530542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" sz="2400" b="0" i="0" dirty="0">
                <a:solidFill>
                  <a:schemeClr val="tx1"/>
                </a:solidFill>
                <a:effectLst/>
              </a:rPr>
              <a:t>Backend-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процесс — это не абстракция, а вполне материальный ресурс. У каждого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backend’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а есть набор того, что он потребляет: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память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;</a:t>
            </a:r>
            <a:endParaRPr lang="ru-RU" sz="2400" b="0" i="0" dirty="0">
              <a:solidFill>
                <a:schemeClr val="tx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файловые дескрипторы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;</a:t>
            </a:r>
            <a:endParaRPr lang="ru-RU" sz="2400" b="0" i="0" dirty="0">
              <a:solidFill>
                <a:schemeClr val="tx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записи во внутренних структурах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PostgreSQL;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участие в общей синхронизации.</a:t>
            </a:r>
            <a:endParaRPr lang="en-US" sz="2400" b="0" i="0" dirty="0">
              <a:solidFill>
                <a:schemeClr val="tx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7870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33499"/>
            <a:ext cx="10306050" cy="53054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2800" b="1" dirty="0">
              <a:solidFill>
                <a:srgbClr val="FF0000"/>
              </a:solidFill>
            </a:endParaRPr>
          </a:p>
          <a:p>
            <a:pPr marL="0" indent="0" rtl="0">
              <a:buNone/>
            </a:pPr>
            <a:r>
              <a:rPr lang="ru-RU" sz="2800" b="1" dirty="0" err="1">
                <a:solidFill>
                  <a:srgbClr val="FF0000"/>
                </a:solidFill>
              </a:rPr>
              <a:t>Антипаттерн</a:t>
            </a:r>
            <a:endParaRPr lang="en-US" sz="2800" dirty="0">
              <a:solidFill>
                <a:srgbClr val="FF0000"/>
              </a:solidFill>
            </a:endParaRPr>
          </a:p>
          <a:p>
            <a:pPr marL="0" indent="0" rtl="0">
              <a:buNone/>
            </a:pPr>
            <a:r>
              <a:rPr lang="ru-RU" sz="2800" dirty="0">
                <a:solidFill>
                  <a:srgbClr val="FF0000"/>
                </a:solidFill>
              </a:rPr>
              <a:t>«Один </a:t>
            </a:r>
            <a:r>
              <a:rPr lang="en" sz="2800" dirty="0">
                <a:solidFill>
                  <a:srgbClr val="FF0000"/>
                </a:solidFill>
              </a:rPr>
              <a:t>HTTP-</a:t>
            </a:r>
            <a:r>
              <a:rPr lang="ru-RU" sz="2800" dirty="0">
                <a:solidFill>
                  <a:srgbClr val="FF0000"/>
                </a:solidFill>
              </a:rPr>
              <a:t>запрос → одно новое соединение к базе»</a:t>
            </a:r>
            <a:endParaRPr lang="en-US" sz="2800" dirty="0">
              <a:solidFill>
                <a:srgbClr val="FF0000"/>
              </a:solidFill>
            </a:endParaRPr>
          </a:p>
          <a:p>
            <a:pPr marL="0" indent="0" rtl="0">
              <a:buNone/>
            </a:pPr>
            <a:endParaRPr lang="en-US" sz="2800" dirty="0">
              <a:solidFill>
                <a:srgbClr val="FF0000"/>
              </a:solidFill>
            </a:endParaRPr>
          </a:p>
          <a:p>
            <a:pPr marL="0" indent="0" rtl="0">
              <a:buNone/>
            </a:pPr>
            <a:endParaRPr lang="en-US" sz="2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B050"/>
                </a:solidFill>
              </a:rPr>
              <a:t>Правильный подход</a:t>
            </a:r>
          </a:p>
          <a:p>
            <a:pPr marL="0" indent="0">
              <a:buNone/>
            </a:pPr>
            <a:r>
              <a:rPr lang="ru-RU" sz="2800" dirty="0">
                <a:solidFill>
                  <a:srgbClr val="00B050"/>
                </a:solidFill>
              </a:rPr>
              <a:t>Немного соединений, но они живут долго и </a:t>
            </a:r>
            <a:r>
              <a:rPr lang="ru-RU" sz="2800" dirty="0" err="1">
                <a:solidFill>
                  <a:srgbClr val="00B050"/>
                </a:solidFill>
              </a:rPr>
              <a:t>переиспользуются</a:t>
            </a:r>
            <a:endParaRPr lang="ru-RU" sz="2800" dirty="0">
              <a:solidFill>
                <a:srgbClr val="00B050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sz="2800" b="0" i="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660202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Почему «тысячи коннектов» — почти всегда плохо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1" y="2276475"/>
            <a:ext cx="10677524" cy="42100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b="1" dirty="0"/>
              <a:t>Проблема</a:t>
            </a:r>
            <a:r>
              <a:rPr lang="en-US" sz="2400" b="1" dirty="0"/>
              <a:t>:  </a:t>
            </a:r>
            <a:r>
              <a:rPr lang="en" sz="2400" dirty="0" err="1"/>
              <a:t>max_connections</a:t>
            </a:r>
            <a:r>
              <a:rPr lang="en" sz="2400" dirty="0"/>
              <a:t> = 100, </a:t>
            </a:r>
            <a:r>
              <a:rPr lang="ru-RU" sz="2400" dirty="0"/>
              <a:t>но приложение открывает </a:t>
            </a:r>
            <a:r>
              <a:rPr lang="ru-RU" sz="2400" b="1" dirty="0"/>
              <a:t>сотни/тысячи</a:t>
            </a:r>
            <a:r>
              <a:rPr lang="ru-RU" sz="2400" dirty="0"/>
              <a:t> соединений.</a:t>
            </a:r>
          </a:p>
          <a:p>
            <a:pPr marL="0" indent="0">
              <a:buNone/>
            </a:pPr>
            <a:endParaRPr lang="en-US" sz="2400" b="0" i="0" dirty="0"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lang="ru-RU" sz="2400" b="1" dirty="0"/>
              <a:t>Два </a:t>
            </a:r>
            <a:r>
              <a:rPr lang="ru-RU" sz="2400" b="1" dirty="0">
                <a:solidFill>
                  <a:srgbClr val="FF0000"/>
                </a:solidFill>
              </a:rPr>
              <a:t>плохих</a:t>
            </a:r>
            <a:r>
              <a:rPr lang="ru-RU" sz="2400" b="1" dirty="0"/>
              <a:t> сценария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endParaRPr lang="ru-RU" sz="2400" b="1" dirty="0"/>
          </a:p>
          <a:p>
            <a:pPr>
              <a:buFont typeface="+mj-lt"/>
              <a:buAutoNum type="arabicPeriod"/>
            </a:pPr>
            <a:r>
              <a:rPr lang="en" sz="2400" b="1" dirty="0" err="1"/>
              <a:t>max_connections</a:t>
            </a:r>
            <a:r>
              <a:rPr lang="en" sz="2400" b="1" dirty="0"/>
              <a:t> </a:t>
            </a:r>
            <a:r>
              <a:rPr lang="ru-RU" sz="2400" b="1" dirty="0"/>
              <a:t>не трогали</a:t>
            </a:r>
            <a:endParaRPr lang="ru-RU" sz="2400" dirty="0"/>
          </a:p>
          <a:p>
            <a:pPr>
              <a:buFont typeface="+mj-lt"/>
              <a:buAutoNum type="arabicPeriod" startAt="2"/>
            </a:pPr>
            <a:r>
              <a:rPr lang="en" sz="2400" b="1" dirty="0" err="1"/>
              <a:t>max_connections</a:t>
            </a:r>
            <a:r>
              <a:rPr lang="en" sz="2400" b="1" dirty="0"/>
              <a:t> </a:t>
            </a:r>
            <a:r>
              <a:rPr lang="ru-RU" sz="2400" b="1" dirty="0"/>
              <a:t>подняли</a:t>
            </a:r>
            <a:endParaRPr lang="en-US" sz="2400" b="1" dirty="0"/>
          </a:p>
          <a:p>
            <a:pPr>
              <a:buFont typeface="+mj-lt"/>
              <a:buAutoNum type="arabicPeriod" startAt="2"/>
            </a:pPr>
            <a:endParaRPr lang="en-US" sz="2400" b="1" dirty="0"/>
          </a:p>
          <a:p>
            <a:pPr marL="0" indent="0" algn="ctr">
              <a:buNone/>
            </a:pPr>
            <a:r>
              <a:rPr lang="ru-RU" sz="2400" b="1" dirty="0">
                <a:solidFill>
                  <a:srgbClr val="FF0000"/>
                </a:solidFill>
              </a:rPr>
              <a:t>Почему сценарии плохие ?</a:t>
            </a:r>
          </a:p>
          <a:p>
            <a:pPr marL="0" indent="0">
              <a:buNone/>
            </a:pPr>
            <a:endParaRPr lang="ru-RU" sz="2400" b="0" i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874182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Почему «тысячи коннектов» — почти всегда плохо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1" y="1304925"/>
            <a:ext cx="10677524" cy="5334000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" sz="2000" b="1" dirty="0" err="1"/>
              <a:t>max_connections</a:t>
            </a:r>
            <a:r>
              <a:rPr lang="en" sz="2000" b="1" dirty="0"/>
              <a:t> </a:t>
            </a:r>
            <a:r>
              <a:rPr lang="ru-RU" sz="2000" b="1" dirty="0"/>
              <a:t>не трогали</a:t>
            </a:r>
            <a:endParaRPr lang="ru-RU" sz="2000" dirty="0"/>
          </a:p>
          <a:p>
            <a:pPr marL="0" indent="0" rtl="0">
              <a:buNone/>
            </a:pPr>
            <a:r>
              <a:rPr lang="ru-RU" sz="2000" dirty="0"/>
              <a:t>150-й коннект → "</a:t>
            </a:r>
            <a:r>
              <a:rPr lang="en" sz="2000" dirty="0"/>
              <a:t>too many connections" </a:t>
            </a:r>
            <a:r>
              <a:rPr lang="ru-RU" sz="2000" dirty="0"/>
              <a:t>ошибки → жалобы → паника </a:t>
            </a:r>
          </a:p>
          <a:p>
            <a:pPr>
              <a:buFont typeface="+mj-lt"/>
              <a:buAutoNum type="arabicPeriod" startAt="2"/>
            </a:pPr>
            <a:endParaRPr lang="ru-RU" sz="2000" b="1" dirty="0"/>
          </a:p>
          <a:p>
            <a:pPr>
              <a:buFont typeface="+mj-lt"/>
              <a:buAutoNum type="arabicPeriod" startAt="2"/>
            </a:pPr>
            <a:r>
              <a:rPr lang="en" sz="2000" b="1" dirty="0" err="1"/>
              <a:t>max_connections</a:t>
            </a:r>
            <a:r>
              <a:rPr lang="en" sz="2000" b="1" dirty="0"/>
              <a:t> </a:t>
            </a:r>
            <a:r>
              <a:rPr lang="ru-RU" sz="2000" b="1" dirty="0"/>
              <a:t>подняли</a:t>
            </a:r>
            <a:endParaRPr lang="ru-RU" sz="2000" dirty="0"/>
          </a:p>
          <a:p>
            <a:pPr marL="0" indent="0" rtl="0">
              <a:buNone/>
            </a:pPr>
            <a:r>
              <a:rPr lang="ru-RU" dirty="0"/>
              <a:t>500 </a:t>
            </a:r>
            <a:r>
              <a:rPr lang="en" dirty="0"/>
              <a:t>backend-</a:t>
            </a:r>
            <a:r>
              <a:rPr lang="ru-RU" dirty="0"/>
              <a:t>процессов → формально "всё работает", но: </a:t>
            </a:r>
          </a:p>
          <a:p>
            <a:pPr lvl="1"/>
            <a:r>
              <a:rPr lang="ru-RU" i="0" dirty="0"/>
              <a:t>⬆️ память </a:t>
            </a:r>
          </a:p>
          <a:p>
            <a:pPr lvl="1"/>
            <a:r>
              <a:rPr lang="ru-RU" i="0" dirty="0"/>
              <a:t>⬆️ контекстные переключения </a:t>
            </a:r>
          </a:p>
          <a:p>
            <a:pPr lvl="1"/>
            <a:r>
              <a:rPr lang="ru-RU" i="0" dirty="0"/>
              <a:t>⬆️ накладные расходы блокировок </a:t>
            </a:r>
          </a:p>
          <a:p>
            <a:pPr lvl="1"/>
            <a:r>
              <a:rPr lang="ru-RU" i="0" dirty="0"/>
              <a:t>⬆️ плавающие задержки </a:t>
            </a:r>
          </a:p>
          <a:p>
            <a:pPr lvl="1"/>
            <a:r>
              <a:rPr lang="ru-RU" i="0" dirty="0"/>
              <a:t>⬇️ производительность </a:t>
            </a:r>
          </a:p>
          <a:p>
            <a:pPr rtl="0"/>
            <a:endParaRPr lang="ru-RU" dirty="0"/>
          </a:p>
          <a:p>
            <a:pPr marL="0" indent="0">
              <a:buNone/>
            </a:pPr>
            <a:r>
              <a:rPr lang="ru-RU" b="1" dirty="0"/>
              <a:t>Суть </a:t>
            </a:r>
            <a:r>
              <a:rPr lang="ru-RU" b="1" dirty="0" err="1">
                <a:solidFill>
                  <a:srgbClr val="FF0000"/>
                </a:solidFill>
              </a:rPr>
              <a:t>антипаттерна</a:t>
            </a:r>
            <a:r>
              <a:rPr lang="ru-RU" b="1" dirty="0"/>
              <a:t>:</a:t>
            </a:r>
          </a:p>
          <a:p>
            <a:pPr marL="0" indent="0">
              <a:buNone/>
            </a:pPr>
            <a:r>
              <a:rPr lang="ru-RU" dirty="0"/>
              <a:t>«Увеличить </a:t>
            </a:r>
            <a:r>
              <a:rPr lang="en" dirty="0" err="1"/>
              <a:t>max_connections</a:t>
            </a:r>
            <a:r>
              <a:rPr lang="en" dirty="0"/>
              <a:t>, </a:t>
            </a:r>
            <a:r>
              <a:rPr lang="ru-RU" dirty="0"/>
              <a:t>чтобы не падало» → лечим симптомы, </a:t>
            </a:r>
            <a:r>
              <a:rPr lang="ru-RU" b="1" dirty="0"/>
              <a:t>убиваем сервер</a:t>
            </a:r>
            <a:endParaRPr lang="ru-RU" dirty="0"/>
          </a:p>
          <a:p>
            <a:pPr rtl="0"/>
            <a:endParaRPr lang="ru-RU" sz="2000" dirty="0"/>
          </a:p>
        </p:txBody>
      </p:sp>
      <p:pic>
        <p:nvPicPr>
          <p:cNvPr id="2" name="Picture 2" descr="И так сойдет, Вовка из мультика мем - Memepedia">
            <a:extLst>
              <a:ext uri="{FF2B5EF4-FFF2-40B4-BE49-F238E27FC236}">
                <a16:creationId xmlns:a16="http://schemas.microsoft.com/office/drawing/2014/main" id="{1F4FA99F-434B-06DF-47A5-DFB533A03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2424" y="2539602"/>
            <a:ext cx="3819526" cy="286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04986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Почему «тысячи коннектов» — почти всегда плохо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325" y="1685925"/>
            <a:ext cx="1082040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Проблема</a:t>
            </a:r>
            <a:r>
              <a:rPr lang="en-US" sz="2400" b="1" dirty="0"/>
              <a:t>:  </a:t>
            </a:r>
            <a:r>
              <a:rPr lang="en" sz="2400" dirty="0" err="1"/>
              <a:t>max_connections</a:t>
            </a:r>
            <a:r>
              <a:rPr lang="en" sz="2400" dirty="0"/>
              <a:t> = 100, </a:t>
            </a:r>
            <a:r>
              <a:rPr lang="ru-RU" sz="2400" dirty="0"/>
              <a:t>но приложение открывает </a:t>
            </a:r>
            <a:r>
              <a:rPr lang="ru-RU" sz="2400" b="1" dirty="0"/>
              <a:t>сотни/тысячи</a:t>
            </a:r>
            <a:r>
              <a:rPr lang="ru-RU" sz="2400" dirty="0"/>
              <a:t> соединений.</a:t>
            </a:r>
          </a:p>
          <a:p>
            <a:pPr marL="0" indent="0">
              <a:buNone/>
            </a:pPr>
            <a:endParaRPr lang="en-US" sz="2400" b="0" i="0" dirty="0"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92D050"/>
                </a:solidFill>
              </a:rPr>
              <a:t>Правильное</a:t>
            </a:r>
            <a:r>
              <a:rPr lang="ru-RU" sz="2400" b="1" dirty="0"/>
              <a:t> решение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r>
              <a:rPr lang="ru-RU" sz="2400" dirty="0"/>
              <a:t>Использовать </a:t>
            </a:r>
            <a:endParaRPr lang="en-US" sz="2400" dirty="0"/>
          </a:p>
          <a:p>
            <a:pPr marL="0" indent="0">
              <a:buNone/>
            </a:pPr>
            <a:r>
              <a:rPr lang="en" sz="2400" b="1" dirty="0"/>
              <a:t>connection pooler</a:t>
            </a:r>
            <a:r>
              <a:rPr lang="en" sz="2400" dirty="0"/>
              <a:t> 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0C3013B-B0E1-E618-23A8-AE95E562D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25" y="2505819"/>
            <a:ext cx="7191375" cy="398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8176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Основы </a:t>
            </a:r>
            <a:r>
              <a:rPr lang="en" sz="3400" dirty="0">
                <a:solidFill>
                  <a:schemeClr val="tx1"/>
                </a:solidFill>
              </a:rPr>
              <a:t>wire-</a:t>
            </a:r>
            <a:r>
              <a:rPr lang="ru-RU" sz="3400" dirty="0">
                <a:solidFill>
                  <a:schemeClr val="tx1"/>
                </a:solidFill>
              </a:rPr>
              <a:t>протокола </a:t>
            </a:r>
            <a:r>
              <a:rPr lang="en" sz="3400" dirty="0">
                <a:solidFill>
                  <a:schemeClr val="tx1"/>
                </a:solidFill>
              </a:rPr>
              <a:t>PostgreSQL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85925"/>
            <a:ext cx="9601200" cy="4181475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sz="2400" b="1" i="0" dirty="0">
                <a:solidFill>
                  <a:schemeClr val="tx1"/>
                </a:solidFill>
                <a:effectLst/>
              </a:rPr>
              <a:t>Проблема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Клиент не шлёт просто строку </a:t>
            </a:r>
            <a:r>
              <a:rPr lang="en" sz="2400" b="1" i="0" dirty="0">
                <a:solidFill>
                  <a:schemeClr val="tx1"/>
                </a:solidFill>
                <a:effectLst/>
              </a:rPr>
              <a:t>SELECT 1</a:t>
            </a:r>
            <a:r>
              <a:rPr lang="ru-RU" sz="2400" b="1" dirty="0">
                <a:solidFill>
                  <a:schemeClr val="tx1"/>
                </a:solidFill>
              </a:rPr>
              <a:t>;</a:t>
            </a:r>
            <a:r>
              <a:rPr lang="en" sz="2400" b="1" i="0" dirty="0">
                <a:solidFill>
                  <a:schemeClr val="tx1"/>
                </a:solidFill>
                <a:effectLst/>
              </a:rPr>
              <a:t>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по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TCP.</a:t>
            </a:r>
          </a:p>
          <a:p>
            <a:pPr marL="0" indent="0" algn="l">
              <a:buNone/>
            </a:pPr>
            <a:r>
              <a:rPr lang="en" sz="2400" b="0" i="0" dirty="0">
                <a:solidFill>
                  <a:schemeClr val="tx1"/>
                </a:solidFill>
                <a:effectLst/>
              </a:rPr>
              <a:t>PostgreSQL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требует строго структурированный диалог.</a:t>
            </a:r>
          </a:p>
          <a:p>
            <a:pPr marL="0" indent="0" algn="l">
              <a:buNone/>
            </a:pPr>
            <a:endParaRPr lang="ru-RU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r>
              <a:rPr lang="ru-RU" sz="2400" b="1" i="0" dirty="0">
                <a:solidFill>
                  <a:schemeClr val="tx1"/>
                </a:solidFill>
                <a:effectLst/>
              </a:rPr>
              <a:t>Роль </a:t>
            </a:r>
            <a:r>
              <a:rPr lang="en" sz="2400" b="1" i="0" dirty="0">
                <a:solidFill>
                  <a:schemeClr val="tx1"/>
                </a:solidFill>
                <a:effectLst/>
              </a:rPr>
              <a:t>TCP</a:t>
            </a:r>
          </a:p>
          <a:p>
            <a:pPr marL="0" indent="0" algn="l">
              <a:buNone/>
            </a:pPr>
            <a:r>
              <a:rPr lang="en" sz="2400" b="0" i="0" dirty="0">
                <a:solidFill>
                  <a:schemeClr val="tx1"/>
                </a:solidFill>
                <a:effectLst/>
              </a:rPr>
              <a:t>TCP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даёт только: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соединение клиент ↔ сервер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надёжный, упорядоченный поток байт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Но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TCP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не знает, где запросы, ответы и ошибки.</a:t>
            </a:r>
          </a:p>
        </p:txBody>
      </p:sp>
    </p:spTree>
    <p:extLst>
      <p:ext uri="{BB962C8B-B14F-4D97-AF65-F5344CB8AC3E}">
        <p14:creationId xmlns:p14="http://schemas.microsoft.com/office/powerpoint/2010/main" val="30829333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07168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Основы </a:t>
            </a:r>
            <a:r>
              <a:rPr lang="en" sz="3400" dirty="0">
                <a:solidFill>
                  <a:schemeClr val="tx1"/>
                </a:solidFill>
              </a:rPr>
              <a:t>wire-</a:t>
            </a:r>
            <a:r>
              <a:rPr lang="ru-RU" sz="3400" dirty="0">
                <a:solidFill>
                  <a:schemeClr val="tx1"/>
                </a:solidFill>
              </a:rPr>
              <a:t>протокола </a:t>
            </a:r>
            <a:r>
              <a:rPr lang="en" sz="3400" dirty="0">
                <a:solidFill>
                  <a:schemeClr val="tx1"/>
                </a:solidFill>
              </a:rPr>
              <a:t>PostgreSQL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800100"/>
            <a:ext cx="9753600" cy="6057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Сообщения бывают разных видов: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b="1" dirty="0"/>
              <a:t>Query</a:t>
            </a:r>
            <a:r>
              <a:rPr lang="en" dirty="0"/>
              <a:t> — </a:t>
            </a:r>
            <a:r>
              <a:rPr lang="ru-RU" dirty="0"/>
              <a:t>отправка </a:t>
            </a:r>
            <a:r>
              <a:rPr lang="en" dirty="0"/>
              <a:t>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b="1" dirty="0"/>
              <a:t>Parse / Bind / Execute</a:t>
            </a:r>
            <a:r>
              <a:rPr lang="en" dirty="0"/>
              <a:t> — </a:t>
            </a:r>
            <a:r>
              <a:rPr lang="ru-RU" dirty="0"/>
              <a:t>подготовленные запросы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b="1" dirty="0"/>
              <a:t>Terminate</a:t>
            </a:r>
            <a:r>
              <a:rPr lang="en" dirty="0"/>
              <a:t> — </a:t>
            </a:r>
            <a:r>
              <a:rPr lang="ru-RU" dirty="0"/>
              <a:t>закрытие соединения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 другие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1871125-644E-B0D3-F4C0-A2BE939D9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281" y="2706423"/>
            <a:ext cx="6731794" cy="394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2346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Последовательность диалога</a:t>
            </a:r>
            <a:endParaRPr lang="en-US" sz="3400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3C599F-C677-696F-D1F6-4949349D1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443632"/>
            <a:ext cx="10218142" cy="343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5753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73515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Основы </a:t>
            </a:r>
            <a:r>
              <a:rPr lang="en" sz="3400" dirty="0">
                <a:solidFill>
                  <a:schemeClr val="tx1"/>
                </a:solidFill>
              </a:rPr>
              <a:t>wire-</a:t>
            </a:r>
            <a:r>
              <a:rPr lang="ru-RU" sz="3400" dirty="0">
                <a:solidFill>
                  <a:schemeClr val="tx1"/>
                </a:solidFill>
              </a:rPr>
              <a:t>протокола </a:t>
            </a:r>
            <a:r>
              <a:rPr lang="en" sz="3400" dirty="0">
                <a:solidFill>
                  <a:schemeClr val="tx1"/>
                </a:solidFill>
              </a:rPr>
              <a:t>PostgreSQL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57448-7CD1-25BE-35B7-14EBD01EBC03}"/>
              </a:ext>
            </a:extLst>
          </p:cNvPr>
          <p:cNvSpPr txBox="1"/>
          <p:nvPr/>
        </p:nvSpPr>
        <p:spPr>
          <a:xfrm>
            <a:off x="1219200" y="1183152"/>
            <a:ext cx="100756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/>
              <a:t>Ключевой инсайт</a:t>
            </a:r>
          </a:p>
          <a:p>
            <a:r>
              <a:rPr lang="en" sz="2200" dirty="0"/>
              <a:t>SQL-</a:t>
            </a:r>
            <a:r>
              <a:rPr lang="ru-RU" sz="2200" dirty="0"/>
              <a:t>текст — это </a:t>
            </a:r>
            <a:r>
              <a:rPr lang="en" sz="2200" dirty="0"/>
              <a:t>payload </a:t>
            </a:r>
            <a:r>
              <a:rPr lang="ru-RU" sz="2200" dirty="0"/>
              <a:t>внутри сообщения.</a:t>
            </a:r>
            <a:br>
              <a:rPr lang="ru-RU" sz="2200" dirty="0"/>
            </a:br>
            <a:r>
              <a:rPr lang="ru-RU" sz="2200" dirty="0"/>
              <a:t>Никогда не «сырые символы по </a:t>
            </a:r>
            <a:r>
              <a:rPr lang="en" sz="2200" dirty="0"/>
              <a:t>TCP».</a:t>
            </a:r>
            <a:endParaRPr lang="en-US" sz="2200" b="1" dirty="0"/>
          </a:p>
          <a:p>
            <a:endParaRPr lang="en-US" sz="2200" b="1" dirty="0"/>
          </a:p>
          <a:p>
            <a:r>
              <a:rPr lang="ru-RU" sz="2200" b="1" dirty="0"/>
              <a:t>Высокоуровневый взгляд</a:t>
            </a:r>
            <a:r>
              <a:rPr lang="en-US" sz="2200" b="1" dirty="0"/>
              <a:t>:</a:t>
            </a:r>
            <a:endParaRPr lang="ru-RU" sz="2200" b="1" dirty="0"/>
          </a:p>
          <a:p>
            <a:endParaRPr lang="ru-RU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93478F-B94B-6FC4-9F1D-216BBF0B77D6}"/>
              </a:ext>
            </a:extLst>
          </p:cNvPr>
          <p:cNvSpPr txBox="1"/>
          <p:nvPr/>
        </p:nvSpPr>
        <p:spPr>
          <a:xfrm>
            <a:off x="1219201" y="5600700"/>
            <a:ext cx="105346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Между вашим </a:t>
            </a:r>
            <a:r>
              <a:rPr lang="en" sz="2400" dirty="0" err="1"/>
              <a:t>db.query</a:t>
            </a:r>
            <a:r>
              <a:rPr lang="en" sz="2400" dirty="0"/>
              <a:t>("SELECT 1") </a:t>
            </a:r>
            <a:r>
              <a:rPr lang="ru-RU" sz="2400" dirty="0"/>
              <a:t>и реальным сервером лежит не магия, а вполне чёткий бинарный протокол, который драйвер реализует за вас.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EA70F02-2BFA-A0C8-5960-F787CAD8C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49" y="2465121"/>
            <a:ext cx="4162425" cy="304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4243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en" sz="3400" dirty="0">
                <a:solidFill>
                  <a:schemeClr val="tx1"/>
                </a:solidFill>
              </a:rPr>
              <a:t>Connection string </a:t>
            </a:r>
            <a:r>
              <a:rPr lang="ru-RU" sz="3400" dirty="0">
                <a:solidFill>
                  <a:schemeClr val="tx1"/>
                </a:solidFill>
              </a:rPr>
              <a:t>и начало диалога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81150"/>
            <a:ext cx="9601200" cy="428625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Почти в любом драйвере к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PostgreSQL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есть два варианта задать подключение: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либо одной строкой,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либо набором отдельных параметров.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Типичные примеры:</a:t>
            </a:r>
          </a:p>
          <a:p>
            <a:pPr marL="0" indent="0" algn="l">
              <a:buNone/>
            </a:pPr>
            <a:endParaRPr lang="ru-RU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endParaRPr lang="ru-RU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или эквивалентная форма:</a:t>
            </a:r>
          </a:p>
          <a:p>
            <a:pPr marL="0" indent="0" algn="l">
              <a:buNone/>
            </a:pPr>
            <a:endParaRPr lang="ru-RU" sz="2400" b="0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75B2EBE-ABBD-A3AF-BAA4-5BD93F540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836019"/>
            <a:ext cx="7772400" cy="72901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857EA71-6746-0337-F114-1FA3F0C7A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482" y="5450855"/>
            <a:ext cx="8849436" cy="62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445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9972291-3E04-3EF2-6A96-2DC2E6EED327}"/>
              </a:ext>
            </a:extLst>
          </p:cNvPr>
          <p:cNvSpPr txBox="1"/>
          <p:nvPr/>
        </p:nvSpPr>
        <p:spPr>
          <a:xfrm>
            <a:off x="1438275" y="914399"/>
            <a:ext cx="991552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Под капотом драйвер в любом случае разбирает строку на компоненты :</a:t>
            </a:r>
          </a:p>
          <a:p>
            <a:endParaRPr lang="ru-RU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хост (</a:t>
            </a:r>
            <a:r>
              <a:rPr lang="ru-RU" sz="2400" dirty="0" err="1"/>
              <a:t>host</a:t>
            </a:r>
            <a:r>
              <a:rPr lang="ru-RU" sz="2400" dirty="0"/>
              <a:t>=</a:t>
            </a:r>
            <a:r>
              <a:rPr lang="ru-RU" sz="2400" dirty="0" err="1"/>
              <a:t>localhost</a:t>
            </a:r>
            <a:r>
              <a:rPr lang="ru-RU" sz="2400" dirty="0"/>
              <a:t>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порт (</a:t>
            </a:r>
            <a:r>
              <a:rPr lang="ru-RU" sz="2400" dirty="0" err="1"/>
              <a:t>port</a:t>
            </a:r>
            <a:r>
              <a:rPr lang="ru-RU" sz="2400" dirty="0"/>
              <a:t>=5432);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имя базы (</a:t>
            </a:r>
            <a:r>
              <a:rPr lang="ru-RU" sz="2400" dirty="0" err="1"/>
              <a:t>dbname</a:t>
            </a:r>
            <a:r>
              <a:rPr lang="ru-RU" sz="2400" dirty="0"/>
              <a:t>=</a:t>
            </a:r>
            <a:r>
              <a:rPr lang="ru-RU" sz="2400" dirty="0" err="1"/>
              <a:t>mydb</a:t>
            </a:r>
            <a:r>
              <a:rPr lang="ru-RU" sz="2400" dirty="0"/>
              <a:t>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пользователь (</a:t>
            </a:r>
            <a:r>
              <a:rPr lang="ru-RU" sz="2400" dirty="0" err="1"/>
              <a:t>user</a:t>
            </a:r>
            <a:r>
              <a:rPr lang="ru-RU" sz="2400" dirty="0"/>
              <a:t>=</a:t>
            </a:r>
            <a:r>
              <a:rPr lang="ru-RU" sz="2400" dirty="0" err="1"/>
              <a:t>user</a:t>
            </a:r>
            <a:r>
              <a:rPr lang="ru-RU" sz="2400" dirty="0"/>
              <a:t>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пароль;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дополнительные параметры (</a:t>
            </a:r>
            <a:r>
              <a:rPr lang="ru-RU" sz="2400" dirty="0" err="1"/>
              <a:t>sslmode</a:t>
            </a:r>
            <a:r>
              <a:rPr lang="ru-RU" sz="2400" dirty="0"/>
              <a:t>, </a:t>
            </a:r>
            <a:r>
              <a:rPr lang="ru-RU" sz="2400" dirty="0" err="1"/>
              <a:t>application_name</a:t>
            </a:r>
            <a:r>
              <a:rPr lang="ru-RU" sz="2400" dirty="0"/>
              <a:t>, </a:t>
            </a:r>
            <a:r>
              <a:rPr lang="ru-RU" sz="2400" dirty="0" err="1"/>
              <a:t>client_encoding</a:t>
            </a:r>
            <a:r>
              <a:rPr lang="ru-RU" sz="2400" dirty="0"/>
              <a:t> и т.п.).</a:t>
            </a:r>
          </a:p>
        </p:txBody>
      </p:sp>
    </p:spTree>
    <p:extLst>
      <p:ext uri="{BB962C8B-B14F-4D97-AF65-F5344CB8AC3E}">
        <p14:creationId xmlns:p14="http://schemas.microsoft.com/office/powerpoint/2010/main" val="17755244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Первое, что происходит после </a:t>
            </a:r>
            <a:r>
              <a:rPr lang="en" sz="3400" dirty="0">
                <a:solidFill>
                  <a:schemeClr val="tx1"/>
                </a:solidFill>
              </a:rPr>
              <a:t>TCP-handshake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685925"/>
            <a:ext cx="4943475" cy="4333875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b="1" dirty="0"/>
              <a:t>Клиент отправляет </a:t>
            </a:r>
            <a:r>
              <a:rPr lang="en" b="1" dirty="0" err="1"/>
              <a:t>StartupMessage</a:t>
            </a:r>
            <a:r>
              <a:rPr lang="en" b="1" dirty="0"/>
              <a:t>:</a:t>
            </a:r>
            <a:endParaRPr lang="ru-RU" b="1" dirty="0"/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endParaRPr lang="en" dirty="0"/>
          </a:p>
          <a:p>
            <a: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версия протокола 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" dirty="0"/>
              <a:t>user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" dirty="0"/>
              <a:t>database / </a:t>
            </a:r>
            <a:r>
              <a:rPr lang="en" dirty="0" err="1"/>
              <a:t>dbname</a:t>
            </a:r>
            <a:endParaRPr lang="en" dirty="0"/>
          </a:p>
          <a:p>
            <a: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параметры окружения: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" dirty="0" err="1"/>
              <a:t>client_encoding</a:t>
            </a:r>
            <a:endParaRPr lang="en" dirty="0"/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" dirty="0" err="1"/>
              <a:t>application_name</a:t>
            </a:r>
            <a:endParaRPr lang="en" dirty="0"/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" dirty="0" err="1"/>
              <a:t>DateStyle</a:t>
            </a:r>
            <a:endParaRPr lang="ru-RU" dirty="0"/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прочие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EF5882-2AA6-AFB4-3EEB-EE6FAA0C7B66}"/>
              </a:ext>
            </a:extLst>
          </p:cNvPr>
          <p:cNvSpPr txBox="1"/>
          <p:nvPr/>
        </p:nvSpPr>
        <p:spPr>
          <a:xfrm>
            <a:off x="5829300" y="1685925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1" dirty="0"/>
              <a:t>Сервер на основе </a:t>
            </a:r>
            <a:r>
              <a:rPr lang="ru-RU" sz="2200" b="1" dirty="0" err="1"/>
              <a:t>StartupMessage</a:t>
            </a:r>
            <a:r>
              <a:rPr lang="ru-RU" sz="2200" b="1" dirty="0"/>
              <a:t>:</a:t>
            </a:r>
          </a:p>
          <a:p>
            <a:endParaRPr lang="ru-RU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выбирает роль и БД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применяет начальные параметры сессии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смотрит </a:t>
            </a:r>
            <a:r>
              <a:rPr lang="ru-RU" sz="2200" dirty="0" err="1"/>
              <a:t>pg_hba.conf</a:t>
            </a:r>
            <a:r>
              <a:rPr lang="ru-RU" sz="2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200" dirty="0"/>
              <a:t>как аутентифицировать клиента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200" dirty="0"/>
              <a:t>можно ли ему подключаться</a:t>
            </a:r>
          </a:p>
          <a:p>
            <a:endParaRPr lang="ru-RU" sz="2200" dirty="0"/>
          </a:p>
          <a:p>
            <a:r>
              <a:rPr lang="ru-RU" sz="2200" b="1" dirty="0"/>
              <a:t>Только после успешного </a:t>
            </a:r>
            <a:r>
              <a:rPr lang="ru-RU" sz="2200" b="1" dirty="0" err="1"/>
              <a:t>startup</a:t>
            </a:r>
            <a:r>
              <a:rPr lang="ru-RU" sz="2200" b="1" dirty="0"/>
              <a:t> → идём в </a:t>
            </a:r>
            <a:r>
              <a:rPr lang="ru-RU" sz="2200" b="1" dirty="0" err="1"/>
              <a:t>auth</a:t>
            </a:r>
            <a:r>
              <a:rPr lang="ru-RU" sz="2200" b="1" dirty="0"/>
              <a:t> → потом </a:t>
            </a:r>
            <a:r>
              <a:rPr lang="ru-RU" sz="2200" b="1" dirty="0" err="1"/>
              <a:t>ReadyForQuery</a:t>
            </a:r>
            <a:r>
              <a:rPr lang="ru-RU" sz="22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058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en" sz="3400" dirty="0">
                <a:solidFill>
                  <a:schemeClr val="tx1"/>
                </a:solidFill>
              </a:rPr>
              <a:t>Simple Query protocol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200" b="0" i="0" dirty="0">
                <a:solidFill>
                  <a:schemeClr val="tx1"/>
                </a:solidFill>
                <a:effectLst/>
              </a:rPr>
              <a:t>После того как соединение установлено, </a:t>
            </a:r>
            <a:r>
              <a:rPr lang="en" sz="2200" b="0" i="0" dirty="0">
                <a:solidFill>
                  <a:schemeClr val="tx1"/>
                </a:solidFill>
                <a:effectLst/>
              </a:rPr>
              <a:t>startup-</a:t>
            </a:r>
            <a:r>
              <a:rPr lang="ru-RU" sz="2200" b="0" i="0" dirty="0">
                <a:solidFill>
                  <a:schemeClr val="tx1"/>
                </a:solidFill>
                <a:effectLst/>
              </a:rPr>
              <a:t>фаза пройдена и сервер прислал </a:t>
            </a:r>
            <a:r>
              <a:rPr lang="en" sz="2200" b="0" i="0" dirty="0" err="1">
                <a:solidFill>
                  <a:schemeClr val="tx1"/>
                </a:solidFill>
                <a:effectLst/>
              </a:rPr>
              <a:t>ReadyForQuery</a:t>
            </a:r>
            <a:r>
              <a:rPr lang="en" sz="2200" b="0" i="0" dirty="0">
                <a:solidFill>
                  <a:schemeClr val="tx1"/>
                </a:solidFill>
                <a:effectLst/>
              </a:rPr>
              <a:t>, </a:t>
            </a:r>
            <a:r>
              <a:rPr lang="ru-RU" sz="2200" b="0" i="0" dirty="0">
                <a:solidFill>
                  <a:schemeClr val="tx1"/>
                </a:solidFill>
                <a:effectLst/>
              </a:rPr>
              <a:t>клиент наконец-то может отправлять </a:t>
            </a:r>
            <a:r>
              <a:rPr lang="en" sz="2200" b="0" i="0" dirty="0">
                <a:solidFill>
                  <a:schemeClr val="tx1"/>
                </a:solidFill>
                <a:effectLst/>
              </a:rPr>
              <a:t>SQL</a:t>
            </a:r>
            <a:endParaRPr lang="ru-RU" sz="22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endParaRPr lang="en" sz="2200" b="0" i="0" dirty="0"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lang="ru-RU" sz="2200" dirty="0"/>
              <a:t>Самый простой режим общения с </a:t>
            </a:r>
            <a:r>
              <a:rPr lang="en" sz="2200" dirty="0"/>
              <a:t>PostgreSQL </a:t>
            </a:r>
            <a:r>
              <a:rPr lang="en" sz="2200" dirty="0" err="1"/>
              <a:t>э</a:t>
            </a:r>
            <a:r>
              <a:rPr lang="ru-RU" sz="2200" dirty="0"/>
              <a:t>то </a:t>
            </a:r>
            <a:r>
              <a:rPr lang="en" sz="2200" dirty="0">
                <a:solidFill>
                  <a:schemeClr val="tx1"/>
                </a:solidFill>
              </a:rPr>
              <a:t>Simple Query protocol</a:t>
            </a:r>
            <a:r>
              <a:rPr lang="en" sz="2200" dirty="0"/>
              <a:t>:</a:t>
            </a:r>
            <a:endParaRPr lang="ru-RU" sz="2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CC7DAA4-E885-3906-2020-A8B9F9EAE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129" y="4323964"/>
            <a:ext cx="9767621" cy="167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0888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533399"/>
            <a:ext cx="9601200" cy="57054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200" b="1" i="0" dirty="0">
                <a:solidFill>
                  <a:schemeClr val="tx1"/>
                </a:solidFill>
                <a:effectLst/>
              </a:rPr>
              <a:t>Как это выглядит</a:t>
            </a:r>
            <a:endParaRPr lang="ru-RU" sz="2200" b="0" i="0" dirty="0">
              <a:solidFill>
                <a:schemeClr val="tx1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solidFill>
                  <a:schemeClr val="tx1"/>
                </a:solidFill>
                <a:effectLst/>
              </a:rPr>
              <a:t>Клиент отправляет одно сообщение:</a:t>
            </a:r>
            <a:r>
              <a:rPr lang="en" sz="2200" b="0" i="0" dirty="0">
                <a:solidFill>
                  <a:schemeClr val="tx1"/>
                </a:solidFill>
                <a:effectLst/>
              </a:rPr>
              <a:t>Query("SELECT 1;")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solidFill>
                  <a:schemeClr val="tx1"/>
                </a:solidFill>
                <a:effectLst/>
              </a:rPr>
              <a:t>Сервер выполняет </a:t>
            </a:r>
            <a:r>
              <a:rPr lang="en" sz="2200" b="0" i="0" dirty="0">
                <a:solidFill>
                  <a:schemeClr val="tx1"/>
                </a:solidFill>
                <a:effectLst/>
              </a:rPr>
              <a:t>SQL </a:t>
            </a:r>
            <a:r>
              <a:rPr lang="ru-RU" sz="2200" b="0" i="0" dirty="0">
                <a:solidFill>
                  <a:schemeClr val="tx1"/>
                </a:solidFill>
                <a:effectLst/>
              </a:rPr>
              <a:t>и возвращает пакет ответа.</a:t>
            </a:r>
          </a:p>
          <a:p>
            <a:pPr marL="0" indent="0" algn="l">
              <a:buNone/>
            </a:pPr>
            <a:endParaRPr lang="ru-RU" sz="22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r>
              <a:rPr lang="ru-RU" sz="2200" b="1" i="0" dirty="0">
                <a:solidFill>
                  <a:schemeClr val="tx1"/>
                </a:solidFill>
                <a:effectLst/>
              </a:rPr>
              <a:t>Структура</a:t>
            </a:r>
            <a:r>
              <a:rPr lang="ru-RU" sz="2200" b="0" i="0" dirty="0">
                <a:solidFill>
                  <a:schemeClr val="tx1"/>
                </a:solidFill>
                <a:effectLst/>
              </a:rPr>
              <a:t> этого сообщения в протоколе такая: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solidFill>
                  <a:schemeClr val="tx1"/>
                </a:solidFill>
                <a:effectLst/>
              </a:rPr>
              <a:t>первый байт — тип сообщения: символ '</a:t>
            </a:r>
            <a:r>
              <a:rPr lang="en" sz="2200" b="0" i="0" dirty="0">
                <a:solidFill>
                  <a:schemeClr val="tx1"/>
                </a:solidFill>
                <a:effectLst/>
              </a:rPr>
              <a:t>Q', </a:t>
            </a:r>
            <a:r>
              <a:rPr lang="ru-RU" sz="2200" b="0" i="0" dirty="0">
                <a:solidFill>
                  <a:schemeClr val="tx1"/>
                </a:solidFill>
                <a:effectLst/>
              </a:rPr>
              <a:t>обозначающий </a:t>
            </a:r>
            <a:r>
              <a:rPr lang="en" sz="2200" b="0" i="0" dirty="0">
                <a:solidFill>
                  <a:schemeClr val="tx1"/>
                </a:solidFill>
                <a:effectLst/>
              </a:rPr>
              <a:t>Simple Query;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solidFill>
                  <a:schemeClr val="tx1"/>
                </a:solidFill>
                <a:effectLst/>
              </a:rPr>
              <a:t>далее 4 байта — длина всего сообщения (</a:t>
            </a:r>
            <a:r>
              <a:rPr lang="en" sz="2200" b="0" i="0" dirty="0">
                <a:solidFill>
                  <a:schemeClr val="tx1"/>
                </a:solidFill>
                <a:effectLst/>
              </a:rPr>
              <a:t>int32, </a:t>
            </a:r>
            <a:r>
              <a:rPr lang="ru-RU" sz="2200" b="0" i="0" dirty="0">
                <a:solidFill>
                  <a:schemeClr val="tx1"/>
                </a:solidFill>
                <a:effectLst/>
              </a:rPr>
              <a:t>включая эти 4 байта);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solidFill>
                  <a:schemeClr val="tx1"/>
                </a:solidFill>
                <a:effectLst/>
              </a:rPr>
              <a:t>затем — текст </a:t>
            </a:r>
            <a:r>
              <a:rPr lang="en" sz="2200" b="0" i="0" dirty="0">
                <a:solidFill>
                  <a:schemeClr val="tx1"/>
                </a:solidFill>
                <a:effectLst/>
              </a:rPr>
              <a:t>SQL-</a:t>
            </a:r>
            <a:r>
              <a:rPr lang="ru-RU" sz="2200" b="0" i="0" dirty="0">
                <a:solidFill>
                  <a:schemeClr val="tx1"/>
                </a:solidFill>
                <a:effectLst/>
              </a:rPr>
              <a:t>запроса, записанный как строка, заканчивающаяся нулевым байтом \0.</a:t>
            </a:r>
          </a:p>
          <a:p>
            <a:pPr marL="0" indent="0" algn="l">
              <a:buNone/>
            </a:pPr>
            <a:endParaRPr lang="ru-RU" sz="2200" b="0" i="0" dirty="0"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lang="ru-RU" sz="2200" b="0" i="0" dirty="0">
                <a:solidFill>
                  <a:schemeClr val="tx1"/>
                </a:solidFill>
                <a:effectLst/>
              </a:rPr>
              <a:t>Никаких подготовленных запросов, никаких параметров по отдельности — просто текст </a:t>
            </a:r>
            <a:r>
              <a:rPr lang="en" sz="2200" b="0" i="0" dirty="0">
                <a:solidFill>
                  <a:schemeClr val="tx1"/>
                </a:solidFill>
                <a:effectLst/>
              </a:rPr>
              <a:t>SQL, </a:t>
            </a:r>
            <a:r>
              <a:rPr lang="ru-RU" sz="2200" b="0" i="0" dirty="0">
                <a:solidFill>
                  <a:schemeClr val="tx1"/>
                </a:solidFill>
                <a:effectLst/>
              </a:rPr>
              <a:t>упакованный в одно сообщение.</a:t>
            </a:r>
          </a:p>
        </p:txBody>
      </p:sp>
    </p:spTree>
    <p:extLst>
      <p:ext uri="{BB962C8B-B14F-4D97-AF65-F5344CB8AC3E}">
        <p14:creationId xmlns:p14="http://schemas.microsoft.com/office/powerpoint/2010/main" val="5737574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600" b="0" i="0" dirty="0">
                <a:solidFill>
                  <a:schemeClr val="tx1"/>
                </a:solidFill>
                <a:effectLst/>
              </a:rPr>
              <a:t>Когда сервер получает сообщение </a:t>
            </a:r>
            <a:r>
              <a:rPr lang="en" sz="3600" b="0" i="0" dirty="0">
                <a:solidFill>
                  <a:schemeClr val="tx1"/>
                </a:solidFill>
                <a:effectLst/>
              </a:rPr>
              <a:t>Query, </a:t>
            </a:r>
            <a:r>
              <a:rPr lang="ru-RU" sz="3600" b="0" i="0" dirty="0">
                <a:solidFill>
                  <a:schemeClr val="tx1"/>
                </a:solidFill>
                <a:effectLst/>
              </a:rPr>
              <a:t>он: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47800"/>
            <a:ext cx="10077450" cy="508635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1.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читает текст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SQL;</a:t>
            </a:r>
          </a:p>
          <a:p>
            <a:pPr marL="0" indent="0" algn="l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</a:rPr>
              <a:t>2.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прогоняет его через уже знакомый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pipeline: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i="0" dirty="0" err="1">
                <a:solidFill>
                  <a:schemeClr val="tx1"/>
                </a:solidFill>
              </a:rPr>
              <a:t>ле</a:t>
            </a:r>
            <a:r>
              <a:rPr lang="ru-RU" sz="2400" i="0" dirty="0" err="1">
                <a:solidFill>
                  <a:schemeClr val="tx1"/>
                </a:solidFill>
              </a:rPr>
              <a:t>ксер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 → …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→ executors</a:t>
            </a:r>
            <a:endParaRPr lang="ru-RU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</a:rPr>
              <a:t>3.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формирует ответ в виде последовательности протокольных сообщений.</a:t>
            </a:r>
          </a:p>
          <a:p>
            <a:pPr marL="0" indent="0" algn="l">
              <a:buNone/>
            </a:pPr>
            <a:endParaRPr lang="en-US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Для успешного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SELECT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эта последовательность (упрощённо) выглядит так: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sz="2400" b="0" i="0" dirty="0" err="1">
                <a:solidFill>
                  <a:schemeClr val="tx1"/>
                </a:solidFill>
                <a:effectLst/>
              </a:rPr>
              <a:t>RowDescription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—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описание колонок результата;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одна или несколько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DataRow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—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сами строки данных (0..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N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раз);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sz="2400" b="0" i="0" dirty="0" err="1">
                <a:solidFill>
                  <a:schemeClr val="tx1"/>
                </a:solidFill>
                <a:effectLst/>
              </a:rPr>
              <a:t>CommandComplete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—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текстовое резюме, например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SELECT 3;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sz="2400" b="0" i="0" dirty="0" err="1">
                <a:solidFill>
                  <a:schemeClr val="tx1"/>
                </a:solidFill>
                <a:effectLst/>
              </a:rPr>
              <a:t>ReadyForQuery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—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сервер снова готов принимать следующий запрос.</a:t>
            </a:r>
          </a:p>
        </p:txBody>
      </p:sp>
    </p:spTree>
    <p:extLst>
      <p:ext uri="{BB962C8B-B14F-4D97-AF65-F5344CB8AC3E}">
        <p14:creationId xmlns:p14="http://schemas.microsoft.com/office/powerpoint/2010/main" val="10553316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en" sz="3400" dirty="0" err="1">
                <a:solidFill>
                  <a:schemeClr val="tx1"/>
                </a:solidFill>
              </a:rPr>
              <a:t>RowDescription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581149"/>
            <a:ext cx="10610850" cy="4829175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Это первое сообщение, которое говорит клиенту: «вот какая у тебя будет таблица результата». В нём содержится: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количество колонок;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для каждой колонки: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имя (как оно будет видно клиенту);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sz="2400" b="0" i="0" dirty="0">
                <a:solidFill>
                  <a:schemeClr val="tx1"/>
                </a:solidFill>
                <a:effectLst/>
              </a:rPr>
              <a:t>OID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типа (целочисленный идентификатор типа данных в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PostgreSQL);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размер (фиксированный или -1 для переменной длины);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дополнительные модификаторы (например, точность чисел);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информация о том, в текстовом или бинарном формате будет приходить поле.</a:t>
            </a:r>
            <a:endParaRPr lang="en-US" sz="2400" b="0" i="0" dirty="0">
              <a:solidFill>
                <a:schemeClr val="tx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Клиент на основе этого может заранее подготовить структуру для чтения строк: какие типы ожидать, какие имена колонок и т.д.</a:t>
            </a:r>
          </a:p>
        </p:txBody>
      </p:sp>
    </p:spTree>
    <p:extLst>
      <p:ext uri="{BB962C8B-B14F-4D97-AF65-F5344CB8AC3E}">
        <p14:creationId xmlns:p14="http://schemas.microsoft.com/office/powerpoint/2010/main" val="3054834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en" sz="3400" dirty="0" err="1">
                <a:solidFill>
                  <a:schemeClr val="tx1"/>
                </a:solidFill>
              </a:rPr>
              <a:t>DataRow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23975"/>
            <a:ext cx="10363200" cy="51435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Дальше сервер отправляет ноль или больше сообщений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DataRow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—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по одному на каждую строку результата.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Внутри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DataRow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количество колонок в строке;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для каждой колонки: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длина поля в байтах (или -1, если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NULL);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сами байты значения.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Клиент, читая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DataRow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,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обычным циклом вытаскивает значения по колонкам, преобразует их в типы языка (строки, числа, даты и т.п.) и складывает в свои структуры (объекты, массивы, записи).</a:t>
            </a:r>
          </a:p>
        </p:txBody>
      </p:sp>
    </p:spTree>
    <p:extLst>
      <p:ext uri="{BB962C8B-B14F-4D97-AF65-F5344CB8AC3E}">
        <p14:creationId xmlns:p14="http://schemas.microsoft.com/office/powerpoint/2010/main" val="33931419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en" sz="3400" dirty="0" err="1">
                <a:solidFill>
                  <a:schemeClr val="tx1"/>
                </a:solidFill>
              </a:rPr>
              <a:t>CommandComplete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590675"/>
            <a:ext cx="10401301" cy="48672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Когда все строки отданы, сервер отправляет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CommandComplete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.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Это короткое сообщение, в котором есть одна важная строка-резюме. Для разных типов команд она выглядит по-разному: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sz="2400" b="0" i="0" dirty="0">
                <a:solidFill>
                  <a:schemeClr val="tx1"/>
                </a:solidFill>
                <a:effectLst/>
              </a:rPr>
              <a:t>SELECT 3 —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выполнен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SELECT,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возвращено 3 строки;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sz="2400" b="0" i="0" dirty="0">
                <a:solidFill>
                  <a:schemeClr val="tx1"/>
                </a:solidFill>
                <a:effectLst/>
              </a:rPr>
              <a:t>INSERT 0 1 —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выполнен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INSERT, 0 — OID (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исторический атрибут), 1 — число вставленных строк;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sz="2400" b="0" i="0" dirty="0">
                <a:solidFill>
                  <a:schemeClr val="tx1"/>
                </a:solidFill>
                <a:effectLst/>
              </a:rPr>
              <a:t>UPDATE 5 —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выполнен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UPDATE,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изменено 5 строк;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sz="2400" b="0" i="0" dirty="0">
                <a:solidFill>
                  <a:schemeClr val="tx1"/>
                </a:solidFill>
                <a:effectLst/>
              </a:rPr>
              <a:t>DELETE 2 — DELETE,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удалены 2 строки.</a:t>
            </a:r>
          </a:p>
          <a:p>
            <a:pPr marL="0" indent="0" algn="l">
              <a:buNone/>
            </a:pPr>
            <a:endParaRPr lang="en-US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Клиент может использовать эту строку, чтобы понять, сколько строк было затронуто, даже если это не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SELECT.</a:t>
            </a:r>
            <a:endParaRPr lang="ru-RU" sz="2400" b="0" i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130466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en" sz="3400" dirty="0" err="1">
                <a:solidFill>
                  <a:schemeClr val="tx1"/>
                </a:solidFill>
              </a:rPr>
              <a:t>ReadyForQuery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Наконец, сервер отправляет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ReadyForQuery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. 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Это уже знакомый маркер: «я закончил обработки текущего запроса, можно присылать следующий». </a:t>
            </a:r>
            <a:endParaRPr lang="en-US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В нём, как и в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startup-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фазе, хранится состояние транзакции (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idle, in transaction, failed transaction),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так что клиент всегда понимает, в каком контексте он находится.</a:t>
            </a:r>
          </a:p>
        </p:txBody>
      </p:sp>
    </p:spTree>
    <p:extLst>
      <p:ext uri="{BB962C8B-B14F-4D97-AF65-F5344CB8AC3E}">
        <p14:creationId xmlns:p14="http://schemas.microsoft.com/office/powerpoint/2010/main" val="34133051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600" b="0" i="0" dirty="0">
                <a:solidFill>
                  <a:schemeClr val="tx1"/>
                </a:solidFill>
                <a:effectLst/>
              </a:rPr>
              <a:t>Итого, для простого примера</a:t>
            </a:r>
            <a:endParaRPr lang="en-US" sz="3400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53D41F5-6DBC-CD80-20BD-7CAB6EB1F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471" y="2163574"/>
            <a:ext cx="9225329" cy="345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2065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Ответ на команды без результата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14450"/>
            <a:ext cx="10096500" cy="493395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В таких случаях протокол ведёт себя проще:</a:t>
            </a:r>
          </a:p>
          <a:p>
            <a:pPr marL="0" indent="0" algn="l">
              <a:buNone/>
            </a:pPr>
            <a:endParaRPr lang="ru-RU" sz="2400" b="0" i="0" dirty="0">
              <a:solidFill>
                <a:schemeClr val="tx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" sz="2400" b="0" i="0" dirty="0" err="1">
                <a:solidFill>
                  <a:schemeClr val="tx1"/>
                </a:solidFill>
                <a:effectLst/>
              </a:rPr>
              <a:t>RowDescription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и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DataRow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не отправляются;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сервер сразу после выполнения команды отправляет: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sz="2400" b="0" i="0" dirty="0" err="1">
                <a:solidFill>
                  <a:schemeClr val="tx1"/>
                </a:solidFill>
                <a:effectLst/>
              </a:rPr>
              <a:t>CommandComplete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—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с резюме операции;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sz="2400" b="0" i="0" dirty="0" err="1">
                <a:solidFill>
                  <a:schemeClr val="tx1"/>
                </a:solidFill>
                <a:effectLst/>
              </a:rPr>
              <a:t>ReadyForQuery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—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с состоянием транзакции.</a:t>
            </a:r>
          </a:p>
          <a:p>
            <a:pPr marL="0" indent="0" algn="l">
              <a:buNone/>
            </a:pPr>
            <a:endParaRPr lang="en-US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Пример для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INSERT:</a:t>
            </a:r>
            <a:endParaRPr lang="ru-RU" sz="2400" b="0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79E267-395E-1DA1-5043-6F4A12653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180089"/>
            <a:ext cx="7772400" cy="139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8258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en" sz="3400" dirty="0" err="1">
                <a:solidFill>
                  <a:schemeClr val="tx1"/>
                </a:solidFill>
              </a:rPr>
              <a:t>psql</a:t>
            </a:r>
            <a:r>
              <a:rPr lang="en" sz="3400" dirty="0">
                <a:solidFill>
                  <a:schemeClr val="tx1"/>
                </a:solidFill>
              </a:rPr>
              <a:t> </a:t>
            </a:r>
            <a:r>
              <a:rPr lang="ru-RU" sz="3400" dirty="0">
                <a:solidFill>
                  <a:schemeClr val="tx1"/>
                </a:solidFill>
              </a:rPr>
              <a:t>и драйверы: роль </a:t>
            </a:r>
            <a:r>
              <a:rPr lang="en" sz="3400" dirty="0" err="1">
                <a:solidFill>
                  <a:schemeClr val="tx1"/>
                </a:solidFill>
              </a:rPr>
              <a:t>libpq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85925"/>
            <a:ext cx="9601200" cy="41814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Когда мы запускаем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psql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или пишем в коде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db.query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("SELECT 1"),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почти никогда не задумываемся, что именно разговаривает с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PostgreSQL «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по проводу». </a:t>
            </a:r>
            <a:endParaRPr lang="en-US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На самом деле между вашим приложением и сервером всегда есть драйвер — библиотека, которая умеет говорить на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wire-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протоколе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PostgreSQL.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В мире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C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и всего «родного» для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Postgres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эту роль играет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libpq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.</a:t>
            </a:r>
          </a:p>
          <a:p>
            <a:pPr marL="0" indent="0" algn="l">
              <a:buNone/>
            </a:pPr>
            <a:endParaRPr lang="en" sz="2400" b="0" i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468354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en" sz="3400" b="1" dirty="0" err="1">
                <a:solidFill>
                  <a:schemeClr val="tx1"/>
                </a:solidFill>
              </a:rPr>
              <a:t>libpq</a:t>
            </a:r>
            <a:endParaRPr lang="en-US" sz="3400" b="1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685925"/>
            <a:ext cx="10372725" cy="4876799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" b="0" i="0" dirty="0" err="1">
                <a:solidFill>
                  <a:schemeClr val="tx1"/>
                </a:solidFill>
                <a:effectLst/>
              </a:rPr>
              <a:t>libpq</a:t>
            </a:r>
            <a:r>
              <a:rPr lang="en" b="0" i="0" dirty="0">
                <a:solidFill>
                  <a:schemeClr val="tx1"/>
                </a:solidFill>
                <a:effectLst/>
              </a:rPr>
              <a:t> — </a:t>
            </a:r>
            <a:r>
              <a:rPr lang="ru-RU" b="0" i="0" dirty="0">
                <a:solidFill>
                  <a:schemeClr val="tx1"/>
                </a:solidFill>
                <a:effectLst/>
              </a:rPr>
              <a:t>это официальная </a:t>
            </a:r>
            <a:r>
              <a:rPr lang="en" b="0" i="0" dirty="0">
                <a:solidFill>
                  <a:schemeClr val="tx1"/>
                </a:solidFill>
                <a:effectLst/>
              </a:rPr>
              <a:t>C-</a:t>
            </a:r>
            <a:r>
              <a:rPr lang="ru-RU" b="0" i="0" dirty="0">
                <a:solidFill>
                  <a:schemeClr val="tx1"/>
                </a:solidFill>
                <a:effectLst/>
              </a:rPr>
              <a:t>библиотека </a:t>
            </a:r>
            <a:r>
              <a:rPr lang="en" b="0" i="0" dirty="0">
                <a:solidFill>
                  <a:schemeClr val="tx1"/>
                </a:solidFill>
                <a:effectLst/>
              </a:rPr>
              <a:t>PostgreSQL, </a:t>
            </a:r>
            <a:r>
              <a:rPr lang="ru-RU" b="0" i="0" dirty="0">
                <a:solidFill>
                  <a:schemeClr val="tx1"/>
                </a:solidFill>
                <a:effectLst/>
              </a:rPr>
              <a:t>которая реализует </a:t>
            </a:r>
            <a:r>
              <a:rPr lang="en" b="0" i="0" dirty="0">
                <a:solidFill>
                  <a:schemeClr val="tx1"/>
                </a:solidFill>
                <a:effectLst/>
              </a:rPr>
              <a:t>wire-</a:t>
            </a:r>
            <a:r>
              <a:rPr lang="ru-RU" b="0" i="0" dirty="0">
                <a:solidFill>
                  <a:schemeClr val="tx1"/>
                </a:solidFill>
                <a:effectLst/>
              </a:rPr>
              <a:t>протокол на низком уровне. Именно она умеет: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кодировать и декодировать все сообщения протокола</a:t>
            </a:r>
            <a:r>
              <a:rPr lang="en-US" b="0" i="0" dirty="0">
                <a:solidFill>
                  <a:schemeClr val="tx1"/>
                </a:solidFill>
                <a:effectLst/>
              </a:rPr>
              <a:t>;</a:t>
            </a:r>
            <a:endParaRPr lang="ru-RU" b="0" i="0" dirty="0">
              <a:solidFill>
                <a:schemeClr val="tx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выполнять </a:t>
            </a:r>
            <a:r>
              <a:rPr lang="en" b="0" i="0" dirty="0">
                <a:solidFill>
                  <a:schemeClr val="tx1"/>
                </a:solidFill>
                <a:effectLst/>
              </a:rPr>
              <a:t>startup-</a:t>
            </a:r>
            <a:r>
              <a:rPr lang="ru-RU" b="0" i="0" dirty="0">
                <a:solidFill>
                  <a:schemeClr val="tx1"/>
                </a:solidFill>
                <a:effectLst/>
              </a:rPr>
              <a:t>диалог</a:t>
            </a:r>
            <a:r>
              <a:rPr lang="en" b="0" i="0" dirty="0">
                <a:solidFill>
                  <a:schemeClr val="tx1"/>
                </a:solidFill>
                <a:effectLst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поддерживать как </a:t>
            </a:r>
            <a:r>
              <a:rPr lang="en" b="0" i="0" dirty="0">
                <a:solidFill>
                  <a:schemeClr val="tx1"/>
                </a:solidFill>
                <a:effectLst/>
              </a:rPr>
              <a:t>Simple Query protocol (Query), </a:t>
            </a:r>
            <a:r>
              <a:rPr lang="ru-RU" b="0" i="0" dirty="0">
                <a:solidFill>
                  <a:schemeClr val="tx1"/>
                </a:solidFill>
                <a:effectLst/>
              </a:rPr>
              <a:t>так и </a:t>
            </a:r>
            <a:r>
              <a:rPr lang="en" b="0" i="0" dirty="0">
                <a:solidFill>
                  <a:schemeClr val="tx1"/>
                </a:solidFill>
                <a:effectLst/>
              </a:rPr>
              <a:t>Extended Query protocol;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предоставлять удобный </a:t>
            </a:r>
            <a:r>
              <a:rPr lang="en" b="0" i="0" dirty="0">
                <a:solidFill>
                  <a:schemeClr val="tx1"/>
                </a:solidFill>
                <a:effectLst/>
              </a:rPr>
              <a:t>API, </a:t>
            </a:r>
            <a:r>
              <a:rPr lang="ru-RU" b="0" i="0" dirty="0">
                <a:solidFill>
                  <a:schemeClr val="tx1"/>
                </a:solidFill>
                <a:effectLst/>
              </a:rPr>
              <a:t>который скрывает детали протокола за функциями.</a:t>
            </a:r>
          </a:p>
          <a:p>
            <a:pPr marL="0" indent="0" algn="l">
              <a:buNone/>
            </a:pPr>
            <a:endParaRPr lang="en-US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chemeClr val="tx1"/>
                </a:solidFill>
                <a:effectLst/>
              </a:rPr>
              <a:t>Важно понимать: </a:t>
            </a:r>
            <a:r>
              <a:rPr lang="en" b="0" i="0" dirty="0" err="1">
                <a:solidFill>
                  <a:schemeClr val="tx1"/>
                </a:solidFill>
                <a:effectLst/>
              </a:rPr>
              <a:t>psql</a:t>
            </a:r>
            <a:r>
              <a:rPr lang="en" b="0" i="0" dirty="0">
                <a:solidFill>
                  <a:schemeClr val="tx1"/>
                </a:solidFill>
                <a:effectLst/>
              </a:rPr>
              <a:t> — </a:t>
            </a:r>
            <a:r>
              <a:rPr lang="ru-RU" b="0" i="0" dirty="0">
                <a:solidFill>
                  <a:schemeClr val="tx1"/>
                </a:solidFill>
                <a:effectLst/>
              </a:rPr>
              <a:t>это не самостоятельная реализация протокола. Это, по сути, оболочка вокруг </a:t>
            </a:r>
            <a:r>
              <a:rPr lang="en" b="0" i="0" dirty="0" err="1">
                <a:solidFill>
                  <a:schemeClr val="tx1"/>
                </a:solidFill>
                <a:effectLst/>
              </a:rPr>
              <a:t>libpq</a:t>
            </a:r>
            <a:r>
              <a:rPr lang="en" b="0" i="0" dirty="0">
                <a:solidFill>
                  <a:schemeClr val="tx1"/>
                </a:solidFill>
                <a:effectLst/>
              </a:rPr>
              <a:t>, </a:t>
            </a:r>
            <a:r>
              <a:rPr lang="en" b="0" i="0" dirty="0" err="1">
                <a:solidFill>
                  <a:schemeClr val="tx1"/>
                </a:solidFill>
                <a:effectLst/>
              </a:rPr>
              <a:t>ко</a:t>
            </a:r>
            <a:r>
              <a:rPr lang="ru-RU" b="0" i="0" dirty="0" err="1">
                <a:solidFill>
                  <a:schemeClr val="tx1"/>
                </a:solidFill>
                <a:effectLst/>
              </a:rPr>
              <a:t>торая</a:t>
            </a:r>
            <a:r>
              <a:rPr lang="ru-RU" b="0" i="0" dirty="0">
                <a:solidFill>
                  <a:schemeClr val="tx1"/>
                </a:solidFill>
                <a:effectLst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читает ваши команды из </a:t>
            </a:r>
            <a:r>
              <a:rPr lang="en" b="0" i="0" dirty="0">
                <a:solidFill>
                  <a:schemeClr val="tx1"/>
                </a:solidFill>
                <a:effectLst/>
              </a:rPr>
              <a:t>stdin;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вызывает функции </a:t>
            </a:r>
            <a:r>
              <a:rPr lang="en" b="0" i="0" dirty="0" err="1">
                <a:solidFill>
                  <a:schemeClr val="tx1"/>
                </a:solidFill>
                <a:effectLst/>
              </a:rPr>
              <a:t>libpq</a:t>
            </a:r>
            <a:r>
              <a:rPr lang="en" b="0" i="0" dirty="0">
                <a:solidFill>
                  <a:schemeClr val="tx1"/>
                </a:solidFill>
                <a:effectLst/>
              </a:rPr>
              <a:t>, </a:t>
            </a:r>
            <a:r>
              <a:rPr lang="ru-RU" b="0" i="0" dirty="0">
                <a:solidFill>
                  <a:schemeClr val="tx1"/>
                </a:solidFill>
                <a:effectLst/>
              </a:rPr>
              <a:t>чтобы установить соединение и отправить запросы;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</a:rPr>
              <a:t>получает из </a:t>
            </a:r>
            <a:r>
              <a:rPr lang="en" b="0" i="0" dirty="0" err="1">
                <a:solidFill>
                  <a:schemeClr val="tx1"/>
                </a:solidFill>
                <a:effectLst/>
              </a:rPr>
              <a:t>libpq</a:t>
            </a:r>
            <a:r>
              <a:rPr lang="en" b="0" i="0" dirty="0">
                <a:solidFill>
                  <a:schemeClr val="tx1"/>
                </a:solidFill>
                <a:effectLst/>
              </a:rPr>
              <a:t> </a:t>
            </a:r>
            <a:r>
              <a:rPr lang="ru-RU" b="0" i="0" dirty="0">
                <a:solidFill>
                  <a:schemeClr val="tx1"/>
                </a:solidFill>
                <a:effectLst/>
              </a:rPr>
              <a:t>результаты и рисует красивую табличку в терминале.</a:t>
            </a:r>
          </a:p>
        </p:txBody>
      </p:sp>
    </p:spTree>
    <p:extLst>
      <p:ext uri="{BB962C8B-B14F-4D97-AF65-F5344CB8AC3E}">
        <p14:creationId xmlns:p14="http://schemas.microsoft.com/office/powerpoint/2010/main" val="32676986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29076DC-D142-2E84-8924-593C47683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 путаем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E61DCC40-647C-BE0D-110C-53F5CCC21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013455"/>
              </p:ext>
            </p:extLst>
          </p:nvPr>
        </p:nvGraphicFramePr>
        <p:xfrm>
          <a:off x="1371600" y="1685926"/>
          <a:ext cx="10439400" cy="4804347"/>
        </p:xfrm>
        <a:graphic>
          <a:graphicData uri="http://schemas.openxmlformats.org/drawingml/2006/table">
            <a:tbl>
              <a:tblPr/>
              <a:tblGrid>
                <a:gridCol w="1276350">
                  <a:extLst>
                    <a:ext uri="{9D8B030D-6E8A-4147-A177-3AD203B41FA5}">
                      <a16:colId xmlns:a16="http://schemas.microsoft.com/office/drawing/2014/main" val="305691818"/>
                    </a:ext>
                  </a:extLst>
                </a:gridCol>
                <a:gridCol w="2124075">
                  <a:extLst>
                    <a:ext uri="{9D8B030D-6E8A-4147-A177-3AD203B41FA5}">
                      <a16:colId xmlns:a16="http://schemas.microsoft.com/office/drawing/2014/main" val="1688352491"/>
                    </a:ext>
                  </a:extLst>
                </a:gridCol>
                <a:gridCol w="4295775">
                  <a:extLst>
                    <a:ext uri="{9D8B030D-6E8A-4147-A177-3AD203B41FA5}">
                      <a16:colId xmlns:a16="http://schemas.microsoft.com/office/drawing/2014/main" val="423758316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50785979"/>
                    </a:ext>
                  </a:extLst>
                </a:gridCol>
              </a:tblGrid>
              <a:tr h="291185">
                <a:tc>
                  <a:txBody>
                    <a:bodyPr/>
                    <a:lstStyle/>
                    <a:p>
                      <a:r>
                        <a:rPr lang="ru-RU" sz="1800" b="1" dirty="0"/>
                        <a:t>Термин</a:t>
                      </a:r>
                    </a:p>
                  </a:txBody>
                  <a:tcPr marL="58711" marR="58711" marT="29356" marB="29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Где работает</a:t>
                      </a:r>
                    </a:p>
                  </a:txBody>
                  <a:tcPr marL="58711" marR="58711" marT="29356" marB="29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Назначение</a:t>
                      </a:r>
                    </a:p>
                  </a:txBody>
                  <a:tcPr marL="58711" marR="58711" marT="29356" marB="29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Аналогия в </a:t>
                      </a:r>
                      <a:r>
                        <a:rPr lang="en" sz="1800" b="1" dirty="0" err="1"/>
                        <a:t>MiniDB</a:t>
                      </a:r>
                      <a:endParaRPr lang="en" sz="1800" b="1" dirty="0"/>
                    </a:p>
                  </a:txBody>
                  <a:tcPr marL="58711" marR="58711" marT="29356" marB="29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0126838"/>
                  </a:ext>
                </a:extLst>
              </a:tr>
              <a:tr h="1490438">
                <a:tc>
                  <a:txBody>
                    <a:bodyPr/>
                    <a:lstStyle/>
                    <a:p>
                      <a:r>
                        <a:rPr lang="en" sz="1800" b="1"/>
                        <a:t>ps</a:t>
                      </a:r>
                      <a:endParaRPr lang="en" sz="1800"/>
                    </a:p>
                  </a:txBody>
                  <a:tcPr marL="58711" marR="58711" marT="29356" marB="29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утилита ОС (</a:t>
                      </a:r>
                      <a:r>
                        <a:rPr lang="en" sz="1800" dirty="0"/>
                        <a:t>Linux / macOS)</a:t>
                      </a:r>
                    </a:p>
                  </a:txBody>
                  <a:tcPr marL="58711" marR="58711" marT="29356" marB="29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показывает список процессов: можно увидеть </a:t>
                      </a:r>
                      <a:r>
                        <a:rPr lang="en" sz="1800"/>
                        <a:t>postmaster, backend-</a:t>
                      </a:r>
                      <a:r>
                        <a:rPr lang="ru-RU" sz="1800"/>
                        <a:t>процессы и фоновые процессы </a:t>
                      </a:r>
                      <a:r>
                        <a:rPr lang="en" sz="1800"/>
                        <a:t>PostgreSQL</a:t>
                      </a:r>
                    </a:p>
                  </a:txBody>
                  <a:tcPr marL="58711" marR="58711" marT="29356" marB="29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 dirty="0"/>
                        <a:t> </a:t>
                      </a:r>
                      <a:r>
                        <a:rPr lang="ru-RU" sz="1800" dirty="0"/>
                        <a:t>просмотр потоков в </a:t>
                      </a:r>
                      <a:r>
                        <a:rPr lang="en" sz="1800" dirty="0"/>
                        <a:t>IDE</a:t>
                      </a:r>
                    </a:p>
                  </a:txBody>
                  <a:tcPr marL="58711" marR="58711" marT="29356" marB="29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662128"/>
                  </a:ext>
                </a:extLst>
              </a:tr>
              <a:tr h="1250588">
                <a:tc>
                  <a:txBody>
                    <a:bodyPr/>
                    <a:lstStyle/>
                    <a:p>
                      <a:r>
                        <a:rPr lang="en" sz="1800" b="1"/>
                        <a:t>psql</a:t>
                      </a:r>
                      <a:endParaRPr lang="en" sz="1800"/>
                    </a:p>
                  </a:txBody>
                  <a:tcPr marL="58711" marR="58711" marT="29356" marB="29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пользовательская программа</a:t>
                      </a:r>
                    </a:p>
                  </a:txBody>
                  <a:tcPr marL="58711" marR="58711" marT="29356" marB="29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интерактивный клиент </a:t>
                      </a:r>
                      <a:r>
                        <a:rPr lang="en" sz="1800"/>
                        <a:t>PostgreSQL: </a:t>
                      </a:r>
                      <a:r>
                        <a:rPr lang="ru-RU" sz="1800"/>
                        <a:t>принимает </a:t>
                      </a:r>
                      <a:r>
                        <a:rPr lang="en" sz="1800"/>
                        <a:t>SQL </a:t>
                      </a:r>
                      <a:r>
                        <a:rPr lang="ru-RU" sz="1800"/>
                        <a:t>от пользователя и отправляет на сервер</a:t>
                      </a:r>
                    </a:p>
                  </a:txBody>
                  <a:tcPr marL="58711" marR="58711" marT="29356" marB="29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ClientImpl</a:t>
                      </a:r>
                    </a:p>
                  </a:txBody>
                  <a:tcPr marL="58711" marR="58711" marT="29356" marB="29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03403"/>
                  </a:ext>
                </a:extLst>
              </a:tr>
              <a:tr h="1730289">
                <a:tc>
                  <a:txBody>
                    <a:bodyPr/>
                    <a:lstStyle/>
                    <a:p>
                      <a:r>
                        <a:rPr lang="en" sz="1800" b="1"/>
                        <a:t>libpq</a:t>
                      </a:r>
                      <a:endParaRPr lang="en" sz="1800"/>
                    </a:p>
                  </a:txBody>
                  <a:tcPr marL="58711" marR="58711" marT="29356" marB="29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библиотека внутри клиента (</a:t>
                      </a:r>
                      <a:r>
                        <a:rPr lang="en" sz="1800"/>
                        <a:t>C API)</a:t>
                      </a:r>
                    </a:p>
                  </a:txBody>
                  <a:tcPr marL="58711" marR="58711" marT="29356" marB="29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реализует </a:t>
                      </a:r>
                      <a:r>
                        <a:rPr lang="en" sz="1800" dirty="0"/>
                        <a:t>wire-</a:t>
                      </a:r>
                      <a:r>
                        <a:rPr lang="ru-RU" sz="1800" dirty="0"/>
                        <a:t>протокол </a:t>
                      </a:r>
                      <a:r>
                        <a:rPr lang="en" sz="1800" dirty="0"/>
                        <a:t>PostgreSQL, </a:t>
                      </a:r>
                      <a:r>
                        <a:rPr lang="ru-RU" sz="1800" dirty="0"/>
                        <a:t>обеспечивает подключение, отправку запросов и получение результатов</a:t>
                      </a:r>
                    </a:p>
                  </a:txBody>
                  <a:tcPr marL="58711" marR="58711" marT="29356" marB="29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код работы с </a:t>
                      </a:r>
                      <a:r>
                        <a:rPr lang="en" sz="1800" dirty="0"/>
                        <a:t>Socket </a:t>
                      </a:r>
                      <a:r>
                        <a:rPr lang="ru-RU" sz="1800" dirty="0"/>
                        <a:t>внутри </a:t>
                      </a:r>
                      <a:r>
                        <a:rPr lang="en" sz="1800" dirty="0" err="1"/>
                        <a:t>ClientImpl</a:t>
                      </a:r>
                      <a:endParaRPr lang="en" sz="1800" dirty="0"/>
                    </a:p>
                  </a:txBody>
                  <a:tcPr marL="58711" marR="58711" marT="29356" marB="29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296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6820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9601200" cy="1076325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chemeClr val="tx1"/>
                </a:solidFill>
              </a:rPr>
              <a:t>Драйверы на других языках</a:t>
            </a:r>
            <a:endParaRPr lang="en-US" sz="3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114549"/>
            <a:ext cx="10258425" cy="42957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chemeClr val="tx1"/>
                </a:solidFill>
                <a:effectLst/>
              </a:rPr>
              <a:t>В приложениях на </a:t>
            </a:r>
            <a:r>
              <a:rPr lang="en" b="0" i="0" dirty="0">
                <a:solidFill>
                  <a:schemeClr val="tx1"/>
                </a:solidFill>
                <a:effectLst/>
              </a:rPr>
              <a:t>Java, Python, Go, Node.js </a:t>
            </a:r>
            <a:r>
              <a:rPr lang="ru-RU" b="0" i="0" dirty="0">
                <a:solidFill>
                  <a:schemeClr val="tx1"/>
                </a:solidFill>
                <a:effectLst/>
              </a:rPr>
              <a:t>и других языках роль </a:t>
            </a:r>
            <a:r>
              <a:rPr lang="en" b="0" i="0" dirty="0" err="1">
                <a:solidFill>
                  <a:schemeClr val="tx1"/>
                </a:solidFill>
                <a:effectLst/>
              </a:rPr>
              <a:t>libpq</a:t>
            </a:r>
            <a:r>
              <a:rPr lang="en" b="0" i="0" dirty="0">
                <a:solidFill>
                  <a:schemeClr val="tx1"/>
                </a:solidFill>
                <a:effectLst/>
              </a:rPr>
              <a:t> </a:t>
            </a:r>
            <a:r>
              <a:rPr lang="ru-RU" b="0" i="0" dirty="0">
                <a:solidFill>
                  <a:schemeClr val="tx1"/>
                </a:solidFill>
                <a:effectLst/>
              </a:rPr>
              <a:t>играют драйверы, например в </a:t>
            </a:r>
            <a:r>
              <a:rPr lang="en" b="0" i="0" dirty="0">
                <a:solidFill>
                  <a:schemeClr val="tx1"/>
                </a:solidFill>
                <a:effectLst/>
              </a:rPr>
              <a:t>Java — JDBC-</a:t>
            </a:r>
            <a:r>
              <a:rPr lang="ru-RU" b="0" i="0" dirty="0">
                <a:solidFill>
                  <a:schemeClr val="tx1"/>
                </a:solidFill>
                <a:effectLst/>
              </a:rPr>
              <a:t>драйвер </a:t>
            </a:r>
            <a:r>
              <a:rPr lang="en" b="0" i="0" dirty="0">
                <a:solidFill>
                  <a:schemeClr val="tx1"/>
                </a:solidFill>
                <a:effectLst/>
              </a:rPr>
              <a:t>PostgreSQL</a:t>
            </a:r>
            <a:r>
              <a:rPr lang="ru-RU" b="0" i="0" dirty="0">
                <a:solidFill>
                  <a:schemeClr val="tx1"/>
                </a:solidFill>
                <a:effectLst/>
              </a:rPr>
              <a:t>.</a:t>
            </a:r>
            <a:endParaRPr lang="en-US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chemeClr val="tx1"/>
                </a:solidFill>
                <a:effectLst/>
              </a:rPr>
              <a:t>Они могут быть устроены двумя способами: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</a:rPr>
              <a:t>1. </a:t>
            </a:r>
            <a:r>
              <a:rPr lang="ru-RU" b="0" i="0" dirty="0">
                <a:solidFill>
                  <a:schemeClr val="tx1"/>
                </a:solidFill>
                <a:effectLst/>
              </a:rPr>
              <a:t>Обёртка над </a:t>
            </a:r>
            <a:r>
              <a:rPr lang="en" b="0" i="0" dirty="0" err="1">
                <a:solidFill>
                  <a:schemeClr val="tx1"/>
                </a:solidFill>
                <a:effectLst/>
              </a:rPr>
              <a:t>libpq</a:t>
            </a:r>
            <a:r>
              <a:rPr lang="en" b="0" i="0" dirty="0">
                <a:solidFill>
                  <a:schemeClr val="tx1"/>
                </a:solidFill>
                <a:effectLst/>
              </a:rPr>
              <a:t>. </a:t>
            </a:r>
            <a:r>
              <a:rPr lang="ru-RU" b="0" i="0" dirty="0">
                <a:solidFill>
                  <a:schemeClr val="tx1"/>
                </a:solidFill>
                <a:effectLst/>
              </a:rPr>
              <a:t>В этом случае язык просто «заворачивает» </a:t>
            </a:r>
            <a:r>
              <a:rPr lang="en" b="0" i="0" dirty="0">
                <a:solidFill>
                  <a:schemeClr val="tx1"/>
                </a:solidFill>
                <a:effectLst/>
              </a:rPr>
              <a:t>C-</a:t>
            </a:r>
            <a:r>
              <a:rPr lang="ru-RU" b="0" i="0" dirty="0">
                <a:solidFill>
                  <a:schemeClr val="tx1"/>
                </a:solidFill>
                <a:effectLst/>
              </a:rPr>
              <a:t>библиотеку в свои типы и вызовы</a:t>
            </a:r>
            <a:r>
              <a:rPr lang="en" b="0" i="0" dirty="0">
                <a:solidFill>
                  <a:schemeClr val="tx1"/>
                </a:solidFill>
                <a:effectLst/>
              </a:rPr>
              <a:t>.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</a:rPr>
              <a:t>2. </a:t>
            </a:r>
            <a:r>
              <a:rPr lang="ru-RU" b="0" i="0" dirty="0">
                <a:solidFill>
                  <a:schemeClr val="tx1"/>
                </a:solidFill>
                <a:effectLst/>
              </a:rPr>
              <a:t>Полностью самостоятельная реализация </a:t>
            </a:r>
            <a:r>
              <a:rPr lang="en" b="0" i="0" dirty="0">
                <a:solidFill>
                  <a:schemeClr val="tx1"/>
                </a:solidFill>
                <a:effectLst/>
              </a:rPr>
              <a:t>wire-</a:t>
            </a:r>
            <a:r>
              <a:rPr lang="ru-RU" b="0" i="0" dirty="0">
                <a:solidFill>
                  <a:schemeClr val="tx1"/>
                </a:solidFill>
                <a:effectLst/>
              </a:rPr>
              <a:t>протокола. </a:t>
            </a:r>
          </a:p>
        </p:txBody>
      </p:sp>
    </p:spTree>
    <p:extLst>
      <p:ext uri="{BB962C8B-B14F-4D97-AF65-F5344CB8AC3E}">
        <p14:creationId xmlns:p14="http://schemas.microsoft.com/office/powerpoint/2010/main" val="6451422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10020300" cy="1076325"/>
          </a:xfrm>
        </p:spPr>
        <p:txBody>
          <a:bodyPr>
            <a:normAutofit/>
          </a:bodyPr>
          <a:lstStyle/>
          <a:p>
            <a:r>
              <a:rPr lang="ru-RU" sz="2600" dirty="0">
                <a:solidFill>
                  <a:schemeClr val="tx1"/>
                </a:solidFill>
              </a:rPr>
              <a:t>Независимо от реализации задачи у драйвера всегда одни и те же</a:t>
            </a:r>
            <a:endParaRPr lang="en-US" sz="26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62125"/>
            <a:ext cx="10020299" cy="4105275"/>
          </a:xfrm>
        </p:spPr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разобрать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connection string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или набор параметров подключения;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установить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TCP/SSL-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соединение с сервером;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пройти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startup-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фазу и аутентификацию (до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ReadyForQuery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выполнять запросы через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Simple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или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Extended Query protocol;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получать из сокета протокольные сообщения (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RowDescription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,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DataRow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,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CommandComplete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,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ErrorResponse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,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ReadyForQuery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преобразовывать сырые байты в типы языка: строки, числа, булевы, даты/время,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JSON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и т.п.;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предоставлять программисту удобный интерфейс: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методы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query, execute, prepare,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объекты соединений и пулов соединений,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sz="2400" b="0" i="0" dirty="0">
                <a:solidFill>
                  <a:schemeClr val="tx1"/>
                </a:solidFill>
                <a:effectLst/>
              </a:rPr>
              <a:t>API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для управления транзакциями (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begin, commit, rollback).</a:t>
            </a:r>
            <a:endParaRPr lang="ru-RU" sz="2400" b="0" i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008793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10020300" cy="1076325"/>
          </a:xfrm>
        </p:spPr>
        <p:txBody>
          <a:bodyPr>
            <a:normAutofit/>
          </a:bodyPr>
          <a:lstStyle/>
          <a:p>
            <a:r>
              <a:rPr lang="en-US" sz="2600" b="1" dirty="0" err="1">
                <a:solidFill>
                  <a:schemeClr val="tx1"/>
                </a:solidFill>
              </a:rPr>
              <a:t>И</a:t>
            </a:r>
            <a:r>
              <a:rPr lang="ru-RU" sz="2600" b="1" dirty="0">
                <a:solidFill>
                  <a:schemeClr val="tx1"/>
                </a:solidFill>
              </a:rPr>
              <a:t>ТОГО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447801"/>
            <a:ext cx="10353675" cy="507682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Для вас это всего лишь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db.query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(...),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а на уровне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wire-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протокола всегда крутится один и тот же цикл: </a:t>
            </a:r>
          </a:p>
          <a:p>
            <a:pPr marL="0" indent="0" algn="l">
              <a:buNone/>
            </a:pPr>
            <a:endParaRPr lang="en-US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endParaRPr lang="en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endParaRPr lang="en" sz="240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" sz="240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r>
              <a:rPr lang="en" sz="2400" b="0" i="0" dirty="0">
                <a:solidFill>
                  <a:schemeClr val="tx1"/>
                </a:solidFill>
                <a:effectLst/>
              </a:rPr>
              <a:t> </a:t>
            </a:r>
            <a:endParaRPr lang="ru-RU" sz="2400" b="0" i="0" dirty="0"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Драйвер и/или </a:t>
            </a:r>
            <a:r>
              <a:rPr lang="en" sz="2400" b="0" i="0" dirty="0" err="1">
                <a:solidFill>
                  <a:schemeClr val="tx1"/>
                </a:solidFill>
                <a:effectLst/>
              </a:rPr>
              <a:t>libpq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просто берут на себя всю низкоуровневую работу, чтобы вы могли думать в терминах 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SQL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и объектов, а не байтов и заголовков сообщений.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75ED43B-7AD7-2D2B-3645-2882DA527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5" y="2275087"/>
            <a:ext cx="7772400" cy="289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089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162175"/>
            <a:ext cx="2990850" cy="2228850"/>
          </a:xfrm>
        </p:spPr>
        <p:txBody>
          <a:bodyPr>
            <a:normAutofit/>
          </a:bodyPr>
          <a:lstStyle/>
          <a:p>
            <a:pPr algn="ctr"/>
            <a:r>
              <a:rPr lang="ru-RU" sz="3800" dirty="0">
                <a:solidFill>
                  <a:schemeClr val="tx1"/>
                </a:solidFill>
              </a:rPr>
              <a:t>Поэтому скажите им спасибо)</a:t>
            </a:r>
            <a:endParaRPr lang="en-US" sz="3800" dirty="0">
              <a:solidFill>
                <a:schemeClr val="tx1"/>
              </a:solidFill>
            </a:endParaRPr>
          </a:p>
        </p:txBody>
      </p:sp>
      <p:pic>
        <p:nvPicPr>
          <p:cNvPr id="8194" name="Picture 2" descr="Мем опять работа (49 фото)">
            <a:extLst>
              <a:ext uri="{FF2B5EF4-FFF2-40B4-BE49-F238E27FC236}">
                <a16:creationId xmlns:a16="http://schemas.microsoft.com/office/drawing/2014/main" id="{627379F7-91E1-7622-AFC6-81C7C15C0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-1"/>
            <a:ext cx="7353300" cy="6877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01060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142875"/>
            <a:ext cx="10020300" cy="1076325"/>
          </a:xfrm>
        </p:spPr>
        <p:txBody>
          <a:bodyPr>
            <a:normAutofit/>
          </a:bodyPr>
          <a:lstStyle/>
          <a:p>
            <a:r>
              <a:rPr lang="ru-RU" sz="2600" b="1" dirty="0">
                <a:solidFill>
                  <a:schemeClr val="tx1"/>
                </a:solidFill>
              </a:rPr>
              <a:t>Практика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681037"/>
            <a:ext cx="10353675" cy="5076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Цель — воспроизвести упрощённую модель </a:t>
            </a:r>
            <a:r>
              <a:rPr lang="en" sz="2000" b="1" dirty="0"/>
              <a:t>PostgreSQL:</a:t>
            </a:r>
            <a:endParaRPr lang="e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Один </a:t>
            </a:r>
            <a:r>
              <a:rPr lang="ru-RU" sz="2000" b="1" dirty="0"/>
              <a:t>главный серверный процесс</a:t>
            </a:r>
            <a:r>
              <a:rPr lang="ru-RU" sz="2000" dirty="0"/>
              <a:t> — приём клиентов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Отдельный </a:t>
            </a:r>
            <a:r>
              <a:rPr lang="en" sz="2000" b="1" dirty="0"/>
              <a:t>backend-</a:t>
            </a:r>
            <a:r>
              <a:rPr lang="ru-RU" sz="2000" b="1" dirty="0"/>
              <a:t>поток на каждого клиента</a:t>
            </a:r>
            <a:endParaRPr lang="ru-R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/>
              <a:t>Клиентское приложение</a:t>
            </a:r>
            <a:r>
              <a:rPr lang="ru-RU" sz="2000" dirty="0"/>
              <a:t>, которое отправляет запросы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/>
              <a:t>Мини-движок </a:t>
            </a:r>
            <a:r>
              <a:rPr lang="en" sz="2000" b="1" dirty="0"/>
              <a:t>Engine</a:t>
            </a:r>
            <a:r>
              <a:rPr lang="en" sz="2000" dirty="0"/>
              <a:t>, </a:t>
            </a:r>
            <a:r>
              <a:rPr lang="ru-RU" sz="2000" dirty="0"/>
              <a:t>который «выполняет </a:t>
            </a:r>
            <a:r>
              <a:rPr lang="en" sz="2000" dirty="0"/>
              <a:t>SQL»</a:t>
            </a:r>
            <a:r>
              <a:rPr lang="ru-RU" sz="2000" dirty="0"/>
              <a:t> (ну или отдает заглушку)</a:t>
            </a:r>
            <a:endParaRPr lang="en" sz="2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6DB42C-5F25-5E1D-FC98-AE4295C11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49" y="2861372"/>
            <a:ext cx="6430664" cy="399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3253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142875"/>
            <a:ext cx="10020300" cy="1076325"/>
          </a:xfrm>
        </p:spPr>
        <p:txBody>
          <a:bodyPr>
            <a:normAutofit/>
          </a:bodyPr>
          <a:lstStyle/>
          <a:p>
            <a:r>
              <a:rPr lang="en" sz="2600" b="1" dirty="0">
                <a:solidFill>
                  <a:schemeClr val="tx1"/>
                </a:solidFill>
              </a:rPr>
              <a:t>client</a:t>
            </a:r>
            <a:br>
              <a:rPr lang="en" sz="2600" b="1" dirty="0">
                <a:solidFill>
                  <a:schemeClr val="tx1"/>
                </a:solidFill>
              </a:rPr>
            </a:br>
            <a:endParaRPr lang="en-US" sz="2600" b="1" dirty="0">
              <a:solidFill>
                <a:schemeClr val="tx1"/>
              </a:solidFill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408BDC89-BADE-DEB6-F894-107A3BE57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536917"/>
              </p:ext>
            </p:extLst>
          </p:nvPr>
        </p:nvGraphicFramePr>
        <p:xfrm>
          <a:off x="1295399" y="1104899"/>
          <a:ext cx="10391775" cy="5305421"/>
        </p:xfrm>
        <a:graphic>
          <a:graphicData uri="http://schemas.openxmlformats.org/drawingml/2006/table">
            <a:tbl>
              <a:tblPr/>
              <a:tblGrid>
                <a:gridCol w="3463925">
                  <a:extLst>
                    <a:ext uri="{9D8B030D-6E8A-4147-A177-3AD203B41FA5}">
                      <a16:colId xmlns:a16="http://schemas.microsoft.com/office/drawing/2014/main" val="1726832387"/>
                    </a:ext>
                  </a:extLst>
                </a:gridCol>
                <a:gridCol w="3463925">
                  <a:extLst>
                    <a:ext uri="{9D8B030D-6E8A-4147-A177-3AD203B41FA5}">
                      <a16:colId xmlns:a16="http://schemas.microsoft.com/office/drawing/2014/main" val="1616092937"/>
                    </a:ext>
                  </a:extLst>
                </a:gridCol>
                <a:gridCol w="3463925">
                  <a:extLst>
                    <a:ext uri="{9D8B030D-6E8A-4147-A177-3AD203B41FA5}">
                      <a16:colId xmlns:a16="http://schemas.microsoft.com/office/drawing/2014/main" val="1120721447"/>
                    </a:ext>
                  </a:extLst>
                </a:gridCol>
              </a:tblGrid>
              <a:tr h="372310">
                <a:tc>
                  <a:txBody>
                    <a:bodyPr/>
                    <a:lstStyle/>
                    <a:p>
                      <a:r>
                        <a:rPr lang="ru-RU" sz="1800" b="1" dirty="0"/>
                        <a:t>Обязанность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/>
                        <a:t>Что делает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Зачем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486936"/>
                  </a:ext>
                </a:extLst>
              </a:tr>
              <a:tr h="651543">
                <a:tc>
                  <a:txBody>
                    <a:bodyPr/>
                    <a:lstStyle/>
                    <a:p>
                      <a:r>
                        <a:rPr lang="ru-RU" sz="1800"/>
                        <a:t>Устанавливает </a:t>
                      </a:r>
                      <a:r>
                        <a:rPr lang="en" sz="1800"/>
                        <a:t>TCP-</a:t>
                      </a:r>
                      <a:r>
                        <a:rPr lang="ru-RU" sz="1800"/>
                        <a:t>соединение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 dirty="0"/>
                        <a:t>new Socket(HOST, PORT)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Начинает сессию общения с сервером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2705964"/>
                  </a:ext>
                </a:extLst>
              </a:tr>
              <a:tr h="651543">
                <a:tc>
                  <a:txBody>
                    <a:bodyPr/>
                    <a:lstStyle/>
                    <a:p>
                      <a:r>
                        <a:rPr lang="ru-RU" sz="1800"/>
                        <a:t>Получает приветствие сервера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читает первую строку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аналог </a:t>
                      </a:r>
                      <a:r>
                        <a:rPr lang="en" sz="1800"/>
                        <a:t>startup-</a:t>
                      </a:r>
                      <a:r>
                        <a:rPr lang="ru-RU" sz="1800"/>
                        <a:t>информации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272832"/>
                  </a:ext>
                </a:extLst>
              </a:tr>
              <a:tr h="651543">
                <a:tc>
                  <a:txBody>
                    <a:bodyPr/>
                    <a:lstStyle/>
                    <a:p>
                      <a:r>
                        <a:rPr lang="ru-RU" sz="1800"/>
                        <a:t>Показывает приглашение пользователю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client-sql&gt;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визуальная точка ввода команд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579794"/>
                  </a:ext>
                </a:extLst>
              </a:tr>
              <a:tr h="651543">
                <a:tc>
                  <a:txBody>
                    <a:bodyPr/>
                    <a:lstStyle/>
                    <a:p>
                      <a:r>
                        <a:rPr lang="ru-RU" sz="1800"/>
                        <a:t>Считывает команду пользователя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 dirty="0" err="1"/>
                        <a:t>Scanner.nextLine</a:t>
                      </a:r>
                      <a:r>
                        <a:rPr lang="en" sz="1800" dirty="0"/>
                        <a:t>()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принимает </a:t>
                      </a:r>
                      <a:r>
                        <a:rPr lang="en" sz="1800"/>
                        <a:t>SQL </a:t>
                      </a:r>
                      <a:r>
                        <a:rPr lang="ru-RU" sz="1800"/>
                        <a:t>или служебные команды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626359"/>
                  </a:ext>
                </a:extLst>
              </a:tr>
              <a:tr h="651543">
                <a:tc>
                  <a:txBody>
                    <a:bodyPr/>
                    <a:lstStyle/>
                    <a:p>
                      <a:r>
                        <a:rPr lang="ru-RU" sz="1800"/>
                        <a:t>Отправляет запрос серверу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пишет строку в сокет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передаёт управление </a:t>
                      </a:r>
                      <a:r>
                        <a:rPr lang="en" sz="1800"/>
                        <a:t>BackendWorker'</a:t>
                      </a:r>
                      <a:r>
                        <a:rPr lang="ru-RU" sz="1800"/>
                        <a:t>у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228031"/>
                  </a:ext>
                </a:extLst>
              </a:tr>
              <a:tr h="651543">
                <a:tc>
                  <a:txBody>
                    <a:bodyPr/>
                    <a:lstStyle/>
                    <a:p>
                      <a:r>
                        <a:rPr lang="ru-RU" sz="1800"/>
                        <a:t>Читает ответ сервера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получает строки до __</a:t>
                      </a:r>
                      <a:r>
                        <a:rPr lang="en" sz="1800"/>
                        <a:t>END__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сервер сообщает, когда ответ закончился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5945214"/>
                  </a:ext>
                </a:extLst>
              </a:tr>
              <a:tr h="651543">
                <a:tc>
                  <a:txBody>
                    <a:bodyPr/>
                    <a:lstStyle/>
                    <a:p>
                      <a:r>
                        <a:rPr lang="ru-RU" sz="1800"/>
                        <a:t>Завершает соединение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отправляет </a:t>
                      </a:r>
                      <a:r>
                        <a:rPr lang="en" sz="1800"/>
                        <a:t>exit / quit, </a:t>
                      </a:r>
                      <a:r>
                        <a:rPr lang="ru-RU" sz="1800"/>
                        <a:t>закрывает сокет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корректное окончание сессии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417110"/>
                  </a:ext>
                </a:extLst>
              </a:tr>
              <a:tr h="372310">
                <a:tc>
                  <a:txBody>
                    <a:bodyPr/>
                    <a:lstStyle/>
                    <a:p>
                      <a:r>
                        <a:rPr lang="ru-RU" sz="1800"/>
                        <a:t>Обрабатывает ошибки связи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выводит сообщения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стабильная работа клиента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20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13394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142875"/>
            <a:ext cx="10020300" cy="1076325"/>
          </a:xfrm>
        </p:spPr>
        <p:txBody>
          <a:bodyPr>
            <a:normAutofit/>
          </a:bodyPr>
          <a:lstStyle/>
          <a:p>
            <a:r>
              <a:rPr lang="en" sz="2600" b="1" dirty="0">
                <a:solidFill>
                  <a:schemeClr val="tx1"/>
                </a:solidFill>
              </a:rPr>
              <a:t>postmaster</a:t>
            </a:r>
            <a:endParaRPr lang="en-US" sz="2600" b="1" dirty="0">
              <a:solidFill>
                <a:schemeClr val="tx1"/>
              </a:solidFill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8E0527C6-A6B5-B972-6EA8-C5C91737E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525823"/>
              </p:ext>
            </p:extLst>
          </p:nvPr>
        </p:nvGraphicFramePr>
        <p:xfrm>
          <a:off x="1647824" y="1133475"/>
          <a:ext cx="9877425" cy="5333381"/>
        </p:xfrm>
        <a:graphic>
          <a:graphicData uri="http://schemas.openxmlformats.org/drawingml/2006/table">
            <a:tbl>
              <a:tblPr/>
              <a:tblGrid>
                <a:gridCol w="3292475">
                  <a:extLst>
                    <a:ext uri="{9D8B030D-6E8A-4147-A177-3AD203B41FA5}">
                      <a16:colId xmlns:a16="http://schemas.microsoft.com/office/drawing/2014/main" val="3175715302"/>
                    </a:ext>
                  </a:extLst>
                </a:gridCol>
                <a:gridCol w="3292475">
                  <a:extLst>
                    <a:ext uri="{9D8B030D-6E8A-4147-A177-3AD203B41FA5}">
                      <a16:colId xmlns:a16="http://schemas.microsoft.com/office/drawing/2014/main" val="1739698024"/>
                    </a:ext>
                  </a:extLst>
                </a:gridCol>
                <a:gridCol w="3292475">
                  <a:extLst>
                    <a:ext uri="{9D8B030D-6E8A-4147-A177-3AD203B41FA5}">
                      <a16:colId xmlns:a16="http://schemas.microsoft.com/office/drawing/2014/main" val="919082407"/>
                    </a:ext>
                  </a:extLst>
                </a:gridCol>
              </a:tblGrid>
              <a:tr h="325693">
                <a:tc>
                  <a:txBody>
                    <a:bodyPr/>
                    <a:lstStyle/>
                    <a:p>
                      <a:r>
                        <a:rPr lang="ru-RU" sz="1800" b="1" dirty="0"/>
                        <a:t>Действие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Что делает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Зачем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3248659"/>
                  </a:ext>
                </a:extLst>
              </a:tr>
              <a:tr h="569964">
                <a:tc>
                  <a:txBody>
                    <a:bodyPr/>
                    <a:lstStyle/>
                    <a:p>
                      <a:r>
                        <a:rPr lang="ru-RU" sz="1800"/>
                        <a:t>Создаёт </a:t>
                      </a:r>
                      <a:r>
                        <a:rPr lang="en" sz="1800"/>
                        <a:t>ServerSocket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new ServerSocket(PORT)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Открывает точку входа в систему, слушает порт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767701"/>
                  </a:ext>
                </a:extLst>
              </a:tr>
              <a:tr h="569964">
                <a:tc>
                  <a:txBody>
                    <a:bodyPr/>
                    <a:lstStyle/>
                    <a:p>
                      <a:r>
                        <a:rPr lang="ru-RU" sz="1800"/>
                        <a:t>Ждёт подключения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serverSocket.accept() (</a:t>
                      </a:r>
                      <a:r>
                        <a:rPr lang="ru-RU" sz="1800"/>
                        <a:t>блокирующий вызов)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Ожидает того, кто хочет подключиться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492721"/>
                  </a:ext>
                </a:extLst>
              </a:tr>
              <a:tr h="569964">
                <a:tc>
                  <a:txBody>
                    <a:bodyPr/>
                    <a:lstStyle/>
                    <a:p>
                      <a:r>
                        <a:rPr lang="ru-RU" sz="1800"/>
                        <a:t>Выделяет сокет клиенту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принимает новый </a:t>
                      </a:r>
                      <a:r>
                        <a:rPr lang="en" sz="1800"/>
                        <a:t>Socket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Создаёт </a:t>
                      </a:r>
                      <a:r>
                        <a:rPr lang="ru-RU" sz="1800" b="1"/>
                        <a:t>частный канал связи</a:t>
                      </a:r>
                      <a:r>
                        <a:rPr lang="ru-RU" sz="1800"/>
                        <a:t> с клиентом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374482"/>
                  </a:ext>
                </a:extLst>
              </a:tr>
              <a:tr h="814233">
                <a:tc>
                  <a:txBody>
                    <a:bodyPr/>
                    <a:lstStyle/>
                    <a:p>
                      <a:r>
                        <a:rPr lang="ru-RU" sz="1800"/>
                        <a:t>Создаёт </a:t>
                      </a:r>
                      <a:r>
                        <a:rPr lang="en" sz="1800"/>
                        <a:t>Engine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Engine engine = new EngineImpl()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Формирует контекст для выполнения запросов этого клиента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4579154"/>
                  </a:ext>
                </a:extLst>
              </a:tr>
              <a:tr h="814233">
                <a:tc>
                  <a:txBody>
                    <a:bodyPr/>
                    <a:lstStyle/>
                    <a:p>
                      <a:r>
                        <a:rPr lang="ru-RU" sz="1800"/>
                        <a:t>Создаёт </a:t>
                      </a:r>
                      <a:r>
                        <a:rPr lang="en" sz="1800"/>
                        <a:t>backend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 dirty="0"/>
                        <a:t>new Thread(new </a:t>
                      </a:r>
                      <a:r>
                        <a:rPr lang="en" sz="1800" dirty="0" err="1"/>
                        <a:t>BackendWorkerImpl</a:t>
                      </a:r>
                      <a:r>
                        <a:rPr lang="en" sz="1800" dirty="0"/>
                        <a:t>(socket, engine))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Назначает обслуживающий поток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3759658"/>
                  </a:ext>
                </a:extLst>
              </a:tr>
              <a:tr h="814233">
                <a:tc>
                  <a:txBody>
                    <a:bodyPr/>
                    <a:lstStyle/>
                    <a:p>
                      <a:r>
                        <a:rPr lang="ru-RU" sz="1800"/>
                        <a:t>Запускает </a:t>
                      </a:r>
                      <a:r>
                        <a:rPr lang="en" sz="1800"/>
                        <a:t>backend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backend.start()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Передаёт управление — теперь </a:t>
                      </a:r>
                      <a:r>
                        <a:rPr lang="en" sz="1800"/>
                        <a:t>backend </a:t>
                      </a:r>
                      <a:r>
                        <a:rPr lang="ru-RU" sz="1800"/>
                        <a:t>отвечает за клиента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694458"/>
                  </a:ext>
                </a:extLst>
              </a:tr>
              <a:tr h="569964">
                <a:tc>
                  <a:txBody>
                    <a:bodyPr/>
                    <a:lstStyle/>
                    <a:p>
                      <a:r>
                        <a:rPr lang="ru-RU" sz="1800"/>
                        <a:t>Никогда не обрабатывает запросы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❌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Это не его задача</a:t>
                      </a:r>
                    </a:p>
                  </a:txBody>
                  <a:tcPr marL="57765" marR="57765" marT="28882" marB="288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9542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52141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142875"/>
            <a:ext cx="10020300" cy="1076325"/>
          </a:xfrm>
        </p:spPr>
        <p:txBody>
          <a:bodyPr>
            <a:normAutofit/>
          </a:bodyPr>
          <a:lstStyle/>
          <a:p>
            <a:r>
              <a:rPr lang="en" sz="2600" b="1" dirty="0" err="1">
                <a:solidFill>
                  <a:schemeClr val="tx1"/>
                </a:solidFill>
              </a:rPr>
              <a:t>backendWorker</a:t>
            </a:r>
            <a:endParaRPr lang="en-US" sz="2600" b="1" dirty="0">
              <a:solidFill>
                <a:schemeClr val="tx1"/>
              </a:solidFill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BCFE1416-7C45-A67B-FBD3-7BF54341D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80750"/>
              </p:ext>
            </p:extLst>
          </p:nvPr>
        </p:nvGraphicFramePr>
        <p:xfrm>
          <a:off x="1562100" y="1219199"/>
          <a:ext cx="9906000" cy="5019678"/>
        </p:xfrm>
        <a:graphic>
          <a:graphicData uri="http://schemas.openxmlformats.org/drawingml/2006/table">
            <a:tbl>
              <a:tblPr/>
              <a:tblGrid>
                <a:gridCol w="3302000">
                  <a:extLst>
                    <a:ext uri="{9D8B030D-6E8A-4147-A177-3AD203B41FA5}">
                      <a16:colId xmlns:a16="http://schemas.microsoft.com/office/drawing/2014/main" val="196155936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4192285715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947644094"/>
                    </a:ext>
                  </a:extLst>
                </a:gridCol>
              </a:tblGrid>
              <a:tr h="352257">
                <a:tc>
                  <a:txBody>
                    <a:bodyPr/>
                    <a:lstStyle/>
                    <a:p>
                      <a:r>
                        <a:rPr lang="ru-RU" sz="1800" b="1" dirty="0"/>
                        <a:t>Обязанность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Что делает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Почему важно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9600640"/>
                  </a:ext>
                </a:extLst>
              </a:tr>
              <a:tr h="616452">
                <a:tc>
                  <a:txBody>
                    <a:bodyPr/>
                    <a:lstStyle/>
                    <a:p>
                      <a:r>
                        <a:rPr lang="ru-RU" sz="1800"/>
                        <a:t>Получить сокет клиента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хранит </a:t>
                      </a:r>
                      <a:r>
                        <a:rPr lang="en" sz="1800"/>
                        <a:t>Socket </a:t>
                      </a:r>
                      <a:r>
                        <a:rPr lang="ru-RU" sz="1800"/>
                        <a:t>и открывает </a:t>
                      </a:r>
                      <a:r>
                        <a:rPr lang="en" sz="1800"/>
                        <a:t>InputStream / OutputStream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создаёт канал общения клиент ↔ сервер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755537"/>
                  </a:ext>
                </a:extLst>
              </a:tr>
              <a:tr h="616452">
                <a:tc>
                  <a:txBody>
                    <a:bodyPr/>
                    <a:lstStyle/>
                    <a:p>
                      <a:r>
                        <a:rPr lang="ru-RU" sz="1800"/>
                        <a:t>Приветствует клиента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отправляет </a:t>
                      </a:r>
                      <a:r>
                        <a:rPr lang="en" sz="1800"/>
                        <a:t>welcome-</a:t>
                      </a:r>
                      <a:r>
                        <a:rPr lang="ru-RU" sz="1800"/>
                        <a:t>сообщение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аналог </a:t>
                      </a:r>
                      <a:r>
                        <a:rPr lang="en" sz="1800"/>
                        <a:t>startup-</a:t>
                      </a:r>
                      <a:r>
                        <a:rPr lang="ru-RU" sz="1800"/>
                        <a:t>фазы в </a:t>
                      </a:r>
                      <a:r>
                        <a:rPr lang="en" sz="1800"/>
                        <a:t>PostgreSQL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190316"/>
                  </a:ext>
                </a:extLst>
              </a:tr>
              <a:tr h="616452">
                <a:tc>
                  <a:txBody>
                    <a:bodyPr/>
                    <a:lstStyle/>
                    <a:p>
                      <a:r>
                        <a:rPr lang="ru-RU" sz="1800"/>
                        <a:t>Читает команды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reader.readLine()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ждёт </a:t>
                      </a:r>
                      <a:r>
                        <a:rPr lang="en" sz="1800"/>
                        <a:t>SQL </a:t>
                      </a:r>
                      <a:r>
                        <a:rPr lang="ru-RU" sz="1800"/>
                        <a:t>или служебную команду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726644"/>
                  </a:ext>
                </a:extLst>
              </a:tr>
              <a:tr h="616452">
                <a:tc>
                  <a:txBody>
                    <a:bodyPr/>
                    <a:lstStyle/>
                    <a:p>
                      <a:r>
                        <a:rPr lang="ru-RU" sz="1800"/>
                        <a:t>Обрабатывает </a:t>
                      </a:r>
                      <a:r>
                        <a:rPr lang="en" sz="1800"/>
                        <a:t>exit / quit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завершает цикл, закрывает соединение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корректное завершение сессии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1591167"/>
                  </a:ext>
                </a:extLst>
              </a:tr>
              <a:tr h="616452">
                <a:tc>
                  <a:txBody>
                    <a:bodyPr/>
                    <a:lstStyle/>
                    <a:p>
                      <a:r>
                        <a:rPr lang="ru-RU" sz="1800"/>
                        <a:t>Передаёт </a:t>
                      </a:r>
                      <a:r>
                        <a:rPr lang="en" sz="1800"/>
                        <a:t>SQL </a:t>
                      </a:r>
                      <a:r>
                        <a:rPr lang="ru-RU" sz="1800"/>
                        <a:t>в </a:t>
                      </a:r>
                      <a:r>
                        <a:rPr lang="en" sz="1800"/>
                        <a:t>Engine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 dirty="0" err="1"/>
                        <a:t>engine.executeSql</a:t>
                      </a:r>
                      <a:r>
                        <a:rPr lang="en" sz="1800" dirty="0"/>
                        <a:t>(line)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разделение обязанностей (как </a:t>
                      </a:r>
                      <a:r>
                        <a:rPr lang="en" sz="1800"/>
                        <a:t>executor </a:t>
                      </a:r>
                      <a:r>
                        <a:rPr lang="ru-RU" sz="1800"/>
                        <a:t>в </a:t>
                      </a:r>
                      <a:r>
                        <a:rPr lang="en" sz="1800"/>
                        <a:t>PostgreSQL)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27790"/>
                  </a:ext>
                </a:extLst>
              </a:tr>
              <a:tr h="616452">
                <a:tc>
                  <a:txBody>
                    <a:bodyPr/>
                    <a:lstStyle/>
                    <a:p>
                      <a:r>
                        <a:rPr lang="ru-RU" sz="1800"/>
                        <a:t>Возвращает результат клиенту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пишет строки ответа + __</a:t>
                      </a:r>
                      <a:r>
                        <a:rPr lang="en" sz="1800"/>
                        <a:t>END__ </a:t>
                      </a:r>
                      <a:r>
                        <a:rPr lang="ru-RU" sz="1800"/>
                        <a:t>маркер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клиент понимает, где конец результата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7466882"/>
                  </a:ext>
                </a:extLst>
              </a:tr>
              <a:tr h="616452">
                <a:tc>
                  <a:txBody>
                    <a:bodyPr/>
                    <a:lstStyle/>
                    <a:p>
                      <a:r>
                        <a:rPr lang="ru-RU" sz="1800"/>
                        <a:t>Работает в цикле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обслуживает много запросов в одной сессии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поддержка долгоживущих соединений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838605"/>
                  </a:ext>
                </a:extLst>
              </a:tr>
              <a:tr h="352257">
                <a:tc>
                  <a:txBody>
                    <a:bodyPr/>
                    <a:lstStyle/>
                    <a:p>
                      <a:r>
                        <a:rPr lang="ru-RU" sz="1800"/>
                        <a:t>Сам закрывает ресурсы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закрывает сокет и </a:t>
                      </a:r>
                      <a:r>
                        <a:rPr lang="en" sz="1800"/>
                        <a:t>IO-</a:t>
                      </a:r>
                      <a:r>
                        <a:rPr lang="ru-RU" sz="1800"/>
                        <a:t>потоки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предотвращает утечки</a:t>
                      </a:r>
                    </a:p>
                  </a:txBody>
                  <a:tcPr marL="62832" marR="62832" marT="31416" marB="31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4821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0436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28625"/>
            <a:ext cx="10020300" cy="1076325"/>
          </a:xfrm>
        </p:spPr>
        <p:txBody>
          <a:bodyPr>
            <a:normAutofit/>
          </a:bodyPr>
          <a:lstStyle/>
          <a:p>
            <a:r>
              <a:rPr lang="en" sz="3200" b="1" dirty="0">
                <a:solidFill>
                  <a:schemeClr val="tx1"/>
                </a:solidFill>
              </a:rPr>
              <a:t>engine</a:t>
            </a: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99F7911-181E-4A81-A1C6-F77191FB9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650" y="0"/>
            <a:ext cx="7524751" cy="687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96295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14791</TotalTime>
  <Words>3235</Words>
  <Application>Microsoft Macintosh PowerPoint</Application>
  <PresentationFormat>Широкоэкранный</PresentationFormat>
  <Paragraphs>559</Paragraphs>
  <Slides>68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68</vt:i4>
      </vt:variant>
    </vt:vector>
  </HeadingPairs>
  <TitlesOfParts>
    <vt:vector size="72" baseType="lpstr">
      <vt:lpstr>-apple-system</vt:lpstr>
      <vt:lpstr>Arial</vt:lpstr>
      <vt:lpstr>Franklin Gothic Book</vt:lpstr>
      <vt:lpstr>Crop</vt:lpstr>
      <vt:lpstr>Клиент–сервер. Сокеты.  Wire-протокол. </vt:lpstr>
      <vt:lpstr>Цель занятия</vt:lpstr>
      <vt:lpstr>План занятия</vt:lpstr>
      <vt:lpstr>Презентация PowerPoint</vt:lpstr>
      <vt:lpstr>Презентация PowerPoint</vt:lpstr>
      <vt:lpstr>Базовое понятие Сокетов</vt:lpstr>
      <vt:lpstr>Что такое сокет</vt:lpstr>
      <vt:lpstr>Презентация PowerPoint</vt:lpstr>
      <vt:lpstr>Основные типы сокетов</vt:lpstr>
      <vt:lpstr>Процессная модель PostgreSQL</vt:lpstr>
      <vt:lpstr>Главный процесс (postmaster)</vt:lpstr>
      <vt:lpstr>Фоновые процессы</vt:lpstr>
      <vt:lpstr>Фоновые процессы</vt:lpstr>
      <vt:lpstr>Backend-процессы (клиентские сессии)</vt:lpstr>
      <vt:lpstr>Как это выглядит в ps</vt:lpstr>
      <vt:lpstr>Жизненный цикл соединения</vt:lpstr>
      <vt:lpstr>Подключение клиента</vt:lpstr>
      <vt:lpstr>Роль postmaster на этапе подключения</vt:lpstr>
      <vt:lpstr>Презентация PowerPoint</vt:lpstr>
      <vt:lpstr>Startup-фаза: backend и wire-протокол</vt:lpstr>
      <vt:lpstr>Основной цикл работы соединения</vt:lpstr>
      <vt:lpstr>Завершение соединения</vt:lpstr>
      <vt:lpstr>Жизненный цикл соединения</vt:lpstr>
      <vt:lpstr>Сессия и транзакция</vt:lpstr>
      <vt:lpstr>Сессия</vt:lpstr>
      <vt:lpstr>Транзакция</vt:lpstr>
      <vt:lpstr>Autocommit</vt:lpstr>
      <vt:lpstr>Ручное управление транзакцией</vt:lpstr>
      <vt:lpstr>Почему idle in transaction — опасно</vt:lpstr>
      <vt:lpstr>Почему idle in transaction — опасно</vt:lpstr>
      <vt:lpstr>Правило эксплуатации</vt:lpstr>
      <vt:lpstr>Важные выводы для разработчика</vt:lpstr>
      <vt:lpstr>max_connections и количество backend-процессов</vt:lpstr>
      <vt:lpstr>Чем опасны сотни/тысячи коннектов</vt:lpstr>
      <vt:lpstr>Презентация PowerPoint</vt:lpstr>
      <vt:lpstr>Backend как ресурс</vt:lpstr>
      <vt:lpstr>Презентация PowerPoint</vt:lpstr>
      <vt:lpstr>Почему «тысячи коннектов» — почти всегда плохо</vt:lpstr>
      <vt:lpstr>Почему «тысячи коннектов» — почти всегда плохо</vt:lpstr>
      <vt:lpstr>Почему «тысячи коннектов» — почти всегда плохо</vt:lpstr>
      <vt:lpstr>Основы wire-протокола PostgreSQL</vt:lpstr>
      <vt:lpstr>Основы wire-протокола PostgreSQL</vt:lpstr>
      <vt:lpstr>Последовательность диалога</vt:lpstr>
      <vt:lpstr>Основы wire-протокола PostgreSQL</vt:lpstr>
      <vt:lpstr>Connection string и начало диалога</vt:lpstr>
      <vt:lpstr>Презентация PowerPoint</vt:lpstr>
      <vt:lpstr>Первое, что происходит после TCP-handshake</vt:lpstr>
      <vt:lpstr>Simple Query protocol</vt:lpstr>
      <vt:lpstr>Презентация PowerPoint</vt:lpstr>
      <vt:lpstr>Когда сервер получает сообщение Query, он:</vt:lpstr>
      <vt:lpstr>RowDescription</vt:lpstr>
      <vt:lpstr>DataRow</vt:lpstr>
      <vt:lpstr>CommandComplete</vt:lpstr>
      <vt:lpstr>ReadyForQuery</vt:lpstr>
      <vt:lpstr>Итого, для простого примера</vt:lpstr>
      <vt:lpstr>Ответ на команды без результата</vt:lpstr>
      <vt:lpstr>psql и драйверы: роль libpq</vt:lpstr>
      <vt:lpstr>libpq</vt:lpstr>
      <vt:lpstr>Не путаем</vt:lpstr>
      <vt:lpstr>Драйверы на других языках</vt:lpstr>
      <vt:lpstr>Независимо от реализации задачи у драйвера всегда одни и те же</vt:lpstr>
      <vt:lpstr>ИТОГО</vt:lpstr>
      <vt:lpstr>Поэтому скажите им спасибо)</vt:lpstr>
      <vt:lpstr>Практика</vt:lpstr>
      <vt:lpstr>client </vt:lpstr>
      <vt:lpstr>postmaster</vt:lpstr>
      <vt:lpstr>backendWorker</vt:lpstr>
      <vt:lpstr>engine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Буфферный менеджер в СУБД</dc:title>
  <dc:creator>e gulyakin</dc:creator>
  <cp:lastModifiedBy>Danila Sharudin</cp:lastModifiedBy>
  <cp:revision>197</cp:revision>
  <dcterms:created xsi:type="dcterms:W3CDTF">2025-09-15T11:53:13Z</dcterms:created>
  <dcterms:modified xsi:type="dcterms:W3CDTF">2025-12-09T11:19:21Z</dcterms:modified>
</cp:coreProperties>
</file>