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75" r:id="rId12"/>
    <p:sldId id="268" r:id="rId13"/>
    <p:sldId id="269" r:id="rId14"/>
    <p:sldId id="270" r:id="rId15"/>
    <p:sldId id="289" r:id="rId16"/>
    <p:sldId id="271" r:id="rId17"/>
    <p:sldId id="272" r:id="rId18"/>
    <p:sldId id="273" r:id="rId19"/>
    <p:sldId id="294" r:id="rId20"/>
    <p:sldId id="290" r:id="rId21"/>
    <p:sldId id="291" r:id="rId22"/>
    <p:sldId id="274" r:id="rId23"/>
    <p:sldId id="276" r:id="rId24"/>
    <p:sldId id="277" r:id="rId25"/>
    <p:sldId id="278" r:id="rId26"/>
    <p:sldId id="279" r:id="rId27"/>
    <p:sldId id="283" r:id="rId28"/>
    <p:sldId id="286" r:id="rId29"/>
    <p:sldId id="284" r:id="rId30"/>
    <p:sldId id="285" r:id="rId31"/>
    <p:sldId id="288" r:id="rId32"/>
    <p:sldId id="295" r:id="rId33"/>
    <p:sldId id="296" r:id="rId34"/>
    <p:sldId id="297" r:id="rId35"/>
    <p:sldId id="298" r:id="rId36"/>
    <p:sldId id="292" r:id="rId37"/>
    <p:sldId id="293" r:id="rId38"/>
    <p:sldId id="280" r:id="rId39"/>
    <p:sldId id="282" r:id="rId40"/>
    <p:sldId id="299" r:id="rId41"/>
    <p:sldId id="300" r:id="rId42"/>
    <p:sldId id="301" r:id="rId43"/>
    <p:sldId id="342" r:id="rId44"/>
    <p:sldId id="343" r:id="rId45"/>
    <p:sldId id="344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45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6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1"/>
    <p:restoredTop sz="96405"/>
  </p:normalViewPr>
  <p:slideViewPr>
    <p:cSldViewPr snapToGrid="0" showGuides="1">
      <p:cViewPr>
        <p:scale>
          <a:sx n="123" d="100"/>
          <a:sy n="123" d="100"/>
        </p:scale>
        <p:origin x="14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Буфферный</a:t>
            </a:r>
            <a:r>
              <a:rPr lang="ru-RU" dirty="0"/>
              <a:t> менеджер в СУБД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US" dirty="0" err="1"/>
              <a:t>entral</a:t>
            </a:r>
            <a:r>
              <a:rPr lang="en-US" dirty="0"/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D32E-3D4F-329E-BE9D-45873602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/>
              <a:t>Цель занятия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7F92-01B7-041D-E195-EAE0DCC7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Вспомнить о чем говорили на прошлом занятии</a:t>
            </a:r>
          </a:p>
          <a:p>
            <a:r>
              <a:rPr lang="ru-RU" dirty="0"/>
              <a:t>Узнать о том,</a:t>
            </a:r>
            <a:r>
              <a:rPr lang="en-US" dirty="0"/>
              <a:t> </a:t>
            </a:r>
            <a:r>
              <a:rPr lang="en-US" dirty="0" err="1"/>
              <a:t>ч</a:t>
            </a:r>
            <a:r>
              <a:rPr lang="ru-RU" dirty="0"/>
              <a:t>то такое </a:t>
            </a:r>
            <a:r>
              <a:rPr lang="ru-RU" dirty="0" err="1"/>
              <a:t>буфферный</a:t>
            </a:r>
            <a:r>
              <a:rPr lang="ru-RU" dirty="0"/>
              <a:t> менеджер</a:t>
            </a:r>
          </a:p>
          <a:p>
            <a:r>
              <a:rPr lang="ru-RU" dirty="0"/>
              <a:t>Реализовать его простейшую имплементацию</a:t>
            </a:r>
          </a:p>
          <a:p>
            <a:r>
              <a:rPr lang="ru-RU" dirty="0"/>
              <a:t>Узнать алгоритмы вытеснения страниц</a:t>
            </a:r>
            <a:r>
              <a:rPr lang="en-US" dirty="0"/>
              <a:t>: FIFO, Clock, LRU</a:t>
            </a:r>
            <a:endParaRPr lang="ru-RU" dirty="0"/>
          </a:p>
          <a:p>
            <a:r>
              <a:rPr lang="ru-RU" dirty="0"/>
              <a:t>Узнать о грязных, </a:t>
            </a:r>
            <a:r>
              <a:rPr lang="en-US" dirty="0" err="1"/>
              <a:t>з</a:t>
            </a:r>
            <a:r>
              <a:rPr lang="ru-RU" dirty="0" err="1"/>
              <a:t>афиксированных</a:t>
            </a:r>
            <a:r>
              <a:rPr lang="ru-RU" dirty="0"/>
              <a:t> страницах</a:t>
            </a:r>
            <a:endParaRPr lang="en-US" dirty="0"/>
          </a:p>
          <a:p>
            <a:r>
              <a:rPr lang="en-US" dirty="0" err="1"/>
              <a:t>П</a:t>
            </a:r>
            <a:r>
              <a:rPr lang="ru-RU" dirty="0" err="1"/>
              <a:t>онять</a:t>
            </a:r>
            <a:r>
              <a:rPr lang="ru-RU" dirty="0"/>
              <a:t> идею </a:t>
            </a:r>
            <a:r>
              <a:rPr lang="ru-RU" dirty="0" err="1"/>
              <a:t>c</a:t>
            </a:r>
            <a:r>
              <a:rPr lang="en-US" dirty="0" err="1"/>
              <a:t>heckpointer</a:t>
            </a:r>
            <a:r>
              <a:rPr lang="en-US" dirty="0"/>
              <a:t>, flush </a:t>
            </a:r>
            <a:r>
              <a:rPr lang="en-US" dirty="0" err="1"/>
              <a:t>п</a:t>
            </a:r>
            <a:r>
              <a:rPr lang="ru-RU" dirty="0" err="1"/>
              <a:t>отока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13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stCxn id="6" idx="3"/>
          </p:cNvCxnSpPr>
          <p:nvPr/>
        </p:nvCxnSpPr>
        <p:spPr>
          <a:xfrm>
            <a:off x="4708259" y="3543300"/>
            <a:ext cx="2606941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838A3AC-1FE8-440F-7871-2B4BFA14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2" y="2286000"/>
            <a:ext cx="3178621" cy="27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3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708259" y="3543300"/>
            <a:ext cx="2095312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065" y="1771650"/>
            <a:ext cx="28702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708259" y="3543300"/>
            <a:ext cx="2095312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065" y="1771650"/>
            <a:ext cx="2870200" cy="331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843A1A-4201-BFAC-95F2-63D25CAB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953770"/>
            <a:ext cx="1321731" cy="1217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1397F-6BDF-2290-7B31-DFD558CE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759" y="4477385"/>
            <a:ext cx="1321731" cy="12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4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708259" y="3543300"/>
            <a:ext cx="2095312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065" y="1771650"/>
            <a:ext cx="2870200" cy="331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843A1A-4201-BFAC-95F2-63D25CAB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953770"/>
            <a:ext cx="1321731" cy="1217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1397F-6BDF-2290-7B31-DFD558CE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2439670"/>
            <a:ext cx="1321731" cy="1217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52FD6-3789-7D6C-4943-FCCD97298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3791585"/>
            <a:ext cx="1321731" cy="1217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E4F60-447C-9D37-CC8C-6085E4651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5143500"/>
            <a:ext cx="1321731" cy="12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20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708259" y="3543300"/>
            <a:ext cx="2095312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065" y="1771650"/>
            <a:ext cx="2870200" cy="331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843A1A-4201-BFAC-95F2-63D25CAB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398" y="593077"/>
            <a:ext cx="1321731" cy="1217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1397F-6BDF-2290-7B31-DFD558CE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613" y="2309736"/>
            <a:ext cx="1321731" cy="1217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52FD6-3789-7D6C-4943-FCCD97298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99" y="3986077"/>
            <a:ext cx="1321731" cy="1217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E4F60-447C-9D37-CC8C-6085E4651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087" y="4999357"/>
            <a:ext cx="1321731" cy="1217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9A7E88-7ADA-676A-BAFA-B0EA28F30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473" y="4686300"/>
            <a:ext cx="1321731" cy="1217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63BCC4-E721-457C-3C3C-79962AB0E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727" y="3973559"/>
            <a:ext cx="1321731" cy="12179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B86D74-9086-CE13-E4CB-99A4C9DE6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247" y="1425747"/>
            <a:ext cx="1321731" cy="12179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A597D7-151C-67D7-92AD-7F65B3861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000" y="1694680"/>
            <a:ext cx="1321731" cy="12179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BB7BEF-57BA-6856-FEF0-882EEC19D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940" y="2768147"/>
            <a:ext cx="1321731" cy="1217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3B37C6-06ED-6B1F-7BA2-85D42100E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172" y="2904172"/>
            <a:ext cx="1321731" cy="12179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001B1C-B38E-BD55-F0A5-C406906D7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726" y="445330"/>
            <a:ext cx="1321731" cy="1217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0F4C19-93F1-51AF-DAD0-730D01BB1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71" y="5448052"/>
            <a:ext cx="1321731" cy="12179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A4B25A-5700-CE8D-4921-F54907D43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233" y="4614740"/>
            <a:ext cx="1321731" cy="12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6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F4258-74EF-54C2-801E-E8537CC9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94" y="2286000"/>
            <a:ext cx="2612065" cy="2514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D6D88-B643-8907-BEDB-334EFC43D75A}"/>
              </a:ext>
            </a:extLst>
          </p:cNvPr>
          <p:cNvCxnSpPr>
            <a:cxnSpLocks/>
          </p:cNvCxnSpPr>
          <p:nvPr/>
        </p:nvCxnSpPr>
        <p:spPr>
          <a:xfrm>
            <a:off x="4828002" y="3527666"/>
            <a:ext cx="2095312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065" y="1771650"/>
            <a:ext cx="2870200" cy="3314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6396F7-C0EB-218D-E950-080D5E509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787" y="894445"/>
            <a:ext cx="1575770" cy="15058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63916F-41E7-6C9D-18CE-954A70099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787" y="2608945"/>
            <a:ext cx="1575770" cy="15058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C64206-44D0-00CB-C30F-C7BE2F22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787" y="4323445"/>
            <a:ext cx="1575770" cy="150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7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F480E-4378-423E-4856-31EE9A57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369" y="2608945"/>
            <a:ext cx="1661323" cy="19186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C07847-A502-DF05-97A7-8CB87E11E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30" y="1494216"/>
            <a:ext cx="5555537" cy="516753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89D51D-B0E9-4E17-9D98-B59437F7B51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885692" y="3568249"/>
            <a:ext cx="849594" cy="0"/>
          </a:xfrm>
          <a:prstGeom prst="line">
            <a:avLst/>
          </a:prstGeom>
          <a:ln w="1270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16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F5CC5-E9CC-2E52-A9F2-02503F27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770" y="1402080"/>
            <a:ext cx="5112657" cy="462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5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9D7A8-5604-ED18-DE05-63BF558F6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4" y="1587500"/>
            <a:ext cx="77724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1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8D6C1-0547-CA07-EDBB-6D3D9983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84477"/>
            <a:ext cx="9753667" cy="44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34AE3-4914-889C-1C9E-98699A8C7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0" y="1835393"/>
            <a:ext cx="9617485" cy="383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83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8C444-6EDE-4646-F068-91EEB0AD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3" y="1402080"/>
            <a:ext cx="9176657" cy="453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6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C1A8C-25F4-B5D0-CAD4-056FB0DD8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56" y="2171700"/>
            <a:ext cx="9190927" cy="292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7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B591E-E58F-F015-6B3C-D7E026E08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99681"/>
            <a:ext cx="9411789" cy="46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95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41192-502D-DFAA-E375-505CF8DE8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23319"/>
            <a:ext cx="9974627" cy="47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5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E5A81-E5B3-6B79-8010-CC81515A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23" y="1879814"/>
            <a:ext cx="10974970" cy="412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9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Проблемы. Алгоритм работы с данными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50D3EA-E0A5-45C7-33EE-53B52188AD0A}"/>
              </a:ext>
            </a:extLst>
          </p:cNvPr>
          <p:cNvSpPr txBox="1">
            <a:spLocks/>
          </p:cNvSpPr>
          <p:nvPr/>
        </p:nvSpPr>
        <p:spPr>
          <a:xfrm>
            <a:off x="1371600" y="2365466"/>
            <a:ext cx="9601200" cy="2712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ru-RU" sz="3200" dirty="0"/>
              <a:t>Обработать запрос</a:t>
            </a:r>
          </a:p>
          <a:p>
            <a:pPr marL="514350" indent="-514350">
              <a:buAutoNum type="arabicPeriod"/>
            </a:pPr>
            <a:r>
              <a:rPr lang="ru-RU" sz="3200" dirty="0"/>
              <a:t>Построить дерево запроса</a:t>
            </a:r>
          </a:p>
          <a:p>
            <a:pPr marL="514350" indent="-514350">
              <a:buAutoNum type="arabicPeriod"/>
            </a:pPr>
            <a:r>
              <a:rPr lang="ru-RU" sz="3200" dirty="0"/>
              <a:t>Построить план запроса</a:t>
            </a:r>
          </a:p>
          <a:p>
            <a:pPr marL="514350" indent="-514350">
              <a:buAutoNum type="arabicPeriod"/>
            </a:pPr>
            <a:r>
              <a:rPr lang="ru-RU" sz="3200" dirty="0">
                <a:solidFill>
                  <a:srgbClr val="FFC000"/>
                </a:solidFill>
              </a:rPr>
              <a:t>Обработать план запроса</a:t>
            </a:r>
          </a:p>
          <a:p>
            <a:pPr marL="514350" indent="-514350">
              <a:buAutoNum type="arabicPeriod"/>
            </a:pPr>
            <a:r>
              <a:rPr lang="ru-RU" sz="3200" dirty="0">
                <a:solidFill>
                  <a:srgbClr val="FFC000"/>
                </a:solidFill>
              </a:rPr>
              <a:t>Записать / прочитать данные с диска</a:t>
            </a:r>
          </a:p>
          <a:p>
            <a:pPr marL="514350" indent="-514350">
              <a:buAutoNum type="arabicPeriod"/>
            </a:pPr>
            <a:r>
              <a:rPr lang="ru-RU" sz="3200" dirty="0">
                <a:solidFill>
                  <a:srgbClr val="FFC000"/>
                </a:solidFill>
              </a:rPr>
              <a:t>Вернуть пользователю</a:t>
            </a:r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8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Проблемы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153C4-294D-8B97-8F9B-A921E827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20" y="2400299"/>
            <a:ext cx="10470652" cy="228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39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Почему это проблема?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BD681-5D35-DE21-3532-9DB9A22B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3" y="1642838"/>
            <a:ext cx="7772400" cy="459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60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96C57-7F49-F659-7E92-BFB98F4B3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59" y="1849048"/>
            <a:ext cx="10462670" cy="393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41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33AC9-EDCF-F75E-7525-FCE61726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5" y="1909163"/>
            <a:ext cx="8414657" cy="357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76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EF9AB-263F-837A-0B94-493C4108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24155"/>
            <a:ext cx="9396169" cy="45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07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020B9-B652-35CF-8FB8-40095989D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098" y="1484993"/>
            <a:ext cx="5353957" cy="506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1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B58E7-EE6D-131B-AAF2-959950B2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29" y="1591045"/>
            <a:ext cx="8545285" cy="485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59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/>
              <a:t>Coding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en-US" dirty="0" err="1"/>
              <a:t>п</a:t>
            </a:r>
            <a:r>
              <a:rPr lang="ru-RU" dirty="0" err="1"/>
              <a:t>ростой</a:t>
            </a:r>
            <a:r>
              <a:rPr lang="ru-RU" dirty="0"/>
              <a:t> </a:t>
            </a:r>
            <a:r>
              <a:rPr lang="ru-RU" dirty="0" err="1"/>
              <a:t>буфферный</a:t>
            </a:r>
            <a:r>
              <a:rPr lang="ru-RU" dirty="0"/>
              <a:t> менеджер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90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Репозиторий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ED013-7923-279F-1AD0-90699CAE5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73" y="1709189"/>
            <a:ext cx="7772400" cy="4275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</p:spTree>
    <p:extLst>
      <p:ext uri="{BB962C8B-B14F-4D97-AF65-F5344CB8AC3E}">
        <p14:creationId xmlns:p14="http://schemas.microsoft.com/office/powerpoint/2010/main" val="3328375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Вспомним структуру классов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72EF0D-6CD1-955C-F927-FCC54E1D2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113" y="1612503"/>
            <a:ext cx="4931229" cy="42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95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Необходимо реализовать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CF2A6-B82A-5CFD-1575-485799270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42" y="1494609"/>
            <a:ext cx="5910943" cy="467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49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BCF52-014E-E3E0-2E62-AF5CB00BA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72" y="1934320"/>
            <a:ext cx="7772400" cy="359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0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8EFEA-E0CC-1172-233E-652650957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485" y="1819052"/>
            <a:ext cx="8556171" cy="404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73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92741-206F-29F8-9A19-DA7A4EEC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4" y="1699317"/>
            <a:ext cx="8980031" cy="429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86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CE6F2-88CE-A78E-3564-AB46DB05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4" y="1511359"/>
            <a:ext cx="8763000" cy="425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70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4A4E5-6975-10FA-5940-307D2F1C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2" y="1730335"/>
            <a:ext cx="9464763" cy="41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56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2D173-6189-A4EC-1CB2-A847FD59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1458366"/>
            <a:ext cx="8469086" cy="498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11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BE852-0EB0-BB64-6E9A-E89F1A3C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9" y="1522474"/>
            <a:ext cx="8196943" cy="491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21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898A6-C534-A444-5A90-4AA13EC88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53" y="1402080"/>
            <a:ext cx="8964147" cy="50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09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пул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CB66A-4644-DFCD-709E-1273BC20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5" y="1521823"/>
            <a:ext cx="8565051" cy="477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98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en-US" dirty="0"/>
              <a:t>Coding</a:t>
            </a:r>
            <a:r>
              <a:rPr lang="ru-RU" dirty="0"/>
              <a:t>: </a:t>
            </a:r>
            <a:r>
              <a:rPr lang="ru-RU" dirty="0" err="1"/>
              <a:t>буфферный</a:t>
            </a:r>
            <a:r>
              <a:rPr lang="ru-RU" dirty="0"/>
              <a:t> менеджер</a:t>
            </a:r>
            <a:r>
              <a:rPr lang="en-US" dirty="0"/>
              <a:t> </a:t>
            </a:r>
            <a:r>
              <a:rPr lang="ru-RU" dirty="0"/>
              <a:t>с дескрипторами и </a:t>
            </a:r>
            <a:r>
              <a:rPr lang="ru-RU" dirty="0" err="1"/>
              <a:t>буфферной</a:t>
            </a:r>
            <a:r>
              <a:rPr lang="ru-RU" dirty="0"/>
              <a:t> таблицей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242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4CB062B-C278-0C64-FB40-791A195B5124}"/>
              </a:ext>
            </a:extLst>
          </p:cNvPr>
          <p:cNvSpPr txBox="1">
            <a:spLocks/>
          </p:cNvSpPr>
          <p:nvPr/>
        </p:nvSpPr>
        <p:spPr>
          <a:xfrm>
            <a:off x="1485900" y="778329"/>
            <a:ext cx="9601200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Необходимо реализовать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C16E0-7413-5704-01D3-AE621FD0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734" y="1577430"/>
            <a:ext cx="7772400" cy="500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80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ACC0F-FC63-69CE-FB61-DE64C809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644" y="2171700"/>
            <a:ext cx="9951887" cy="311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42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80D5A-8DEB-60BB-F6B2-1F8A89EE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507" y="2171700"/>
            <a:ext cx="9349916" cy="31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763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FECE8-FA0A-C173-8A4D-1D2924BF3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39" y="2015479"/>
            <a:ext cx="9679740" cy="34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41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BF9DF-E094-674F-ECB2-FA7AC917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69" y="1660532"/>
            <a:ext cx="9354015" cy="44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16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Алгоритмы вытеснения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3CC07-13CC-9A85-BE85-12A70E393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1458366"/>
            <a:ext cx="8469086" cy="498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73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Алгоритмы вытеснения страниц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7026B-70ED-A313-C926-E94D42EC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9" y="1522474"/>
            <a:ext cx="8196943" cy="491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3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Алгоритмы вытеснения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38760D-3C4C-5017-6779-D8E1B7B7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17" y="1891915"/>
            <a:ext cx="4779247" cy="418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2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13608-E64F-623B-579B-7938C685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090" y="2171700"/>
            <a:ext cx="8190244" cy="266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53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5E509-0DE2-C184-811F-33FD6670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63365"/>
            <a:ext cx="8531888" cy="233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66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B09CF-B596-674D-6407-84CBD7E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1" y="2171700"/>
            <a:ext cx="8845981" cy="258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63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B09CF-B596-674D-6407-84CBD7E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1" y="2171700"/>
            <a:ext cx="8845981" cy="258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54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A1FC89-00BB-1C80-11B7-A6DAB278E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45" y="1987240"/>
            <a:ext cx="8533155" cy="409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9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E4598-D0AF-8AFE-D9D3-25608DAB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1316"/>
            <a:ext cx="8605634" cy="406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512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IFO. </a:t>
            </a:r>
            <a:r>
              <a:rPr lang="en-US" dirty="0" err="1"/>
              <a:t>П</a:t>
            </a:r>
            <a:r>
              <a:rPr lang="ru-RU" dirty="0" err="1"/>
              <a:t>роблемы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F2C345-0154-232F-9F85-8C6CB9AE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53" y="2286000"/>
            <a:ext cx="9321447" cy="247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456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IFO. </a:t>
            </a:r>
            <a:r>
              <a:rPr lang="en-US" dirty="0" err="1"/>
              <a:t>П</a:t>
            </a:r>
            <a:r>
              <a:rPr lang="ru-RU" dirty="0" err="1"/>
              <a:t>роблемы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DA0BA-8267-232A-9889-9D560219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008492"/>
            <a:ext cx="7772400" cy="374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42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F</a:t>
            </a:r>
            <a:r>
              <a:rPr lang="en-US" dirty="0"/>
              <a:t>IFO. </a:t>
            </a:r>
            <a:r>
              <a:rPr lang="en-US" dirty="0" err="1"/>
              <a:t>П</a:t>
            </a:r>
            <a:r>
              <a:rPr lang="ru-RU" dirty="0" err="1"/>
              <a:t>роблемы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05FFE-445C-DDC8-91E0-C49CFD9D7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04" y="2286000"/>
            <a:ext cx="8938796" cy="28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031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L</a:t>
            </a:r>
            <a:r>
              <a:rPr lang="en-US" dirty="0"/>
              <a:t>RU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1F9A2C-0D2E-25DD-A9AA-90840193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61" y="2171700"/>
            <a:ext cx="9339191" cy="289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611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L</a:t>
            </a:r>
            <a:r>
              <a:rPr lang="en-US" dirty="0"/>
              <a:t>RU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5C6538-0B68-64BF-E0FB-6CE113660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59915"/>
            <a:ext cx="8754556" cy="26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095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L</a:t>
            </a:r>
            <a:r>
              <a:rPr lang="en-US" dirty="0"/>
              <a:t>RU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4FCFC-AE2F-DB0B-C1C9-84A8F9D8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57" y="1674642"/>
            <a:ext cx="8409987" cy="41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57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 err="1"/>
              <a:t>L</a:t>
            </a:r>
            <a:r>
              <a:rPr lang="en-US" dirty="0"/>
              <a:t>RU. </a:t>
            </a:r>
            <a:r>
              <a:rPr lang="ru-RU" dirty="0"/>
              <a:t>Проблемы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141FF-E890-A72E-6892-36F92088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683" y="1876320"/>
            <a:ext cx="66675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342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02F18-0FD6-C0B5-BD07-A3C1D082B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25" y="1634338"/>
            <a:ext cx="8589841" cy="39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454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84311-4B8C-8DC8-581C-C37292C7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086" y="1494609"/>
            <a:ext cx="5229204" cy="47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832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F23B3-F3B7-23CC-4F11-0D62475A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42" y="1494609"/>
            <a:ext cx="5131229" cy="49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05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F026C-821B-03BD-AD3F-3E27E13F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437" y="1494609"/>
            <a:ext cx="5325627" cy="49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480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E0236-B4F7-E64B-A698-FEA7AAE6B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099" y="1494609"/>
            <a:ext cx="5211662" cy="492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026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71DB6-86F2-9871-CD9A-FC95897F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566" y="1456928"/>
            <a:ext cx="5146503" cy="46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743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en-US" dirty="0"/>
              <a:t>Clock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8B0B4-9C47-E57A-33AB-A4A819C4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745" y="1698483"/>
            <a:ext cx="6214068" cy="46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94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Алгоритмы вытеснения страниц</a:t>
            </a:r>
            <a:r>
              <a:rPr lang="en-US" dirty="0"/>
              <a:t>. </a:t>
            </a:r>
            <a:r>
              <a:rPr lang="ru-RU" dirty="0"/>
              <a:t>Итоги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38760D-3C4C-5017-6779-D8E1B7B7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17" y="1891915"/>
            <a:ext cx="4779247" cy="418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209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/>
              <a:t>Coding</a:t>
            </a:r>
            <a:r>
              <a:rPr lang="ru-RU" dirty="0"/>
              <a:t>: </a:t>
            </a:r>
            <a:r>
              <a:rPr lang="ru-RU" dirty="0" err="1"/>
              <a:t>F</a:t>
            </a:r>
            <a:r>
              <a:rPr lang="en-US" dirty="0"/>
              <a:t>IFO </a:t>
            </a:r>
            <a:r>
              <a:rPr lang="en-US" dirty="0" err="1"/>
              <a:t>а</a:t>
            </a:r>
            <a:r>
              <a:rPr lang="ru-RU" dirty="0" err="1"/>
              <a:t>лгоритм</a:t>
            </a:r>
            <a:r>
              <a:rPr lang="ru-RU" dirty="0"/>
              <a:t> вытеснения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54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4CB062B-C278-0C64-FB40-791A195B5124}"/>
              </a:ext>
            </a:extLst>
          </p:cNvPr>
          <p:cNvSpPr txBox="1">
            <a:spLocks/>
          </p:cNvSpPr>
          <p:nvPr/>
        </p:nvSpPr>
        <p:spPr>
          <a:xfrm>
            <a:off x="1485900" y="778329"/>
            <a:ext cx="9601200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Необходимо реализовать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DDA71-8BC2-A5E4-4C36-AA9529B09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00" y="1725461"/>
            <a:ext cx="8703129" cy="47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849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79D62-87E9-7EB0-F47B-0F459F3E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29" y="1663511"/>
            <a:ext cx="8182339" cy="40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997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B7771-0F8F-D056-C93A-39E9B1C80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7" y="1660695"/>
            <a:ext cx="8942066" cy="41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798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грязными страницами в СУБД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AC8824-BDCF-204A-8F7E-3AF3B32D6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53" y="1402080"/>
            <a:ext cx="8964147" cy="50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052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6D924-AB64-8153-4517-6EC7590AD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06" y="1712918"/>
            <a:ext cx="7772400" cy="48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652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00C12-BBB5-A6DF-0038-74164B87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9" y="1636139"/>
            <a:ext cx="6786824" cy="499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095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1876C-9228-E8EA-9706-A8C2BD9D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308" y="1494609"/>
            <a:ext cx="6244213" cy="492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735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7B482-9AC1-8AF8-C11F-8F89A2F0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213" y="1649293"/>
            <a:ext cx="6394938" cy="499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244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844DB-6C6C-9AA0-305C-C55A2EB7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890" y="1697900"/>
            <a:ext cx="6324600" cy="482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233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AE67C-2DD8-FC99-B3A4-D4E92CEB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154" y="1964088"/>
            <a:ext cx="7772400" cy="427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458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Стратегии сброса грязных страниц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CAC741-9EDD-BABC-A70E-274DDCFF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969071"/>
            <a:ext cx="7772400" cy="41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353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 err="1"/>
              <a:t>Checkpointer</a:t>
            </a:r>
            <a:r>
              <a:rPr lang="en-US" dirty="0"/>
              <a:t>, Background writer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46EF8-2519-F3D4-D047-8D98CBAA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620" y="1816988"/>
            <a:ext cx="7772400" cy="438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877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 err="1"/>
              <a:t>Checkpointer</a:t>
            </a:r>
            <a:r>
              <a:rPr lang="en-US" dirty="0"/>
              <a:t>, Background writer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F7C24E-FA68-2CAD-7992-B4C0DE44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07" y="1591389"/>
            <a:ext cx="7772400" cy="49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56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en-US" dirty="0"/>
              <a:t>Coding</a:t>
            </a:r>
            <a:r>
              <a:rPr lang="ru-RU" dirty="0"/>
              <a:t>: </a:t>
            </a:r>
            <a:r>
              <a:rPr lang="en-US" dirty="0" err="1"/>
              <a:t>Backgroud</a:t>
            </a:r>
            <a:r>
              <a:rPr lang="en-US" dirty="0"/>
              <a:t> writer / </a:t>
            </a:r>
            <a:r>
              <a:rPr lang="en-US" dirty="0" err="1"/>
              <a:t>checkpointer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074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4CB062B-C278-0C64-FB40-791A195B5124}"/>
              </a:ext>
            </a:extLst>
          </p:cNvPr>
          <p:cNvSpPr txBox="1">
            <a:spLocks/>
          </p:cNvSpPr>
          <p:nvPr/>
        </p:nvSpPr>
        <p:spPr>
          <a:xfrm>
            <a:off x="1485900" y="778329"/>
            <a:ext cx="9601200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Необходимо реализовать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25C90-2118-C1BB-CBD8-78324A87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213" y="1764162"/>
            <a:ext cx="9949544" cy="41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624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Что в итоге получилось?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B7726-CF79-B922-85D0-409266DA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309" y="1484218"/>
            <a:ext cx="5798127" cy="524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614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225-959F-11B9-3B17-DE4EDD00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Лабораторная работа #</a:t>
            </a:r>
            <a:r>
              <a:rPr lang="en-US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79125-F317-E679-A698-814B40EB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843" y="1886214"/>
            <a:ext cx="9304257" cy="369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6797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1112</TotalTime>
  <Words>347</Words>
  <Application>Microsoft Macintosh PowerPoint</Application>
  <PresentationFormat>Widescreen</PresentationFormat>
  <Paragraphs>101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89" baseType="lpstr">
      <vt:lpstr>Franklin Gothic Book</vt:lpstr>
      <vt:lpstr>Crop</vt:lpstr>
      <vt:lpstr>Буфферный менеджер в СУБД</vt:lpstr>
      <vt:lpstr>Цель занятия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Повторение</vt:lpstr>
      <vt:lpstr>Проблемы. Алгоритм работы с данными</vt:lpstr>
      <vt:lpstr>Проблемы</vt:lpstr>
      <vt:lpstr>Почему это проблема?</vt:lpstr>
      <vt:lpstr>Буфферный менеджер</vt:lpstr>
      <vt:lpstr>Буфферный менеджер</vt:lpstr>
      <vt:lpstr>Буфферный пул</vt:lpstr>
      <vt:lpstr>Буфферный пул</vt:lpstr>
      <vt:lpstr>Буфферный пул</vt:lpstr>
      <vt:lpstr>Coding: простой буфферный менеджер</vt:lpstr>
      <vt:lpstr>Репозиторий</vt:lpstr>
      <vt:lpstr>Вспомним структуру классов</vt:lpstr>
      <vt:lpstr>Необходимо реализовать</vt:lpstr>
      <vt:lpstr>Что в итоге получилось?</vt:lpstr>
      <vt:lpstr>Буфферный менеджер. Устройство</vt:lpstr>
      <vt:lpstr>Буфферный менеджер. Устройство</vt:lpstr>
      <vt:lpstr>Буфферный менеджер. Устройство</vt:lpstr>
      <vt:lpstr>Буфферный менеджер. Устройство</vt:lpstr>
      <vt:lpstr>Буфферный пул</vt:lpstr>
      <vt:lpstr>Буфферный пул</vt:lpstr>
      <vt:lpstr>Буфферный пул</vt:lpstr>
      <vt:lpstr>Буфферный пул</vt:lpstr>
      <vt:lpstr>Coding: буфферный менеджер с дескрипторами и буфферной таблицей</vt:lpstr>
      <vt:lpstr>PowerPoint Presentation</vt:lpstr>
      <vt:lpstr>Что в итоге получилось?</vt:lpstr>
      <vt:lpstr>Что в итоге получилось?</vt:lpstr>
      <vt:lpstr>Что в итоге получилось?</vt:lpstr>
      <vt:lpstr>Что в итоге получилось?</vt:lpstr>
      <vt:lpstr>Алгоритмы вытеснения страниц</vt:lpstr>
      <vt:lpstr>Алгоритмы вытеснения страниц</vt:lpstr>
      <vt:lpstr>Алгоритмы вытеснения страниц</vt:lpstr>
      <vt:lpstr>FIFO</vt:lpstr>
      <vt:lpstr>FIFO</vt:lpstr>
      <vt:lpstr>FIFO</vt:lpstr>
      <vt:lpstr>FIFO</vt:lpstr>
      <vt:lpstr>FIFO</vt:lpstr>
      <vt:lpstr>FIFO</vt:lpstr>
      <vt:lpstr>FIFO. Проблемы</vt:lpstr>
      <vt:lpstr>FIFO. Проблемы</vt:lpstr>
      <vt:lpstr>FIFO. Проблемы</vt:lpstr>
      <vt:lpstr>LRU</vt:lpstr>
      <vt:lpstr>LRU</vt:lpstr>
      <vt:lpstr>LRU</vt:lpstr>
      <vt:lpstr>LRU. Проблемы</vt:lpstr>
      <vt:lpstr>Clock</vt:lpstr>
      <vt:lpstr>Clock</vt:lpstr>
      <vt:lpstr>Clock</vt:lpstr>
      <vt:lpstr>Clock</vt:lpstr>
      <vt:lpstr>Clock</vt:lpstr>
      <vt:lpstr>Clock</vt:lpstr>
      <vt:lpstr>Clock</vt:lpstr>
      <vt:lpstr>Алгоритмы вытеснения страниц. Итоги</vt:lpstr>
      <vt:lpstr>Coding: FIFO алгоритм вытеснения </vt:lpstr>
      <vt:lpstr>PowerPoint Presentation</vt:lpstr>
      <vt:lpstr>Что в итоге получилось?</vt:lpstr>
      <vt:lpstr>Что в итоге получилось?</vt:lpstr>
      <vt:lpstr>Работа с грязными страницами в СУБД</vt:lpstr>
      <vt:lpstr>Стратегии сброса грязных страниц</vt:lpstr>
      <vt:lpstr>Стратегии сброса грязных страниц</vt:lpstr>
      <vt:lpstr>Стратегии сброса грязных страниц</vt:lpstr>
      <vt:lpstr>Стратегии сброса грязных страниц</vt:lpstr>
      <vt:lpstr>Стратегии сброса грязных страниц</vt:lpstr>
      <vt:lpstr>Стратегии сброса грязных страниц</vt:lpstr>
      <vt:lpstr>Стратегии сброса грязных страниц</vt:lpstr>
      <vt:lpstr>Checkpointer, Background writer</vt:lpstr>
      <vt:lpstr>Checkpointer, Background writer</vt:lpstr>
      <vt:lpstr>Coding: Backgroud writer / checkpointer</vt:lpstr>
      <vt:lpstr>PowerPoint Presentation</vt:lpstr>
      <vt:lpstr>Что в итоге получилось?</vt:lpstr>
      <vt:lpstr>Лабораторная работа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e gulyakin</cp:lastModifiedBy>
  <cp:revision>75</cp:revision>
  <dcterms:created xsi:type="dcterms:W3CDTF">2025-09-15T11:53:13Z</dcterms:created>
  <dcterms:modified xsi:type="dcterms:W3CDTF">2025-09-16T06:26:03Z</dcterms:modified>
</cp:coreProperties>
</file>