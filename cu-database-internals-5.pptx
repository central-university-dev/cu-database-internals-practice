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423" r:id="rId3"/>
    <p:sldId id="422" r:id="rId4"/>
    <p:sldId id="425" r:id="rId5"/>
    <p:sldId id="427" r:id="rId6"/>
    <p:sldId id="428" r:id="rId7"/>
    <p:sldId id="434" r:id="rId8"/>
    <p:sldId id="421" r:id="rId9"/>
    <p:sldId id="429" r:id="rId10"/>
    <p:sldId id="433" r:id="rId11"/>
    <p:sldId id="426" r:id="rId12"/>
    <p:sldId id="424" r:id="rId13"/>
    <p:sldId id="352" r:id="rId14"/>
    <p:sldId id="354" r:id="rId15"/>
    <p:sldId id="357" r:id="rId16"/>
    <p:sldId id="371" r:id="rId17"/>
    <p:sldId id="372" r:id="rId18"/>
    <p:sldId id="369" r:id="rId19"/>
    <p:sldId id="370" r:id="rId20"/>
    <p:sldId id="358" r:id="rId21"/>
    <p:sldId id="413" r:id="rId22"/>
    <p:sldId id="374" r:id="rId23"/>
    <p:sldId id="359" r:id="rId24"/>
    <p:sldId id="373" r:id="rId25"/>
    <p:sldId id="415" r:id="rId26"/>
    <p:sldId id="361" r:id="rId27"/>
    <p:sldId id="378" r:id="rId28"/>
    <p:sldId id="377" r:id="rId29"/>
    <p:sldId id="376" r:id="rId30"/>
    <p:sldId id="375" r:id="rId31"/>
    <p:sldId id="362" r:id="rId32"/>
    <p:sldId id="363" r:id="rId33"/>
    <p:sldId id="360" r:id="rId34"/>
    <p:sldId id="364" r:id="rId35"/>
    <p:sldId id="416" r:id="rId36"/>
    <p:sldId id="365" r:id="rId37"/>
    <p:sldId id="366" r:id="rId38"/>
    <p:sldId id="367" r:id="rId39"/>
    <p:sldId id="368" r:id="rId40"/>
    <p:sldId id="406" r:id="rId41"/>
    <p:sldId id="435" r:id="rId42"/>
    <p:sldId id="379" r:id="rId43"/>
    <p:sldId id="380" r:id="rId44"/>
    <p:sldId id="381" r:id="rId45"/>
    <p:sldId id="382" r:id="rId46"/>
    <p:sldId id="383" r:id="rId47"/>
    <p:sldId id="384" r:id="rId48"/>
    <p:sldId id="385" r:id="rId49"/>
    <p:sldId id="408" r:id="rId50"/>
    <p:sldId id="386" r:id="rId51"/>
    <p:sldId id="389" r:id="rId52"/>
    <p:sldId id="409" r:id="rId53"/>
    <p:sldId id="410" r:id="rId54"/>
    <p:sldId id="412" r:id="rId55"/>
    <p:sldId id="411" r:id="rId56"/>
    <p:sldId id="388" r:id="rId57"/>
    <p:sldId id="417" r:id="rId58"/>
    <p:sldId id="419" r:id="rId59"/>
    <p:sldId id="420" r:id="rId60"/>
    <p:sldId id="387" r:id="rId61"/>
    <p:sldId id="414" r:id="rId62"/>
    <p:sldId id="418" r:id="rId63"/>
    <p:sldId id="390" r:id="rId64"/>
    <p:sldId id="391" r:id="rId65"/>
    <p:sldId id="392" r:id="rId66"/>
    <p:sldId id="393" r:id="rId6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586A"/>
    <a:srgbClr val="FFD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47"/>
    <p:restoredTop sz="96405"/>
  </p:normalViewPr>
  <p:slideViewPr>
    <p:cSldViewPr snapToGrid="0" showGuides="1">
      <p:cViewPr varScale="1">
        <p:scale>
          <a:sx n="131" d="100"/>
          <a:sy n="131" d="100"/>
        </p:scale>
        <p:origin x="5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10/7/25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10/7/25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10/7/25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F1CFB-1DED-71E7-5407-6EB108BFD3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Каталоги в СУБД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5B81CC-D5FA-4BB2-3BAB-8D4894EAC5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С</a:t>
            </a:r>
            <a:r>
              <a:rPr lang="en-US" dirty="0" err="1">
                <a:solidFill>
                  <a:schemeClr val="tx1"/>
                </a:solidFill>
              </a:rPr>
              <a:t>entral</a:t>
            </a:r>
            <a:r>
              <a:rPr lang="en-US" dirty="0">
                <a:solidFill>
                  <a:schemeClr val="tx1"/>
                </a:solidFill>
              </a:rPr>
              <a:t> University Database Engineering</a:t>
            </a:r>
          </a:p>
        </p:txBody>
      </p:sp>
    </p:spTree>
    <p:extLst>
      <p:ext uri="{BB962C8B-B14F-4D97-AF65-F5344CB8AC3E}">
        <p14:creationId xmlns:p14="http://schemas.microsoft.com/office/powerpoint/2010/main" val="1879628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>
            <a:normAutofit/>
          </a:bodyPr>
          <a:lstStyle/>
          <a:p>
            <a:r>
              <a:rPr lang="ru-RU" sz="5400" dirty="0">
                <a:solidFill>
                  <a:schemeClr val="tx1"/>
                </a:solidFill>
              </a:rPr>
              <a:t>Цель занятия</a:t>
            </a:r>
            <a:endParaRPr lang="en-US" sz="5400" dirty="0">
              <a:solidFill>
                <a:schemeClr val="tx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CF6247D-8B17-BF7B-E63D-4C5D4BEBE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3581400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" b="0" i="0" dirty="0">
                <a:solidFill>
                  <a:schemeClr val="tx1"/>
                </a:solidFill>
                <a:effectLst/>
              </a:rPr>
              <a:t>Planner: </a:t>
            </a:r>
            <a:r>
              <a:rPr lang="ru-RU" b="0" i="0" dirty="0">
                <a:solidFill>
                  <a:schemeClr val="tx1"/>
                </a:solidFill>
                <a:effectLst/>
              </a:rPr>
              <a:t>как строить логический план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b="0" i="0" dirty="0">
                <a:solidFill>
                  <a:schemeClr val="tx1"/>
                </a:solidFill>
                <a:effectLst/>
              </a:rPr>
              <a:t>Optimizer: (</a:t>
            </a:r>
            <a:r>
              <a:rPr lang="ru-RU" b="0" i="0" dirty="0">
                <a:solidFill>
                  <a:schemeClr val="tx1"/>
                </a:solidFill>
                <a:effectLst/>
              </a:rPr>
              <a:t>пока обзорно, подробнее рассмотрим в отдельной лекции) - физический план</a:t>
            </a:r>
            <a:endParaRPr lang="en-US" b="0" i="0" dirty="0">
              <a:solidFill>
                <a:schemeClr val="tx1"/>
              </a:solidFill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" b="0" i="0" dirty="0" err="1">
                <a:solidFill>
                  <a:schemeClr val="tx1"/>
                </a:solidFill>
                <a:effectLst/>
              </a:rPr>
              <a:t>ExecutorFactory</a:t>
            </a:r>
            <a:r>
              <a:rPr lang="en" b="0" i="0" dirty="0">
                <a:solidFill>
                  <a:schemeClr val="tx1"/>
                </a:solidFill>
                <a:effectLst/>
              </a:rPr>
              <a:t>: </a:t>
            </a:r>
            <a:r>
              <a:rPr lang="ru-RU" b="0" i="0" dirty="0">
                <a:solidFill>
                  <a:schemeClr val="tx1"/>
                </a:solidFill>
                <a:effectLst/>
              </a:rPr>
              <a:t>п</a:t>
            </a:r>
            <a:r>
              <a:rPr lang="en-US" dirty="0" err="1">
                <a:solidFill>
                  <a:schemeClr val="tx1"/>
                </a:solidFill>
              </a:rPr>
              <a:t>о</a:t>
            </a:r>
            <a:r>
              <a:rPr lang="ru-RU" dirty="0" err="1">
                <a:solidFill>
                  <a:schemeClr val="tx1"/>
                </a:solidFill>
              </a:rPr>
              <a:t>дготовка</a:t>
            </a:r>
            <a:r>
              <a:rPr lang="ru-RU" b="0" i="0" dirty="0">
                <a:solidFill>
                  <a:schemeClr val="tx1"/>
                </a:solidFill>
                <a:effectLst/>
              </a:rPr>
              <a:t> исполнителей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b="0" i="0" dirty="0">
                <a:solidFill>
                  <a:schemeClr val="tx1"/>
                </a:solidFill>
                <a:effectLst/>
              </a:rPr>
              <a:t>Executors: </a:t>
            </a:r>
            <a:r>
              <a:rPr lang="ru-RU" b="0" i="0" dirty="0">
                <a:solidFill>
                  <a:schemeClr val="tx1"/>
                </a:solidFill>
                <a:effectLst/>
              </a:rPr>
              <a:t>цепочки исполнителей запросов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b="0" i="0" dirty="0" err="1">
                <a:solidFill>
                  <a:schemeClr val="tx1"/>
                </a:solidFill>
                <a:effectLst/>
              </a:rPr>
              <a:t>ExecutionEngine</a:t>
            </a:r>
            <a:r>
              <a:rPr lang="en" b="0" i="0" dirty="0">
                <a:solidFill>
                  <a:schemeClr val="tx1"/>
                </a:solidFill>
                <a:effectLst/>
              </a:rPr>
              <a:t>: </a:t>
            </a:r>
            <a:r>
              <a:rPr lang="ru-RU" b="0" i="0" dirty="0">
                <a:solidFill>
                  <a:schemeClr val="tx1"/>
                </a:solidFill>
                <a:effectLst/>
              </a:rPr>
              <a:t>запуск исполнителей</a:t>
            </a:r>
          </a:p>
        </p:txBody>
      </p:sp>
    </p:spTree>
    <p:extLst>
      <p:ext uri="{BB962C8B-B14F-4D97-AF65-F5344CB8AC3E}">
        <p14:creationId xmlns:p14="http://schemas.microsoft.com/office/powerpoint/2010/main" val="2264936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4999E94B-574B-F990-9EDF-B1225C29B168}"/>
              </a:ext>
            </a:extLst>
          </p:cNvPr>
          <p:cNvSpPr/>
          <p:nvPr/>
        </p:nvSpPr>
        <p:spPr>
          <a:xfrm>
            <a:off x="1143000" y="1702713"/>
            <a:ext cx="12312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ea typeface="Mona Sans Light" pitchFamily="34" charset="-122"/>
                <a:cs typeface="Mona Sans Light" pitchFamily="34" charset="-120"/>
              </a:rPr>
              <a:t>01</a:t>
            </a:r>
            <a:endParaRPr lang="en-US" sz="1550" dirty="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C7E9590F-75CE-4710-16DC-BBB54944ED56}"/>
              </a:ext>
            </a:extLst>
          </p:cNvPr>
          <p:cNvSpPr/>
          <p:nvPr/>
        </p:nvSpPr>
        <p:spPr>
          <a:xfrm>
            <a:off x="1143000" y="2017038"/>
            <a:ext cx="3986451" cy="2286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D5FE0AF7-A9AE-9505-F988-4F9BB8820228}"/>
              </a:ext>
            </a:extLst>
          </p:cNvPr>
          <p:cNvSpPr/>
          <p:nvPr/>
        </p:nvSpPr>
        <p:spPr>
          <a:xfrm>
            <a:off x="1143000" y="2152578"/>
            <a:ext cx="3986451" cy="718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/>
            <a:r>
              <a:rPr lang="en" sz="2400" b="0" i="0" dirty="0">
                <a:solidFill>
                  <a:schemeClr val="tx1"/>
                </a:solidFill>
                <a:effectLst/>
              </a:rPr>
              <a:t>Planner: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как строить </a:t>
            </a:r>
          </a:p>
          <a:p>
            <a:pPr algn="l"/>
            <a:r>
              <a:rPr lang="ru-RU" sz="2400" b="0" i="0" dirty="0">
                <a:solidFill>
                  <a:schemeClr val="tx1"/>
                </a:solidFill>
                <a:effectLst/>
              </a:rPr>
              <a:t>логический план</a:t>
            </a:r>
          </a:p>
          <a:p>
            <a:pPr marL="0" indent="0" algn="l">
              <a:lnSpc>
                <a:spcPts val="2400"/>
              </a:lnSpc>
              <a:buNone/>
            </a:pPr>
            <a:endParaRPr lang="en-US" sz="195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B4DE43BC-180B-B94E-02AF-93564320991A}"/>
              </a:ext>
            </a:extLst>
          </p:cNvPr>
          <p:cNvSpPr/>
          <p:nvPr/>
        </p:nvSpPr>
        <p:spPr>
          <a:xfrm>
            <a:off x="6563439" y="1636395"/>
            <a:ext cx="12312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ea typeface="Mona Sans Light" pitchFamily="34" charset="-122"/>
                <a:cs typeface="Mona Sans Light" pitchFamily="34" charset="-120"/>
              </a:rPr>
              <a:t>02</a:t>
            </a:r>
            <a:endParaRPr lang="en-US" sz="1550" dirty="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13BD12D2-2F73-7173-7F38-991CBCCF5B4E}"/>
              </a:ext>
            </a:extLst>
          </p:cNvPr>
          <p:cNvSpPr/>
          <p:nvPr/>
        </p:nvSpPr>
        <p:spPr>
          <a:xfrm>
            <a:off x="6563439" y="1950720"/>
            <a:ext cx="3986451" cy="2286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E1106300-7E32-5849-EC2C-B87D34A6540A}"/>
              </a:ext>
            </a:extLst>
          </p:cNvPr>
          <p:cNvSpPr/>
          <p:nvPr/>
        </p:nvSpPr>
        <p:spPr>
          <a:xfrm>
            <a:off x="1143000" y="3255883"/>
            <a:ext cx="12312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ea typeface="Mona Sans Light" pitchFamily="34" charset="-122"/>
                <a:cs typeface="Mona Sans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7F509C43-5E31-CDED-04DD-CD22847B0881}"/>
              </a:ext>
            </a:extLst>
          </p:cNvPr>
          <p:cNvSpPr/>
          <p:nvPr/>
        </p:nvSpPr>
        <p:spPr>
          <a:xfrm>
            <a:off x="1143000" y="3570208"/>
            <a:ext cx="3986451" cy="2286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C5BA821-CAAF-3A33-803A-61B3FC30A056}"/>
              </a:ext>
            </a:extLst>
          </p:cNvPr>
          <p:cNvSpPr/>
          <p:nvPr/>
        </p:nvSpPr>
        <p:spPr>
          <a:xfrm>
            <a:off x="6563439" y="3189565"/>
            <a:ext cx="12312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ea typeface="Mona Sans Light" pitchFamily="34" charset="-122"/>
                <a:cs typeface="Mona Sans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E8663BC8-B4C0-467A-ED08-4D4AB7FF8DE2}"/>
              </a:ext>
            </a:extLst>
          </p:cNvPr>
          <p:cNvSpPr/>
          <p:nvPr/>
        </p:nvSpPr>
        <p:spPr>
          <a:xfrm>
            <a:off x="6563439" y="3503890"/>
            <a:ext cx="3986451" cy="2286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A8B88F0-A2BC-A0A6-A5C8-A01ACB4AE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270" y="466249"/>
            <a:ext cx="4320540" cy="767595"/>
          </a:xfrm>
        </p:spPr>
        <p:txBody>
          <a:bodyPr>
            <a:normAutofit fontScale="90000"/>
          </a:bodyPr>
          <a:lstStyle/>
          <a:p>
            <a:r>
              <a:rPr lang="ru-RU" sz="5400" dirty="0">
                <a:solidFill>
                  <a:schemeClr val="tx1"/>
                </a:solidFill>
              </a:rPr>
              <a:t>План занятия</a:t>
            </a:r>
            <a:endParaRPr lang="en-US" sz="5400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3D2C34-EC56-F89E-336A-EFEBFE5A2DE7}"/>
              </a:ext>
            </a:extLst>
          </p:cNvPr>
          <p:cNvSpPr txBox="1"/>
          <p:nvPr/>
        </p:nvSpPr>
        <p:spPr>
          <a:xfrm>
            <a:off x="1143000" y="3788717"/>
            <a:ext cx="398645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" sz="2400" b="0" i="0" dirty="0">
                <a:solidFill>
                  <a:schemeClr val="tx1"/>
                </a:solidFill>
                <a:effectLst/>
              </a:rPr>
              <a:t>Optimizer: (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пока обзорно, подробнее рассмотрим в отдельной лекции) - физический план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70308D-2963-0A12-1975-8937F78D4BA6}"/>
              </a:ext>
            </a:extLst>
          </p:cNvPr>
          <p:cNvSpPr txBox="1"/>
          <p:nvPr/>
        </p:nvSpPr>
        <p:spPr>
          <a:xfrm>
            <a:off x="6478675" y="2123062"/>
            <a:ext cx="44740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" sz="2400" b="0" i="0" dirty="0">
                <a:solidFill>
                  <a:schemeClr val="tx1"/>
                </a:solidFill>
                <a:effectLst/>
              </a:rPr>
              <a:t>Executors: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цепочки исполнителей запросов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95A802-05DE-9128-2C24-74C52676AB12}"/>
              </a:ext>
            </a:extLst>
          </p:cNvPr>
          <p:cNvSpPr txBox="1"/>
          <p:nvPr/>
        </p:nvSpPr>
        <p:spPr>
          <a:xfrm>
            <a:off x="6563439" y="3881050"/>
            <a:ext cx="41490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" sz="2400" b="0" i="0" dirty="0" err="1">
                <a:solidFill>
                  <a:schemeClr val="tx1"/>
                </a:solidFill>
                <a:effectLst/>
              </a:rPr>
              <a:t>ExecutionEngine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: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запуск исполнителей</a:t>
            </a:r>
          </a:p>
        </p:txBody>
      </p:sp>
    </p:spTree>
    <p:extLst>
      <p:ext uri="{BB962C8B-B14F-4D97-AF65-F5344CB8AC3E}">
        <p14:creationId xmlns:p14="http://schemas.microsoft.com/office/powerpoint/2010/main" val="1271686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Повторение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FDF5E-9EA6-F17A-5CD5-CAABF9FE7907}"/>
              </a:ext>
            </a:extLst>
          </p:cNvPr>
          <p:cNvSpPr txBox="1"/>
          <p:nvPr/>
        </p:nvSpPr>
        <p:spPr>
          <a:xfrm>
            <a:off x="5997388" y="134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0679ED83-E690-5802-D95C-150D6F600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650" y="1584077"/>
            <a:ext cx="9988719" cy="431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840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Повторение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FDF5E-9EA6-F17A-5CD5-CAABF9FE7907}"/>
              </a:ext>
            </a:extLst>
          </p:cNvPr>
          <p:cNvSpPr txBox="1"/>
          <p:nvPr/>
        </p:nvSpPr>
        <p:spPr>
          <a:xfrm>
            <a:off x="5997388" y="134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26641" name="Picture 17">
            <a:extLst>
              <a:ext uri="{FF2B5EF4-FFF2-40B4-BE49-F238E27FC236}">
                <a16:creationId xmlns:a16="http://schemas.microsoft.com/office/drawing/2014/main" id="{4D7126E1-EB1F-BFEE-418C-3998D1359C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936" y="1801647"/>
            <a:ext cx="2817506" cy="3254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42" name="Picture 18">
            <a:extLst>
              <a:ext uri="{FF2B5EF4-FFF2-40B4-BE49-F238E27FC236}">
                <a16:creationId xmlns:a16="http://schemas.microsoft.com/office/drawing/2014/main" id="{C681A7F4-CE61-6CA4-5BEE-695EA2E44D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6301" y="821806"/>
            <a:ext cx="5660839" cy="5272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43" name="Picture 19">
            <a:extLst>
              <a:ext uri="{FF2B5EF4-FFF2-40B4-BE49-F238E27FC236}">
                <a16:creationId xmlns:a16="http://schemas.microsoft.com/office/drawing/2014/main" id="{B8A400B7-740E-9474-A47F-714470BB0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0691" y="3110042"/>
            <a:ext cx="2365610" cy="318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9377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Повторение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FDF5E-9EA6-F17A-5CD5-CAABF9FE7907}"/>
              </a:ext>
            </a:extLst>
          </p:cNvPr>
          <p:cNvSpPr txBox="1"/>
          <p:nvPr/>
        </p:nvSpPr>
        <p:spPr>
          <a:xfrm>
            <a:off x="5997388" y="134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A64B3246-2D92-519D-57DD-610FF417A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3268" y="1510105"/>
            <a:ext cx="7899046" cy="482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333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Повторение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FDF5E-9EA6-F17A-5CD5-CAABF9FE7907}"/>
              </a:ext>
            </a:extLst>
          </p:cNvPr>
          <p:cNvSpPr txBox="1"/>
          <p:nvPr/>
        </p:nvSpPr>
        <p:spPr>
          <a:xfrm>
            <a:off x="5997388" y="134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28674" name="Picture 2">
            <a:extLst>
              <a:ext uri="{FF2B5EF4-FFF2-40B4-BE49-F238E27FC236}">
                <a16:creationId xmlns:a16="http://schemas.microsoft.com/office/drawing/2014/main" id="{02753E58-DD32-2AFA-0F99-B9C2BCADEE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74" y="1584077"/>
            <a:ext cx="11111159" cy="2416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E7EDB88-2632-445E-3C20-F724E7D315C6}"/>
              </a:ext>
            </a:extLst>
          </p:cNvPr>
          <p:cNvSpPr txBox="1"/>
          <p:nvPr/>
        </p:nvSpPr>
        <p:spPr>
          <a:xfrm>
            <a:off x="1371600" y="4751881"/>
            <a:ext cx="106720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Какой компонент решает проблему долгого чтения с </a:t>
            </a:r>
            <a:r>
              <a:rPr lang="ru-RU" sz="3200" dirty="0" err="1"/>
              <a:t>S</a:t>
            </a:r>
            <a:r>
              <a:rPr lang="en-US" sz="3200" dirty="0"/>
              <a:t>SD ?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001684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Повторение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FDF5E-9EA6-F17A-5CD5-CAABF9FE7907}"/>
              </a:ext>
            </a:extLst>
          </p:cNvPr>
          <p:cNvSpPr txBox="1"/>
          <p:nvPr/>
        </p:nvSpPr>
        <p:spPr>
          <a:xfrm>
            <a:off x="5997388" y="134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E06CBD0-2131-9537-59CC-A0AC35CAE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737" y="1403835"/>
            <a:ext cx="8874777" cy="5042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601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DFDF5E-9EA6-F17A-5CD5-CAABF9FE7907}"/>
              </a:ext>
            </a:extLst>
          </p:cNvPr>
          <p:cNvSpPr txBox="1"/>
          <p:nvPr/>
        </p:nvSpPr>
        <p:spPr>
          <a:xfrm>
            <a:off x="5997388" y="134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69525A8-B527-A546-C2C2-A74A8F947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105525"/>
          </a:xfrm>
        </p:spPr>
        <p:txBody>
          <a:bodyPr/>
          <a:lstStyle/>
          <a:p>
            <a:r>
              <a:rPr lang="ru-RU" dirty="0"/>
              <a:t>Помним про </a:t>
            </a:r>
            <a:r>
              <a:rPr lang="en-US" dirty="0"/>
              <a:t>..?</a:t>
            </a:r>
            <a:endParaRPr lang="ru-RU" dirty="0"/>
          </a:p>
        </p:txBody>
      </p:sp>
      <p:pic>
        <p:nvPicPr>
          <p:cNvPr id="29700" name="Picture 4">
            <a:extLst>
              <a:ext uri="{FF2B5EF4-FFF2-40B4-BE49-F238E27FC236}">
                <a16:creationId xmlns:a16="http://schemas.microsoft.com/office/drawing/2014/main" id="{B56DB7D5-6E7D-7B37-B804-8720D6231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9888" y="1999787"/>
            <a:ext cx="4760344" cy="4172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3173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DFDF5E-9EA6-F17A-5CD5-CAABF9FE7907}"/>
              </a:ext>
            </a:extLst>
          </p:cNvPr>
          <p:cNvSpPr txBox="1"/>
          <p:nvPr/>
        </p:nvSpPr>
        <p:spPr>
          <a:xfrm>
            <a:off x="5997388" y="134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FFB663C-2565-BD18-EE1B-2B96321EC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153" y="3245005"/>
            <a:ext cx="9601200" cy="716280"/>
          </a:xfrm>
        </p:spPr>
        <p:txBody>
          <a:bodyPr/>
          <a:lstStyle/>
          <a:p>
            <a:r>
              <a:rPr lang="ru-RU" dirty="0"/>
              <a:t>А </a:t>
            </a:r>
            <a:r>
              <a:rPr lang="en-US" dirty="0" err="1"/>
              <a:t>ч</a:t>
            </a:r>
            <a:r>
              <a:rPr lang="ru-RU" dirty="0"/>
              <a:t>то такое каталог ?</a:t>
            </a:r>
            <a:endParaRPr lang="en-US" dirty="0"/>
          </a:p>
        </p:txBody>
      </p:sp>
      <p:pic>
        <p:nvPicPr>
          <p:cNvPr id="25602" name="Picture 2" descr="Внимание, вопрос (podcast) - Стас Шапкин | Listen Notes">
            <a:extLst>
              <a:ext uri="{FF2B5EF4-FFF2-40B4-BE49-F238E27FC236}">
                <a16:creationId xmlns:a16="http://schemas.microsoft.com/office/drawing/2014/main" id="{797C4622-3436-D598-8BFA-C335D22DC7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702" y="0"/>
            <a:ext cx="5540298" cy="5540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8410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DFDF5E-9EA6-F17A-5CD5-CAABF9FE7907}"/>
              </a:ext>
            </a:extLst>
          </p:cNvPr>
          <p:cNvSpPr txBox="1"/>
          <p:nvPr/>
        </p:nvSpPr>
        <p:spPr>
          <a:xfrm>
            <a:off x="5997388" y="134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FFB663C-2565-BD18-EE1B-2B96321EC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en-US" dirty="0" err="1"/>
              <a:t>В</a:t>
            </a:r>
            <a:r>
              <a:rPr lang="ru-RU" dirty="0"/>
              <a:t> итоге:</a:t>
            </a:r>
            <a:r>
              <a:rPr lang="en-US" dirty="0"/>
              <a:t> </a:t>
            </a:r>
            <a:r>
              <a:rPr lang="en-US" dirty="0" err="1"/>
              <a:t>ч</a:t>
            </a:r>
            <a:r>
              <a:rPr lang="ru-RU" dirty="0"/>
              <a:t>то такое каталог?</a:t>
            </a:r>
            <a:endParaRPr lang="en-US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4C0B4BF-0EE4-B9FB-F56D-60DBC0FFB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3776" y="1562100"/>
            <a:ext cx="3043104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276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Повторение</a:t>
            </a:r>
            <a:endParaRPr lang="en-US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F4745A8-9340-D123-6521-AEC748C02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542" y="1402080"/>
            <a:ext cx="11148770" cy="47701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DFDF5E-9EA6-F17A-5CD5-CAABF9FE7907}"/>
              </a:ext>
            </a:extLst>
          </p:cNvPr>
          <p:cNvSpPr txBox="1"/>
          <p:nvPr/>
        </p:nvSpPr>
        <p:spPr>
          <a:xfrm>
            <a:off x="5997388" y="134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573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Повторение</a:t>
            </a:r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1021B55-0531-5CE1-168D-FAA3AB728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437" y="1512840"/>
            <a:ext cx="8945126" cy="5220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743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Что дальше</a:t>
            </a:r>
            <a:endParaRPr lang="en-US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07F59A3-643E-3AB7-9BC1-3FEEE8A91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723191"/>
            <a:ext cx="7772400" cy="341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9504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>
            <a:normAutofit/>
          </a:bodyPr>
          <a:lstStyle/>
          <a:p>
            <a:r>
              <a:rPr lang="en" b="1" i="0" dirty="0">
                <a:solidFill>
                  <a:schemeClr val="tx1"/>
                </a:solidFill>
                <a:effectLst/>
              </a:rPr>
              <a:t>Planner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52A127B-C4EF-4B72-729C-69B26E3AE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650" y="2387600"/>
            <a:ext cx="6870700" cy="208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8173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685800"/>
            <a:ext cx="9872505" cy="716280"/>
          </a:xfrm>
        </p:spPr>
        <p:txBody>
          <a:bodyPr>
            <a:normAutofit fontScale="90000"/>
          </a:bodyPr>
          <a:lstStyle/>
          <a:p>
            <a:r>
              <a:rPr lang="ru-RU" sz="4400" dirty="0">
                <a:latin typeface="-apple-system"/>
              </a:rPr>
              <a:t>П</a:t>
            </a:r>
            <a:r>
              <a:rPr lang="ru-RU" sz="4400" b="0" i="0" dirty="0">
                <a:effectLst/>
                <a:latin typeface="-apple-system"/>
              </a:rPr>
              <a:t>остроение логического плана — ответ на вопрос «что нужно сделать»</a:t>
            </a:r>
            <a:endParaRPr lang="ru-RU" sz="44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DC84D2F-C742-7CED-8970-D322C11BA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094" y="2297524"/>
            <a:ext cx="10780047" cy="313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4934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685800"/>
            <a:ext cx="10133764" cy="716280"/>
          </a:xfrm>
        </p:spPr>
        <p:txBody>
          <a:bodyPr>
            <a:normAutofit fontScale="90000"/>
          </a:bodyPr>
          <a:lstStyle/>
          <a:p>
            <a:r>
              <a:rPr lang="ru-RU" sz="4400" dirty="0">
                <a:latin typeface="-apple-system"/>
              </a:rPr>
              <a:t>Не отвечаем на вопрос как будем это делать !</a:t>
            </a:r>
            <a:endParaRPr lang="ru-RU" sz="4400" dirty="0"/>
          </a:p>
        </p:txBody>
      </p:sp>
      <p:pic>
        <p:nvPicPr>
          <p:cNvPr id="3076" name="Picture 4" descr="красный крест на прозрачном фоне 28 фото">
            <a:extLst>
              <a:ext uri="{FF2B5EF4-FFF2-40B4-BE49-F238E27FC236}">
                <a16:creationId xmlns:a16="http://schemas.microsoft.com/office/drawing/2014/main" id="{8D769439-E3CC-E586-88F1-8A7CDCF63C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1509" y="1737109"/>
            <a:ext cx="7108580" cy="4739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8303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>
            <a:normAutofit/>
          </a:bodyPr>
          <a:lstStyle/>
          <a:p>
            <a:r>
              <a:rPr lang="en" b="1" i="0" dirty="0">
                <a:solidFill>
                  <a:schemeClr val="tx1"/>
                </a:solidFill>
                <a:effectLst/>
              </a:rPr>
              <a:t>Planner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52A127B-C4EF-4B72-729C-69B26E3AE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650" y="2387600"/>
            <a:ext cx="6870700" cy="2082800"/>
          </a:xfrm>
          <a:prstGeom prst="rect">
            <a:avLst/>
          </a:prstGeom>
        </p:spPr>
      </p:pic>
      <p:pic>
        <p:nvPicPr>
          <p:cNvPr id="1026" name="Picture 2" descr="Лупа – Бесплатные иконки: инструменты редактирования">
            <a:extLst>
              <a:ext uri="{FF2B5EF4-FFF2-40B4-BE49-F238E27FC236}">
                <a16:creationId xmlns:a16="http://schemas.microsoft.com/office/drawing/2014/main" id="{3B80DC5E-5DBF-3D9B-0926-63F12A4512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4329" y="1535094"/>
            <a:ext cx="3737987" cy="3737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19155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>
            <a:normAutofit/>
          </a:bodyPr>
          <a:lstStyle/>
          <a:p>
            <a:r>
              <a:rPr lang="en" b="1" i="0" dirty="0">
                <a:solidFill>
                  <a:schemeClr val="tx1"/>
                </a:solidFill>
                <a:effectLst/>
              </a:rPr>
              <a:t>Planner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4C06AFC-2FA6-BFC5-FB3B-05A60C0EA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805" y="1494774"/>
            <a:ext cx="9102390" cy="4436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6907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2" name="Picture 4" descr="Наследники">
            <a:extLst>
              <a:ext uri="{FF2B5EF4-FFF2-40B4-BE49-F238E27FC236}">
                <a16:creationId xmlns:a16="http://schemas.microsoft.com/office/drawing/2014/main" id="{2F32B1B6-C8FB-29FC-3F70-0B5F01658A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366" y="435219"/>
            <a:ext cx="10644554" cy="598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48565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chemeClr val="tx1"/>
                </a:solidFill>
                <a:latin typeface="-apple-system"/>
              </a:rPr>
              <a:t>Наследники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13762AD-DEC0-059C-F42C-C75BA0B6F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001" y="1668199"/>
            <a:ext cx="9601201" cy="4859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1225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>
            <a:normAutofit/>
          </a:bodyPr>
          <a:lstStyle/>
          <a:p>
            <a:pPr algn="l"/>
            <a:r>
              <a:rPr lang="ru-RU" b="1" i="0" dirty="0">
                <a:solidFill>
                  <a:schemeClr val="tx1"/>
                </a:solidFill>
                <a:effectLst/>
                <a:latin typeface="-apple-system"/>
              </a:rPr>
              <a:t>Пример: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BA5484D-27D7-DAEE-D2A4-DC8D2A658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777" y="1344302"/>
            <a:ext cx="2654300" cy="4584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4135C4-4309-AB35-7AC6-B3C6EFBE3150}"/>
              </a:ext>
            </a:extLst>
          </p:cNvPr>
          <p:cNvSpPr txBox="1"/>
          <p:nvPr/>
        </p:nvSpPr>
        <p:spPr>
          <a:xfrm>
            <a:off x="1939332" y="3748035"/>
            <a:ext cx="40799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На что это похоже ?</a:t>
            </a:r>
          </a:p>
        </p:txBody>
      </p:sp>
    </p:spTree>
    <p:extLst>
      <p:ext uri="{BB962C8B-B14F-4D97-AF65-F5344CB8AC3E}">
        <p14:creationId xmlns:p14="http://schemas.microsoft.com/office/powerpoint/2010/main" val="8904190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>
            <a:normAutofit/>
          </a:bodyPr>
          <a:lstStyle/>
          <a:p>
            <a:pPr algn="l"/>
            <a:r>
              <a:rPr lang="ru-RU" b="1" i="0" dirty="0">
                <a:solidFill>
                  <a:schemeClr val="tx1"/>
                </a:solidFill>
                <a:effectLst/>
                <a:latin typeface="-apple-system"/>
              </a:rPr>
              <a:t>Пример: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BA5484D-27D7-DAEE-D2A4-DC8D2A658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777" y="1344302"/>
            <a:ext cx="2654300" cy="4584700"/>
          </a:xfrm>
          <a:prstGeom prst="rect">
            <a:avLst/>
          </a:prstGeom>
        </p:spPr>
      </p:pic>
      <p:pic>
        <p:nvPicPr>
          <p:cNvPr id="4100" name="Picture 4" descr="МатрёшИгрушка&quot; Матрешка 3 в 1 5 х 5 х 10 см Зимние узоры М03110401 купить  за 629,00 ₽ в интернет-магазине Леонардо">
            <a:extLst>
              <a:ext uri="{FF2B5EF4-FFF2-40B4-BE49-F238E27FC236}">
                <a16:creationId xmlns:a16="http://schemas.microsoft.com/office/drawing/2014/main" id="{8F793F54-A662-DA23-70B4-2404A2B91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794106"/>
            <a:ext cx="3984171" cy="398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21704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AF42F2-89CD-3CE7-AF28-AE3C12E83C6B}"/>
              </a:ext>
            </a:extLst>
          </p:cNvPr>
          <p:cNvSpPr txBox="1"/>
          <p:nvPr/>
        </p:nvSpPr>
        <p:spPr>
          <a:xfrm>
            <a:off x="2551444" y="1098110"/>
            <a:ext cx="708911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0" i="0" dirty="0">
                <a:effectLst/>
                <a:latin typeface="-apple-system"/>
              </a:rPr>
              <a:t>План выражает структуру запроса, но ещё не физическую стратегию выполнения.</a:t>
            </a:r>
          </a:p>
          <a:p>
            <a:pPr algn="ctr"/>
            <a:endParaRPr lang="ru-RU" sz="4800" dirty="0">
              <a:latin typeface="-apple-system"/>
            </a:endParaRPr>
          </a:p>
          <a:p>
            <a:pPr algn="ctr"/>
            <a:r>
              <a:rPr lang="ru-RU" sz="4800" b="0" i="0" dirty="0">
                <a:effectLst/>
                <a:latin typeface="-apple-system"/>
              </a:rPr>
              <a:t>Для чего это нужно ?</a:t>
            </a:r>
          </a:p>
        </p:txBody>
      </p:sp>
    </p:spTree>
    <p:extLst>
      <p:ext uri="{BB962C8B-B14F-4D97-AF65-F5344CB8AC3E}">
        <p14:creationId xmlns:p14="http://schemas.microsoft.com/office/powerpoint/2010/main" val="20782881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AF42F2-89CD-3CE7-AF28-AE3C12E83C6B}"/>
              </a:ext>
            </a:extLst>
          </p:cNvPr>
          <p:cNvSpPr txBox="1"/>
          <p:nvPr/>
        </p:nvSpPr>
        <p:spPr>
          <a:xfrm>
            <a:off x="1075172" y="498737"/>
            <a:ext cx="104703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/>
              <a:t>Задание</a:t>
            </a:r>
            <a:r>
              <a:rPr lang="en-US" sz="4000" dirty="0"/>
              <a:t>. </a:t>
            </a:r>
            <a:r>
              <a:rPr lang="ru-RU" sz="4000" dirty="0"/>
              <a:t>Практика </a:t>
            </a:r>
            <a:r>
              <a:rPr lang="en-US" sz="4000" dirty="0"/>
              <a:t>#1</a:t>
            </a:r>
            <a:endParaRPr lang="ru-RU" sz="4000" b="0" i="0" dirty="0">
              <a:effectLst/>
              <a:latin typeface="-apple-system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7D9F96-B51B-9EAF-6E29-C0355F88EA4E}"/>
              </a:ext>
            </a:extLst>
          </p:cNvPr>
          <p:cNvSpPr txBox="1"/>
          <p:nvPr/>
        </p:nvSpPr>
        <p:spPr>
          <a:xfrm>
            <a:off x="1271115" y="6174597"/>
            <a:ext cx="8726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/central-university-dev/cu-database-internals-practice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40C8517-4CC0-2C17-C128-754758A56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172" y="2921613"/>
            <a:ext cx="11016093" cy="25321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4944959-63E0-3C28-61F5-1724D4F121FF}"/>
              </a:ext>
            </a:extLst>
          </p:cNvPr>
          <p:cNvSpPr txBox="1"/>
          <p:nvPr/>
        </p:nvSpPr>
        <p:spPr>
          <a:xfrm>
            <a:off x="1075172" y="1723760"/>
            <a:ext cx="58087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500" dirty="0"/>
              <a:t>Вся практика </a:t>
            </a:r>
            <a:r>
              <a:rPr lang="en-US" sz="2500" dirty="0" err="1"/>
              <a:t>б</a:t>
            </a:r>
            <a:r>
              <a:rPr lang="ru-RU" sz="2500" dirty="0" err="1"/>
              <a:t>удет</a:t>
            </a:r>
            <a:r>
              <a:rPr lang="ru-RU" sz="2500" dirty="0"/>
              <a:t> для </a:t>
            </a:r>
            <a:r>
              <a:rPr lang="ru-RU" sz="2500" dirty="0" err="1"/>
              <a:t>C</a:t>
            </a:r>
            <a:r>
              <a:rPr lang="en-US" sz="2500" dirty="0"/>
              <a:t>REATE </a:t>
            </a:r>
            <a:r>
              <a:rPr lang="en-US" sz="2500" dirty="0" err="1"/>
              <a:t>и</a:t>
            </a:r>
            <a:r>
              <a:rPr lang="ru-RU" sz="2500" dirty="0"/>
              <a:t> I</a:t>
            </a:r>
            <a:r>
              <a:rPr lang="en-US" sz="2500" dirty="0"/>
              <a:t>NSERT</a:t>
            </a:r>
            <a:endParaRPr lang="ru-RU" sz="2500" dirty="0"/>
          </a:p>
        </p:txBody>
      </p:sp>
    </p:spTree>
    <p:extLst>
      <p:ext uri="{BB962C8B-B14F-4D97-AF65-F5344CB8AC3E}">
        <p14:creationId xmlns:p14="http://schemas.microsoft.com/office/powerpoint/2010/main" val="37595909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en" b="1" i="0" dirty="0">
                <a:solidFill>
                  <a:schemeClr val="tx1"/>
                </a:solidFill>
                <a:effectLst/>
                <a:latin typeface="-apple-system"/>
              </a:rPr>
              <a:t>Optimizer</a:t>
            </a:r>
            <a:endParaRPr lang="en-US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06225AB-4A35-358C-3B4A-1D061B206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0" y="2388577"/>
            <a:ext cx="726440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3537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en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PhysicalPlanNode</a:t>
            </a:r>
            <a:endParaRPr lang="en-US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C069985-41D8-3934-C1E7-9377B5CF1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459" y="2059912"/>
            <a:ext cx="11036106" cy="394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475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6" name="Picture 6" descr="Пнг Комикс облачко 31 фото">
            <a:extLst>
              <a:ext uri="{FF2B5EF4-FFF2-40B4-BE49-F238E27FC236}">
                <a16:creationId xmlns:a16="http://schemas.microsoft.com/office/drawing/2014/main" id="{D70894A3-AFD3-08E6-1519-4AD53ECE4D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5288" y="0"/>
            <a:ext cx="5627356" cy="434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3FF093-1F74-F4FD-630E-AC976378BA2B}"/>
              </a:ext>
            </a:extLst>
          </p:cNvPr>
          <p:cNvSpPr txBox="1"/>
          <p:nvPr/>
        </p:nvSpPr>
        <p:spPr>
          <a:xfrm>
            <a:off x="5667271" y="1126081"/>
            <a:ext cx="497393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500" dirty="0"/>
              <a:t>Хочу почитать </a:t>
            </a:r>
            <a:r>
              <a:rPr lang="ru-RU" sz="2500" b="0" i="0" dirty="0">
                <a:effectLst/>
              </a:rPr>
              <a:t>«Высоконагруженные приложения. Программирование, масштабирование, поддержка»</a:t>
            </a:r>
          </a:p>
        </p:txBody>
      </p:sp>
      <p:pic>
        <p:nvPicPr>
          <p:cNvPr id="10250" name="Picture 10" descr="школьники PNG и картинки пнг | рисунок Векторы и PSD | Бесплатная загрузка  на Pngtree">
            <a:extLst>
              <a:ext uri="{FF2B5EF4-FFF2-40B4-BE49-F238E27FC236}">
                <a16:creationId xmlns:a16="http://schemas.microsoft.com/office/drawing/2014/main" id="{30CBD86E-2ABA-020F-C25B-42B8A6636F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551" y="2170551"/>
            <a:ext cx="5134986" cy="5134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26271E-56BD-4F11-EBDC-EFC00B783774}"/>
              </a:ext>
            </a:extLst>
          </p:cNvPr>
          <p:cNvSpPr txBox="1"/>
          <p:nvPr/>
        </p:nvSpPr>
        <p:spPr>
          <a:xfrm>
            <a:off x="1309356" y="1526190"/>
            <a:ext cx="28336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Э</a:t>
            </a:r>
            <a:r>
              <a:rPr lang="ru-RU" sz="2400" dirty="0"/>
              <a:t>то Ваня, </a:t>
            </a:r>
          </a:p>
          <a:p>
            <a:pPr algn="ctr"/>
            <a:r>
              <a:rPr lang="ru-RU" sz="2400" dirty="0"/>
              <a:t>и он изучает БД</a:t>
            </a:r>
          </a:p>
        </p:txBody>
      </p:sp>
    </p:spTree>
    <p:extLst>
      <p:ext uri="{BB962C8B-B14F-4D97-AF65-F5344CB8AC3E}">
        <p14:creationId xmlns:p14="http://schemas.microsoft.com/office/powerpoint/2010/main" val="1274834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en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LogicalPlan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3FF093-1F74-F4FD-630E-AC976378BA2B}"/>
              </a:ext>
            </a:extLst>
          </p:cNvPr>
          <p:cNvSpPr txBox="1"/>
          <p:nvPr/>
        </p:nvSpPr>
        <p:spPr>
          <a:xfrm>
            <a:off x="1225764" y="2038480"/>
            <a:ext cx="42353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000" dirty="0"/>
              <a:t>1. Добраться до Библиотеки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73F7C3-FD57-9497-5ADC-9AF2013B1B30}"/>
              </a:ext>
            </a:extLst>
          </p:cNvPr>
          <p:cNvSpPr txBox="1">
            <a:spLocks/>
          </p:cNvSpPr>
          <p:nvPr/>
        </p:nvSpPr>
        <p:spPr>
          <a:xfrm>
            <a:off x="6729046" y="685800"/>
            <a:ext cx="4572000" cy="716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 dirty="0" err="1">
                <a:solidFill>
                  <a:srgbClr val="000000"/>
                </a:solidFill>
                <a:latin typeface="-webkit-standard"/>
              </a:rPr>
              <a:t>PhysicalPlan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7E0A2A-2A4D-A5BF-95B1-0836B60A5FCB}"/>
              </a:ext>
            </a:extLst>
          </p:cNvPr>
          <p:cNvSpPr txBox="1"/>
          <p:nvPr/>
        </p:nvSpPr>
        <p:spPr>
          <a:xfrm>
            <a:off x="1225764" y="3787895"/>
            <a:ext cx="394370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2</a:t>
            </a:r>
            <a:r>
              <a:rPr lang="ru-RU" sz="3000" dirty="0"/>
              <a:t>. Найти нужную книгу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09B0AE-91ED-3065-704E-9779810D1303}"/>
              </a:ext>
            </a:extLst>
          </p:cNvPr>
          <p:cNvSpPr txBox="1"/>
          <p:nvPr/>
        </p:nvSpPr>
        <p:spPr>
          <a:xfrm>
            <a:off x="1225764" y="5156537"/>
            <a:ext cx="42353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000" dirty="0"/>
              <a:t>3. Договориться о сроке возврата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A1F8C6-0C45-9C9C-9784-CF7D4D38F9F4}"/>
              </a:ext>
            </a:extLst>
          </p:cNvPr>
          <p:cNvSpPr txBox="1"/>
          <p:nvPr/>
        </p:nvSpPr>
        <p:spPr>
          <a:xfrm>
            <a:off x="5888335" y="1822495"/>
            <a:ext cx="61395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000" dirty="0"/>
              <a:t>1. Как добраться до Библиотеки:</a:t>
            </a:r>
          </a:p>
          <a:p>
            <a:r>
              <a:rPr lang="ru-RU" sz="3000" dirty="0"/>
              <a:t> - на автобусе</a:t>
            </a:r>
          </a:p>
          <a:p>
            <a:r>
              <a:rPr lang="ru-RU" sz="3000" dirty="0"/>
              <a:t> - пешком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FFB210-6FDB-FB87-6815-426A0D1B49AB}"/>
              </a:ext>
            </a:extLst>
          </p:cNvPr>
          <p:cNvSpPr txBox="1"/>
          <p:nvPr/>
        </p:nvSpPr>
        <p:spPr>
          <a:xfrm>
            <a:off x="5888336" y="3535572"/>
            <a:ext cx="613954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2. Как найти нужную книгу :</a:t>
            </a:r>
          </a:p>
          <a:p>
            <a:r>
              <a:rPr lang="ru-RU" sz="2800" dirty="0"/>
              <a:t> - самостоятельно </a:t>
            </a:r>
          </a:p>
          <a:p>
            <a:r>
              <a:rPr lang="ru-RU" sz="2800" dirty="0"/>
              <a:t> - с помощью </a:t>
            </a:r>
            <a:r>
              <a:rPr lang="ru-RU" sz="2800" strike="sngStrike" dirty="0"/>
              <a:t>индексов</a:t>
            </a:r>
            <a:r>
              <a:rPr lang="ru-RU" sz="2800" dirty="0"/>
              <a:t> библиотекаря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2B593F-2B11-C603-D589-C663EB4AE7AA}"/>
              </a:ext>
            </a:extLst>
          </p:cNvPr>
          <p:cNvSpPr txBox="1"/>
          <p:nvPr/>
        </p:nvSpPr>
        <p:spPr>
          <a:xfrm>
            <a:off x="5888335" y="5156316"/>
            <a:ext cx="613954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3. Как договориться о сроке возврата:</a:t>
            </a:r>
          </a:p>
          <a:p>
            <a:r>
              <a:rPr lang="ru-RU" sz="2800" dirty="0"/>
              <a:t> - честное пионерское</a:t>
            </a:r>
          </a:p>
          <a:p>
            <a:r>
              <a:rPr lang="ru-RU" sz="2800" dirty="0"/>
              <a:t> - дать расписку</a:t>
            </a:r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4183819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en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LogicalPlanNode</a:t>
            </a:r>
            <a:r>
              <a:rPr lang="e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VS </a:t>
            </a:r>
            <a:r>
              <a:rPr lang="en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PhysicalPlanNode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0DA11B-6F13-D5BB-BCDE-9B0F0D8DF842}"/>
              </a:ext>
            </a:extLst>
          </p:cNvPr>
          <p:cNvSpPr txBox="1"/>
          <p:nvPr/>
        </p:nvSpPr>
        <p:spPr>
          <a:xfrm>
            <a:off x="1507253" y="3245618"/>
            <a:ext cx="976699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3000" b="1" dirty="0" err="1"/>
              <a:t>LogicalPlan</a:t>
            </a:r>
            <a:r>
              <a:rPr lang="en" sz="3000" dirty="0"/>
              <a:t> = «</a:t>
            </a:r>
            <a:r>
              <a:rPr lang="ru-RU" sz="3000" dirty="0"/>
              <a:t>что нужно сделать» (абстрактное описание действий).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44DAC5-25DB-88F2-8576-F9EB524677E9}"/>
              </a:ext>
            </a:extLst>
          </p:cNvPr>
          <p:cNvSpPr txBox="1"/>
          <p:nvPr/>
        </p:nvSpPr>
        <p:spPr>
          <a:xfrm>
            <a:off x="1507253" y="4561952"/>
            <a:ext cx="946554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3000" b="1" dirty="0" err="1"/>
              <a:t>PhysicalPlan</a:t>
            </a:r>
            <a:r>
              <a:rPr lang="en" sz="3000" dirty="0"/>
              <a:t> = «</a:t>
            </a:r>
            <a:r>
              <a:rPr lang="ru-RU" sz="3000" dirty="0"/>
              <a:t>как именно это делаем» (конкретные алгоритмы, ресурсы, параметры).</a:t>
            </a:r>
          </a:p>
        </p:txBody>
      </p:sp>
    </p:spTree>
    <p:extLst>
      <p:ext uri="{BB962C8B-B14F-4D97-AF65-F5344CB8AC3E}">
        <p14:creationId xmlns:p14="http://schemas.microsoft.com/office/powerpoint/2010/main" val="17936963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b="0" i="0" dirty="0">
                <a:solidFill>
                  <a:schemeClr val="tx1"/>
                </a:solidFill>
                <a:effectLst/>
              </a:rPr>
              <a:t>Зачем нужен </a:t>
            </a:r>
            <a:r>
              <a:rPr lang="en" b="0" i="0" dirty="0">
                <a:solidFill>
                  <a:schemeClr val="tx1"/>
                </a:solidFill>
                <a:effectLst/>
              </a:rPr>
              <a:t>Optimizer</a:t>
            </a:r>
            <a:r>
              <a:rPr lang="ru-RU" b="0" i="0" dirty="0">
                <a:solidFill>
                  <a:schemeClr val="tx1"/>
                </a:solidFill>
                <a:effectLst/>
              </a:rPr>
              <a:t> ?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2290" name="Picture 2" descr="Про оптимизацию систем - как я перешла работать в кафе из дома">
            <a:extLst>
              <a:ext uri="{FF2B5EF4-FFF2-40B4-BE49-F238E27FC236}">
                <a16:creationId xmlns:a16="http://schemas.microsoft.com/office/drawing/2014/main" id="{14F500EB-3FDB-7E2C-B4CC-8CDD2D6652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5859" y="1594397"/>
            <a:ext cx="5196882" cy="5002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19258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0459588-B028-52A4-D735-F0D0374F3CFB}"/>
              </a:ext>
            </a:extLst>
          </p:cNvPr>
          <p:cNvSpPr txBox="1"/>
          <p:nvPr/>
        </p:nvSpPr>
        <p:spPr>
          <a:xfrm>
            <a:off x="1195753" y="1768510"/>
            <a:ext cx="1013878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</a:rPr>
              <a:t> Он делает запросы быстрее и эффективнее, особенно на больших таблицах.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</a:rPr>
              <a:t> </a:t>
            </a:r>
            <a:r>
              <a:rPr lang="en" sz="2400" b="0" i="0" dirty="0">
                <a:effectLst/>
              </a:rPr>
              <a:t>Optimizer </a:t>
            </a:r>
            <a:r>
              <a:rPr lang="ru-RU" sz="2400" b="0" i="0" dirty="0">
                <a:effectLst/>
              </a:rPr>
              <a:t>оценивает стоимость каждого варианта (</a:t>
            </a:r>
            <a:r>
              <a:rPr lang="en" sz="2400" b="0" i="0" dirty="0">
                <a:effectLst/>
              </a:rPr>
              <a:t>cost estimation), </a:t>
            </a:r>
            <a:r>
              <a:rPr lang="ru-RU" sz="2400" b="0" i="0" dirty="0">
                <a:effectLst/>
              </a:rPr>
              <a:t>используя статистику таблиц: количество строк, распределение значений, размеры страниц и т.д.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72F97FE-0B2D-769B-42C7-2C15ECF7E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b="0" i="0" dirty="0">
                <a:solidFill>
                  <a:schemeClr val="tx1"/>
                </a:solidFill>
                <a:effectLst/>
              </a:rPr>
              <a:t>Зачем нужен </a:t>
            </a:r>
            <a:r>
              <a:rPr lang="en" b="0" i="0" dirty="0">
                <a:solidFill>
                  <a:schemeClr val="tx1"/>
                </a:solidFill>
                <a:effectLst/>
              </a:rPr>
              <a:t>Optimizer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33042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6C3E9D-04F7-81D9-5C99-B70AB3BAEB59}"/>
              </a:ext>
            </a:extLst>
          </p:cNvPr>
          <p:cNvSpPr txBox="1"/>
          <p:nvPr/>
        </p:nvSpPr>
        <p:spPr>
          <a:xfrm>
            <a:off x="1457012" y="3211009"/>
            <a:ext cx="951578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b="0" i="0" dirty="0">
                <a:effectLst/>
              </a:rPr>
              <a:t>В этой итерации будет "тупой" маппинг логического плана на физический, оптимизации различных видов разберем на отдельной лекции.</a:t>
            </a:r>
            <a:endParaRPr lang="ru-RU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CDF2DD-0C4A-1A2B-5CBE-8F3C45771A4A}"/>
              </a:ext>
            </a:extLst>
          </p:cNvPr>
          <p:cNvSpPr txBox="1"/>
          <p:nvPr/>
        </p:nvSpPr>
        <p:spPr>
          <a:xfrm>
            <a:off x="5977096" y="1004835"/>
            <a:ext cx="36166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rgbClr val="FF0000"/>
                </a:solidFill>
              </a:rPr>
              <a:t>Disclaimer</a:t>
            </a:r>
            <a:endParaRPr lang="ru-RU" sz="6000" dirty="0">
              <a:solidFill>
                <a:srgbClr val="FF0000"/>
              </a:solidFill>
            </a:endParaRPr>
          </a:p>
        </p:txBody>
      </p:sp>
      <p:pic>
        <p:nvPicPr>
          <p:cNvPr id="6146" name="Picture 2" descr="Disclamer - Self Defense Canes">
            <a:extLst>
              <a:ext uri="{FF2B5EF4-FFF2-40B4-BE49-F238E27FC236}">
                <a16:creationId xmlns:a16="http://schemas.microsoft.com/office/drawing/2014/main" id="{6CD856AC-5196-EC91-1AD7-B8124A3035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1558" y="269351"/>
            <a:ext cx="3175000" cy="264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89537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DC887FE-4F3C-CF26-353A-B670C4AF7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По сути происходит…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4A3D914-D8F8-A266-1054-00C53AEC5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385" y="1688124"/>
            <a:ext cx="11275326" cy="4564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8420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AF42F2-89CD-3CE7-AF28-AE3C12E83C6B}"/>
              </a:ext>
            </a:extLst>
          </p:cNvPr>
          <p:cNvSpPr txBox="1"/>
          <p:nvPr/>
        </p:nvSpPr>
        <p:spPr>
          <a:xfrm>
            <a:off x="1075172" y="498737"/>
            <a:ext cx="104703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/>
              <a:t>Задание</a:t>
            </a:r>
            <a:r>
              <a:rPr lang="en-US" sz="4000" dirty="0"/>
              <a:t>. </a:t>
            </a:r>
            <a:r>
              <a:rPr lang="ru-RU" sz="4000" dirty="0"/>
              <a:t>Практика </a:t>
            </a:r>
            <a:r>
              <a:rPr lang="en-US" sz="4000" dirty="0"/>
              <a:t>#</a:t>
            </a:r>
            <a:r>
              <a:rPr lang="ru-RU" sz="4000" dirty="0"/>
              <a:t>2</a:t>
            </a:r>
            <a:endParaRPr lang="ru-RU" sz="4000" b="0" i="0" dirty="0">
              <a:effectLst/>
              <a:latin typeface="-apple-system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7D9F96-B51B-9EAF-6E29-C0355F88EA4E}"/>
              </a:ext>
            </a:extLst>
          </p:cNvPr>
          <p:cNvSpPr txBox="1"/>
          <p:nvPr/>
        </p:nvSpPr>
        <p:spPr>
          <a:xfrm>
            <a:off x="1271115" y="6174597"/>
            <a:ext cx="8726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/central-university-dev/cu-database-internals-practice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638BE1A-9B8B-B022-EF80-D8E8FD977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497" y="1845687"/>
            <a:ext cx="10927642" cy="2344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1651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pPr algn="l"/>
            <a:r>
              <a:rPr lang="ru-RU" b="1" i="0" dirty="0">
                <a:solidFill>
                  <a:schemeClr val="tx1"/>
                </a:solidFill>
                <a:effectLst/>
                <a:latin typeface="-apple-system"/>
              </a:rPr>
              <a:t>Вы слышали про </a:t>
            </a:r>
            <a:r>
              <a:rPr lang="en" b="1" i="0" dirty="0">
                <a:solidFill>
                  <a:schemeClr val="tx1"/>
                </a:solidFill>
                <a:effectLst/>
                <a:latin typeface="-apple-system"/>
              </a:rPr>
              <a:t>Iterator ?</a:t>
            </a:r>
          </a:p>
        </p:txBody>
      </p:sp>
      <p:pic>
        <p:nvPicPr>
          <p:cNvPr id="16390" name="Picture 6" descr="Итератор">
            <a:extLst>
              <a:ext uri="{FF2B5EF4-FFF2-40B4-BE49-F238E27FC236}">
                <a16:creationId xmlns:a16="http://schemas.microsoft.com/office/drawing/2014/main" id="{349AB96D-153A-05A6-DE4A-53ED1B1886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3547" y="1240693"/>
            <a:ext cx="8128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23611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>
            <a:normAutofit/>
          </a:bodyPr>
          <a:lstStyle/>
          <a:p>
            <a:pPr algn="l"/>
            <a:r>
              <a:rPr lang="ru-RU" b="0" i="0" dirty="0">
                <a:solidFill>
                  <a:schemeClr val="tx1"/>
                </a:solidFill>
                <a:effectLst/>
                <a:latin typeface="-apple-system"/>
              </a:rPr>
              <a:t>Идея №1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3EC77F4-F8CD-97CB-7CB7-49A82F4F5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8783" y="1402080"/>
            <a:ext cx="9767835" cy="4974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9529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b="0" i="0" dirty="0">
                <a:solidFill>
                  <a:schemeClr val="tx1"/>
                </a:solidFill>
                <a:effectLst/>
                <a:latin typeface="-apple-system"/>
              </a:rPr>
              <a:t>Идея №2</a:t>
            </a:r>
            <a:endParaRPr lang="en-US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6E7BD6F-31B6-6982-C6B0-22003AEE2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624" y="1402080"/>
            <a:ext cx="9783314" cy="518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7055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b="0" i="0" dirty="0">
                <a:solidFill>
                  <a:schemeClr val="tx1"/>
                </a:solidFill>
                <a:effectLst/>
                <a:latin typeface="-apple-system"/>
              </a:rPr>
              <a:t>Идея №3</a:t>
            </a:r>
            <a:endParaRPr lang="en-US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A384F41-FC39-3042-F8E3-3F57F83B8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538" y="1402080"/>
            <a:ext cx="8629371" cy="5253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5201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b="0" i="0" dirty="0">
                <a:solidFill>
                  <a:schemeClr val="tx1"/>
                </a:solidFill>
                <a:effectLst/>
                <a:latin typeface="-apple-system"/>
              </a:rPr>
              <a:t>Пример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DB42028-79FD-6E9F-97B3-7072079DF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674" y="2204637"/>
            <a:ext cx="4811526" cy="716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9C844B-6678-7F7E-BF38-9326E2A8D837}"/>
              </a:ext>
            </a:extLst>
          </p:cNvPr>
          <p:cNvSpPr txBox="1"/>
          <p:nvPr/>
        </p:nvSpPr>
        <p:spPr>
          <a:xfrm>
            <a:off x="1360674" y="3723473"/>
            <a:ext cx="792312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3000" b="0" i="0" dirty="0">
                <a:effectLst/>
                <a:latin typeface="-apple-system"/>
              </a:rPr>
              <a:t>Какая будет дерево </a:t>
            </a:r>
            <a:r>
              <a:rPr lang="en" sz="30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LogicalPlan</a:t>
            </a:r>
            <a:r>
              <a:rPr lang="ru-RU" sz="3000" dirty="0" err="1">
                <a:solidFill>
                  <a:srgbClr val="000000"/>
                </a:solidFill>
                <a:latin typeface="-webkit-standard"/>
              </a:rPr>
              <a:t>N</a:t>
            </a:r>
            <a:r>
              <a:rPr lang="en-US" sz="3000" dirty="0">
                <a:solidFill>
                  <a:srgbClr val="000000"/>
                </a:solidFill>
                <a:latin typeface="-webkit-standard"/>
              </a:rPr>
              <a:t>ode</a:t>
            </a:r>
            <a:r>
              <a:rPr lang="ru-RU" sz="3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?</a:t>
            </a:r>
            <a:r>
              <a:rPr lang="ru-RU" sz="3000" b="0" i="0" dirty="0">
                <a:effectLst/>
                <a:latin typeface="-apple-system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0849165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b="0" i="0" dirty="0">
                <a:solidFill>
                  <a:schemeClr val="tx1"/>
                </a:solidFill>
                <a:effectLst/>
                <a:latin typeface="-apple-system"/>
              </a:rPr>
              <a:t>Пример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DB42028-79FD-6E9F-97B3-7072079DF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674" y="2204637"/>
            <a:ext cx="4811526" cy="716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9C844B-6678-7F7E-BF38-9326E2A8D837}"/>
              </a:ext>
            </a:extLst>
          </p:cNvPr>
          <p:cNvSpPr txBox="1"/>
          <p:nvPr/>
        </p:nvSpPr>
        <p:spPr>
          <a:xfrm>
            <a:off x="1360674" y="3723473"/>
            <a:ext cx="7923125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600" b="0" i="0" dirty="0">
                <a:effectLst/>
                <a:latin typeface="-apple-system"/>
              </a:rPr>
              <a:t> </a:t>
            </a:r>
            <a:r>
              <a:rPr lang="en" sz="2600" b="0" i="0" dirty="0" err="1">
                <a:effectLst/>
                <a:latin typeface="-apple-system"/>
              </a:rPr>
              <a:t>ProjectExecutor</a:t>
            </a:r>
            <a:r>
              <a:rPr lang="en" sz="2600" dirty="0" err="1">
                <a:latin typeface="-apple-system"/>
              </a:rPr>
              <a:t>.</a:t>
            </a:r>
            <a:r>
              <a:rPr lang="en" sz="2600" b="0" i="0" dirty="0" err="1">
                <a:effectLst/>
                <a:latin typeface="-apple-system"/>
              </a:rPr>
              <a:t>next</a:t>
            </a:r>
            <a:r>
              <a:rPr lang="en" sz="2600" b="0" i="0" dirty="0">
                <a:effectLst/>
                <a:latin typeface="-apple-system"/>
              </a:rPr>
              <a:t>() → </a:t>
            </a:r>
            <a:r>
              <a:rPr lang="ru-RU" sz="2600" b="0" i="0" dirty="0">
                <a:effectLst/>
                <a:latin typeface="-apple-system"/>
              </a:rPr>
              <a:t>вызывает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600" b="0" i="0" dirty="0">
                <a:effectLst/>
                <a:latin typeface="-apple-system"/>
              </a:rPr>
              <a:t> </a:t>
            </a:r>
            <a:r>
              <a:rPr lang="en" sz="2600" b="0" i="0" dirty="0" err="1">
                <a:effectLst/>
                <a:latin typeface="-apple-system"/>
              </a:rPr>
              <a:t>FilterExecutor</a:t>
            </a:r>
            <a:r>
              <a:rPr lang="en" sz="2600" dirty="0" err="1">
                <a:latin typeface="-apple-system"/>
              </a:rPr>
              <a:t>.</a:t>
            </a:r>
            <a:r>
              <a:rPr lang="en" sz="2600" b="0" i="0" dirty="0" err="1">
                <a:effectLst/>
                <a:latin typeface="-apple-system"/>
              </a:rPr>
              <a:t>next</a:t>
            </a:r>
            <a:r>
              <a:rPr lang="en" sz="2600" b="0" i="0" dirty="0">
                <a:effectLst/>
                <a:latin typeface="-apple-system"/>
              </a:rPr>
              <a:t>() → </a:t>
            </a:r>
            <a:r>
              <a:rPr lang="ru-RU" sz="2600" b="0" i="0" dirty="0">
                <a:effectLst/>
                <a:latin typeface="-apple-system"/>
              </a:rPr>
              <a:t>вызывает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600" b="0" i="0" dirty="0">
                <a:effectLst/>
                <a:latin typeface="-apple-system"/>
              </a:rPr>
              <a:t> </a:t>
            </a:r>
            <a:r>
              <a:rPr lang="en" sz="2600" b="0" i="0" dirty="0" err="1">
                <a:effectLst/>
                <a:latin typeface="-apple-system"/>
              </a:rPr>
              <a:t>SeqScanExecutor</a:t>
            </a:r>
            <a:r>
              <a:rPr lang="en" sz="2600" dirty="0" err="1">
                <a:latin typeface="-apple-system"/>
              </a:rPr>
              <a:t>.</a:t>
            </a:r>
            <a:r>
              <a:rPr lang="en" sz="2600" b="0" i="0" dirty="0" err="1">
                <a:effectLst/>
                <a:latin typeface="-apple-system"/>
              </a:rPr>
              <a:t>next</a:t>
            </a:r>
            <a:r>
              <a:rPr lang="en" sz="2600" b="0" i="0" dirty="0">
                <a:effectLst/>
                <a:latin typeface="-apple-system"/>
              </a:rPr>
              <a:t>() → </a:t>
            </a:r>
            <a:r>
              <a:rPr lang="ru-RU" sz="2600" b="0" i="0" dirty="0">
                <a:effectLst/>
                <a:latin typeface="-apple-system"/>
              </a:rPr>
              <a:t>читает кортежи из таблицы</a:t>
            </a:r>
          </a:p>
        </p:txBody>
      </p:sp>
    </p:spTree>
    <p:extLst>
      <p:ext uri="{BB962C8B-B14F-4D97-AF65-F5344CB8AC3E}">
        <p14:creationId xmlns:p14="http://schemas.microsoft.com/office/powerpoint/2010/main" val="31624498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>
            <a:normAutofit/>
          </a:bodyPr>
          <a:lstStyle/>
          <a:p>
            <a:pPr algn="l"/>
            <a:r>
              <a:rPr lang="ru-RU" b="1" i="0" dirty="0">
                <a:solidFill>
                  <a:schemeClr val="tx1"/>
                </a:solidFill>
                <a:effectLst/>
                <a:latin typeface="-apple-system"/>
              </a:rPr>
              <a:t>Вы слышали про </a:t>
            </a:r>
            <a:r>
              <a:rPr lang="en" b="1" i="0" dirty="0">
                <a:solidFill>
                  <a:schemeClr val="tx1"/>
                </a:solidFill>
                <a:effectLst/>
                <a:latin typeface="-apple-system"/>
              </a:rPr>
              <a:t>Decorator ?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5366" name="Picture 6" descr="Декоратор">
            <a:extLst>
              <a:ext uri="{FF2B5EF4-FFF2-40B4-BE49-F238E27FC236}">
                <a16:creationId xmlns:a16="http://schemas.microsoft.com/office/drawing/2014/main" id="{633C4315-B909-35C9-7846-E7BAC64F47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1218" y="1331126"/>
            <a:ext cx="8311103" cy="5194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64571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en-US" dirty="0" err="1"/>
              <a:t>П</a:t>
            </a:r>
            <a:r>
              <a:rPr lang="ru-RU" dirty="0" err="1"/>
              <a:t>ример</a:t>
            </a:r>
            <a:r>
              <a:rPr lang="ru-RU" dirty="0"/>
              <a:t> из </a:t>
            </a:r>
            <a:r>
              <a:rPr lang="en-US" dirty="0" err="1"/>
              <a:t>java.io</a:t>
            </a:r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CB9F6C1-29EE-40FA-2485-BF4067058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348115"/>
            <a:ext cx="8763000" cy="5502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385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Перекладывая на </a:t>
            </a:r>
            <a:r>
              <a:rPr lang="ru-RU" dirty="0" err="1"/>
              <a:t>S</a:t>
            </a:r>
            <a:r>
              <a:rPr lang="en-US" dirty="0"/>
              <a:t>ELECT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89F7B37-6652-72A0-1690-654CD347A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767" y="2100105"/>
            <a:ext cx="11107465" cy="4541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0681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>
            <a:normAutofit/>
          </a:bodyPr>
          <a:lstStyle/>
          <a:p>
            <a:r>
              <a:rPr lang="ru-RU" b="1" i="0" dirty="0">
                <a:solidFill>
                  <a:schemeClr val="tx1"/>
                </a:solidFill>
                <a:effectLst/>
                <a:latin typeface="-apple-system"/>
              </a:rPr>
              <a:t>Пример цепочки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132B9AB-20B9-72DA-1412-C04C62F73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8199"/>
            <a:ext cx="8645177" cy="3589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3878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Соединяя оба подхода</a:t>
            </a:r>
            <a:endParaRPr lang="en-US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7C88B4C-C9D4-0CD6-EFBD-25E7FF301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992" y="2232597"/>
            <a:ext cx="10924536" cy="3645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4682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>
            <a:normAutofit/>
          </a:bodyPr>
          <a:lstStyle/>
          <a:p>
            <a:r>
              <a:rPr lang="en" b="1" i="0" dirty="0">
                <a:solidFill>
                  <a:schemeClr val="tx1"/>
                </a:solidFill>
                <a:effectLst/>
                <a:latin typeface="-apple-system"/>
              </a:rPr>
              <a:t>Volcano/Iterator model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10BD8A-E695-EE0C-653C-4EDB6B74A2B6}"/>
              </a:ext>
            </a:extLst>
          </p:cNvPr>
          <p:cNvSpPr txBox="1"/>
          <p:nvPr/>
        </p:nvSpPr>
        <p:spPr>
          <a:xfrm>
            <a:off x="2172956" y="3190910"/>
            <a:ext cx="7998488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500" b="0" i="0" dirty="0">
                <a:solidFill>
                  <a:schemeClr val="tx1"/>
                </a:solidFill>
                <a:effectLst/>
                <a:latin typeface="-apple-system"/>
              </a:rPr>
              <a:t>Volcano/Iterator model — </a:t>
            </a:r>
            <a:r>
              <a:rPr lang="ru-RU" sz="2500" b="0" i="0" dirty="0">
                <a:solidFill>
                  <a:schemeClr val="tx1"/>
                </a:solidFill>
                <a:effectLst/>
                <a:latin typeface="-apple-system"/>
              </a:rPr>
              <a:t>это классический способ построения исполнителя запросов в реляционных СУБД (в том числе в </a:t>
            </a:r>
            <a:r>
              <a:rPr lang="en" sz="2500" b="0" i="0" dirty="0">
                <a:solidFill>
                  <a:schemeClr val="tx1"/>
                </a:solidFill>
                <a:effectLst/>
                <a:latin typeface="-apple-system"/>
              </a:rPr>
              <a:t>PostgreSQL)</a:t>
            </a:r>
            <a:endParaRPr lang="en-US" sz="2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95849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>
            <a:normAutofit/>
          </a:bodyPr>
          <a:lstStyle/>
          <a:p>
            <a:r>
              <a:rPr lang="ru-RU" b="1" i="0" dirty="0">
                <a:solidFill>
                  <a:schemeClr val="tx1"/>
                </a:solidFill>
                <a:effectLst/>
                <a:latin typeface="-apple-system"/>
              </a:rPr>
              <a:t>Пример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874415B-6191-40BB-6E49-CC6A35AE5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23137"/>
            <a:ext cx="6088619" cy="8104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FD3E1D-B14A-FF01-07C7-9D6DFF58E8AC}"/>
              </a:ext>
            </a:extLst>
          </p:cNvPr>
          <p:cNvSpPr txBox="1"/>
          <p:nvPr/>
        </p:nvSpPr>
        <p:spPr>
          <a:xfrm>
            <a:off x="6742445" y="3617931"/>
            <a:ext cx="461565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/>
              <a:t>Какой будет цепочка вызовов??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9384E66-8431-9DDB-FAF0-7803C0975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996454"/>
            <a:ext cx="4615654" cy="3600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4118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>
            <a:normAutofit/>
          </a:bodyPr>
          <a:lstStyle/>
          <a:p>
            <a:r>
              <a:rPr lang="ru-RU" b="1" i="0" dirty="0">
                <a:solidFill>
                  <a:schemeClr val="tx1"/>
                </a:solidFill>
                <a:effectLst/>
                <a:latin typeface="-apple-system"/>
              </a:rPr>
              <a:t>Пример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874415B-6191-40BB-6E49-CC6A35AE5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23137"/>
            <a:ext cx="6088619" cy="81049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9384E66-8431-9DDB-FAF0-7803C0975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996454"/>
            <a:ext cx="4615654" cy="36000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3E4E58C-E45D-B5A9-60DC-13EB3A064480}"/>
              </a:ext>
            </a:extLst>
          </p:cNvPr>
          <p:cNvSpPr txBox="1"/>
          <p:nvPr/>
        </p:nvSpPr>
        <p:spPr>
          <a:xfrm>
            <a:off x="8430568" y="2996454"/>
            <a:ext cx="2964264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500" b="0" i="0" dirty="0">
                <a:effectLst/>
                <a:latin typeface="-apple-system"/>
              </a:rPr>
              <a:t>1. </a:t>
            </a:r>
            <a:r>
              <a:rPr lang="en" sz="2500" b="0" i="0" dirty="0">
                <a:effectLst/>
                <a:latin typeface="-apple-system"/>
              </a:rPr>
              <a:t>Project</a:t>
            </a:r>
          </a:p>
          <a:p>
            <a:pPr algn="l"/>
            <a:r>
              <a:rPr lang="en" sz="2500" b="0" i="0" dirty="0">
                <a:effectLst/>
                <a:latin typeface="-apple-system"/>
              </a:rPr>
              <a:t>2. Filter </a:t>
            </a:r>
            <a:endParaRPr lang="ru-RU" sz="2500" b="0" i="0" dirty="0">
              <a:effectLst/>
              <a:latin typeface="-apple-system"/>
            </a:endParaRPr>
          </a:p>
          <a:p>
            <a:pPr algn="l"/>
            <a:r>
              <a:rPr lang="en" sz="2500" b="0" i="0" dirty="0">
                <a:effectLst/>
                <a:latin typeface="-apple-system"/>
              </a:rPr>
              <a:t>3. </a:t>
            </a:r>
            <a:r>
              <a:rPr lang="en" sz="2500" b="0" i="0" dirty="0" err="1">
                <a:effectLst/>
                <a:latin typeface="-apple-system"/>
              </a:rPr>
              <a:t>SeqScan</a:t>
            </a:r>
            <a:r>
              <a:rPr lang="en" sz="2500" b="0" i="0" dirty="0">
                <a:effectLst/>
                <a:latin typeface="-apple-system"/>
              </a:rPr>
              <a:t> </a:t>
            </a:r>
            <a:endParaRPr lang="ru-RU" sz="2500" b="0" i="0" dirty="0">
              <a:effectLst/>
              <a:latin typeface="-apple-system"/>
            </a:endParaRPr>
          </a:p>
          <a:p>
            <a:pPr algn="l"/>
            <a:r>
              <a:rPr lang="en" sz="2500" b="0" i="0" dirty="0">
                <a:effectLst/>
                <a:latin typeface="-apple-system"/>
              </a:rPr>
              <a:t>4. Filter</a:t>
            </a:r>
            <a:endParaRPr lang="ru-RU" sz="2500" b="0" i="0" dirty="0">
              <a:effectLst/>
              <a:latin typeface="-apple-system"/>
            </a:endParaRPr>
          </a:p>
          <a:p>
            <a:pPr algn="l"/>
            <a:r>
              <a:rPr lang="ru-RU" sz="2500" b="0" i="0" dirty="0">
                <a:effectLst/>
                <a:latin typeface="-apple-system"/>
              </a:rPr>
              <a:t>5. </a:t>
            </a:r>
            <a:r>
              <a:rPr lang="en" sz="2500" b="0" i="0" dirty="0" err="1">
                <a:effectLst/>
                <a:latin typeface="-apple-system"/>
              </a:rPr>
              <a:t>SeqScan</a:t>
            </a:r>
            <a:endParaRPr lang="en" sz="2500" b="0" i="0" dirty="0">
              <a:effectLst/>
              <a:latin typeface="-apple-system"/>
            </a:endParaRPr>
          </a:p>
          <a:p>
            <a:pPr algn="l"/>
            <a:r>
              <a:rPr lang="en" sz="2500" b="0" i="0" dirty="0">
                <a:effectLst/>
                <a:latin typeface="-apple-system"/>
              </a:rPr>
              <a:t>5. Filter</a:t>
            </a:r>
          </a:p>
          <a:p>
            <a:pPr algn="l"/>
            <a:r>
              <a:rPr lang="en" sz="2500" dirty="0">
                <a:latin typeface="-apple-system"/>
              </a:rPr>
              <a:t>6. Project</a:t>
            </a:r>
          </a:p>
          <a:p>
            <a:pPr algn="l"/>
            <a:endParaRPr lang="ru-RU" sz="2500" b="0" i="0" dirty="0">
              <a:effectLst/>
              <a:latin typeface="-apple-system"/>
            </a:endParaRPr>
          </a:p>
          <a:p>
            <a:pPr algn="l"/>
            <a:r>
              <a:rPr lang="en" sz="2500" b="0" i="0" dirty="0">
                <a:effectLst/>
                <a:latin typeface="-apple-system"/>
              </a:rPr>
              <a:t>… </a:t>
            </a:r>
            <a:r>
              <a:rPr lang="en" sz="2500" dirty="0" err="1">
                <a:latin typeface="-apple-system"/>
              </a:rPr>
              <a:t>е</a:t>
            </a:r>
            <a:r>
              <a:rPr lang="ru-RU" sz="2500" dirty="0" err="1">
                <a:latin typeface="-apple-system"/>
              </a:rPr>
              <a:t>ще</a:t>
            </a:r>
            <a:r>
              <a:rPr lang="ru-RU" sz="2500" dirty="0">
                <a:latin typeface="-apple-system"/>
              </a:rPr>
              <a:t> один спуск</a:t>
            </a:r>
            <a:endParaRPr lang="ru-RU" sz="2500" b="0" i="0" dirty="0">
              <a:effectLst/>
              <a:latin typeface="-apple-system"/>
            </a:endParaRPr>
          </a:p>
          <a:p>
            <a:pPr algn="l"/>
            <a:br>
              <a:rPr lang="ru-RU" sz="2500" b="0" i="0" dirty="0">
                <a:effectLst/>
                <a:latin typeface="-apple-system"/>
              </a:rPr>
            </a:br>
            <a:endParaRPr lang="ru-RU" sz="2500" b="0" i="0" dirty="0"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7685665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>
            <a:normAutofit/>
          </a:bodyPr>
          <a:lstStyle/>
          <a:p>
            <a:pPr algn="l"/>
            <a:r>
              <a:rPr lang="ru-RU" b="1" i="0" dirty="0">
                <a:solidFill>
                  <a:schemeClr val="tx1"/>
                </a:solidFill>
                <a:effectLst/>
              </a:rPr>
              <a:t>Почему «</a:t>
            </a:r>
            <a:r>
              <a:rPr lang="en" b="1" i="0" dirty="0">
                <a:solidFill>
                  <a:schemeClr val="tx1"/>
                </a:solidFill>
                <a:effectLst/>
              </a:rPr>
              <a:t>Volcano»?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7410" name="Picture 2" descr="Строение вулкана - как устроены вулканы">
            <a:extLst>
              <a:ext uri="{FF2B5EF4-FFF2-40B4-BE49-F238E27FC236}">
                <a16:creationId xmlns:a16="http://schemas.microsoft.com/office/drawing/2014/main" id="{1A608B79-DC0A-CD1C-9C9D-4C9B14ECA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718267"/>
            <a:ext cx="5856137" cy="4245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D510B28-0C34-38B4-7E21-8DE6B21EF7F0}"/>
              </a:ext>
            </a:extLst>
          </p:cNvPr>
          <p:cNvSpPr txBox="1"/>
          <p:nvPr/>
        </p:nvSpPr>
        <p:spPr>
          <a:xfrm>
            <a:off x="949569" y="1846609"/>
            <a:ext cx="4898571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500" dirty="0"/>
              <a:t>Название </a:t>
            </a:r>
            <a:r>
              <a:rPr lang="en" sz="2500" b="1" dirty="0"/>
              <a:t>Volcano</a:t>
            </a:r>
            <a:r>
              <a:rPr lang="en" sz="2500" dirty="0"/>
              <a:t> </a:t>
            </a:r>
            <a:r>
              <a:rPr lang="ru-RU" sz="2500" dirty="0"/>
              <a:t>действительно пришло из исследовательской СУБД </a:t>
            </a:r>
            <a:r>
              <a:rPr lang="en" sz="2500" b="1" dirty="0"/>
              <a:t>Volcano</a:t>
            </a:r>
            <a:r>
              <a:rPr lang="en" sz="2500" dirty="0"/>
              <a:t> (</a:t>
            </a:r>
            <a:r>
              <a:rPr lang="ru-RU" sz="2500" dirty="0"/>
              <a:t>автор — </a:t>
            </a:r>
            <a:r>
              <a:rPr lang="en" sz="2500" dirty="0"/>
              <a:t>Goetz </a:t>
            </a:r>
            <a:r>
              <a:rPr lang="en" sz="2500" dirty="0" err="1"/>
              <a:t>Graefe</a:t>
            </a:r>
            <a:r>
              <a:rPr lang="en" sz="2500" dirty="0"/>
              <a:t>, </a:t>
            </a:r>
            <a:r>
              <a:rPr lang="ru-RU" sz="2500" dirty="0"/>
              <a:t>статья 1990 года: </a:t>
            </a:r>
            <a:r>
              <a:rPr lang="ru-RU" sz="2500" i="1" dirty="0"/>
              <a:t>"</a:t>
            </a:r>
            <a:r>
              <a:rPr lang="en" sz="2500" i="1" dirty="0"/>
              <a:t>Volcano — An Extensible and Parallel Query Evaluation System"</a:t>
            </a:r>
            <a:r>
              <a:rPr lang="en" sz="2500" dirty="0"/>
              <a:t>).</a:t>
            </a:r>
            <a:endParaRPr lang="ru-RU" sz="2500" dirty="0"/>
          </a:p>
          <a:p>
            <a:endParaRPr lang="ru-RU" sz="2500" dirty="0"/>
          </a:p>
          <a:p>
            <a:r>
              <a:rPr lang="ru-RU" sz="2500" dirty="0"/>
              <a:t>Сравнение с «извержением вулкана»: данные поднимаются вверх по дереву операторов, как лава внутри вулкана.</a:t>
            </a:r>
          </a:p>
        </p:txBody>
      </p:sp>
    </p:spTree>
    <p:extLst>
      <p:ext uri="{BB962C8B-B14F-4D97-AF65-F5344CB8AC3E}">
        <p14:creationId xmlns:p14="http://schemas.microsoft.com/office/powerpoint/2010/main" val="376109673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>
            <a:normAutofit/>
          </a:bodyPr>
          <a:lstStyle/>
          <a:p>
            <a:pPr algn="l"/>
            <a:r>
              <a:rPr lang="en" b="1" i="0" dirty="0">
                <a:solidFill>
                  <a:schemeClr val="tx1"/>
                </a:solidFill>
                <a:effectLst/>
              </a:rPr>
              <a:t>Executor</a:t>
            </a:r>
            <a:r>
              <a:rPr lang="en-US" b="1" i="0" dirty="0">
                <a:solidFill>
                  <a:schemeClr val="tx1"/>
                </a:solidFill>
                <a:effectLst/>
              </a:rPr>
              <a:t>F</a:t>
            </a:r>
            <a:r>
              <a:rPr lang="en-US" b="1" dirty="0">
                <a:solidFill>
                  <a:schemeClr val="tx1"/>
                </a:solidFill>
              </a:rPr>
              <a:t>actory</a:t>
            </a:r>
            <a:endParaRPr lang="en" b="1" i="0" dirty="0">
              <a:solidFill>
                <a:schemeClr val="tx1"/>
              </a:solidFill>
              <a:effectLst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0413297-210A-AB11-1E54-DC8DD88E2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487" y="2655276"/>
            <a:ext cx="8351313" cy="2469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3436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>
            <a:normAutofit/>
          </a:bodyPr>
          <a:lstStyle/>
          <a:p>
            <a:pPr algn="l"/>
            <a:r>
              <a:rPr lang="en" b="1" i="0" dirty="0">
                <a:solidFill>
                  <a:schemeClr val="tx1"/>
                </a:solidFill>
                <a:effectLst/>
              </a:rPr>
              <a:t>Executor</a:t>
            </a:r>
            <a:r>
              <a:rPr lang="en-US" b="1" i="0" dirty="0">
                <a:solidFill>
                  <a:schemeClr val="tx1"/>
                </a:solidFill>
                <a:effectLst/>
              </a:rPr>
              <a:t>F</a:t>
            </a:r>
            <a:r>
              <a:rPr lang="en-US" b="1" dirty="0">
                <a:solidFill>
                  <a:schemeClr val="tx1"/>
                </a:solidFill>
              </a:rPr>
              <a:t>actory</a:t>
            </a:r>
            <a:endParaRPr lang="en" b="1" i="0" dirty="0">
              <a:solidFill>
                <a:schemeClr val="tx1"/>
              </a:solidFill>
              <a:effectLst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0413297-210A-AB11-1E54-DC8DD88E2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487" y="2655276"/>
            <a:ext cx="8351313" cy="2469382"/>
          </a:xfrm>
          <a:prstGeom prst="rect">
            <a:avLst/>
          </a:prstGeom>
        </p:spPr>
      </p:pic>
      <p:pic>
        <p:nvPicPr>
          <p:cNvPr id="4" name="Picture 2" descr="Лупа – Бесплатные иконки: инструменты редактирования">
            <a:extLst>
              <a:ext uri="{FF2B5EF4-FFF2-40B4-BE49-F238E27FC236}">
                <a16:creationId xmlns:a16="http://schemas.microsoft.com/office/drawing/2014/main" id="{003B521D-4179-5C74-B952-656CFD10C9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8439" y="1866689"/>
            <a:ext cx="3737987" cy="3737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11552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>
            <a:normAutofit/>
          </a:bodyPr>
          <a:lstStyle/>
          <a:p>
            <a:pPr algn="l"/>
            <a:r>
              <a:rPr lang="en" b="1" i="0" dirty="0">
                <a:solidFill>
                  <a:schemeClr val="tx1"/>
                </a:solidFill>
                <a:effectLst/>
              </a:rPr>
              <a:t>Executor</a:t>
            </a:r>
            <a:r>
              <a:rPr lang="en-US" b="1" i="0" dirty="0">
                <a:solidFill>
                  <a:schemeClr val="tx1"/>
                </a:solidFill>
                <a:effectLst/>
              </a:rPr>
              <a:t>F</a:t>
            </a:r>
            <a:r>
              <a:rPr lang="en-US" b="1" dirty="0">
                <a:solidFill>
                  <a:schemeClr val="tx1"/>
                </a:solidFill>
              </a:rPr>
              <a:t>actory</a:t>
            </a:r>
            <a:endParaRPr lang="en" b="1" i="0" dirty="0">
              <a:solidFill>
                <a:schemeClr val="tx1"/>
              </a:solidFill>
              <a:effectLst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4D1B791-9919-5AD8-0DD4-3ECC4F426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736" y="2500042"/>
            <a:ext cx="8856651" cy="3307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25107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Наследники / The inheritors смотреть онлайн все серии и сезоны бесплатно в  хорошем качестве. RUTUBE">
            <a:extLst>
              <a:ext uri="{FF2B5EF4-FFF2-40B4-BE49-F238E27FC236}">
                <a16:creationId xmlns:a16="http://schemas.microsoft.com/office/drawing/2014/main" id="{472B9875-9198-642B-6E5D-3920B64EA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64" y="1425572"/>
            <a:ext cx="11274251" cy="4420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150249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chemeClr val="tx1"/>
                </a:solidFill>
                <a:latin typeface="-apple-system"/>
              </a:rPr>
              <a:t>Наследники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8AD7865-6A99-95E6-63E0-97E8D354A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318" y="1719792"/>
            <a:ext cx="10123372" cy="445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29637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en-US" dirty="0"/>
              <a:t>Executors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D12220-2CF9-F0D7-6019-5111411DDD52}"/>
              </a:ext>
            </a:extLst>
          </p:cNvPr>
          <p:cNvSpPr txBox="1"/>
          <p:nvPr/>
        </p:nvSpPr>
        <p:spPr>
          <a:xfrm>
            <a:off x="1371599" y="2113560"/>
            <a:ext cx="959937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500" dirty="0"/>
              <a:t>Каждый исполнитель (</a:t>
            </a:r>
            <a:r>
              <a:rPr lang="ru-RU" sz="2500" dirty="0" err="1"/>
              <a:t>Executor</a:t>
            </a:r>
            <a:r>
              <a:rPr lang="ru-RU" sz="2500" dirty="0"/>
              <a:t>) реализует </a:t>
            </a:r>
            <a:r>
              <a:rPr lang="ru-RU" sz="2500" dirty="0" err="1"/>
              <a:t>итераторный</a:t>
            </a:r>
            <a:r>
              <a:rPr lang="ru-RU" sz="2500" dirty="0"/>
              <a:t> интерфейс: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6750913-1540-B47A-38C5-B991DB718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599" y="3298767"/>
            <a:ext cx="9227375" cy="1937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6370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AF42F2-89CD-3CE7-AF28-AE3C12E83C6B}"/>
              </a:ext>
            </a:extLst>
          </p:cNvPr>
          <p:cNvSpPr txBox="1"/>
          <p:nvPr/>
        </p:nvSpPr>
        <p:spPr>
          <a:xfrm>
            <a:off x="1075172" y="498737"/>
            <a:ext cx="104703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/>
              <a:t>Задание</a:t>
            </a:r>
            <a:r>
              <a:rPr lang="en-US" sz="4000" dirty="0"/>
              <a:t>. </a:t>
            </a:r>
            <a:r>
              <a:rPr lang="ru-RU" sz="4000" dirty="0"/>
              <a:t>Практика </a:t>
            </a:r>
            <a:r>
              <a:rPr lang="en-US" sz="4000" dirty="0"/>
              <a:t>#</a:t>
            </a:r>
            <a:r>
              <a:rPr lang="ru-RU" sz="4000" dirty="0"/>
              <a:t>3</a:t>
            </a:r>
            <a:endParaRPr lang="ru-RU" sz="4000" b="0" i="0" dirty="0">
              <a:effectLst/>
              <a:latin typeface="-apple-system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7D9F96-B51B-9EAF-6E29-C0355F88EA4E}"/>
              </a:ext>
            </a:extLst>
          </p:cNvPr>
          <p:cNvSpPr txBox="1"/>
          <p:nvPr/>
        </p:nvSpPr>
        <p:spPr>
          <a:xfrm>
            <a:off x="1271115" y="6174597"/>
            <a:ext cx="8726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/central-university-dev/cu-database-internals-practice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E70E4B-2608-5FB5-982E-00EDEF3187C9}"/>
              </a:ext>
            </a:extLst>
          </p:cNvPr>
          <p:cNvSpPr txBox="1"/>
          <p:nvPr/>
        </p:nvSpPr>
        <p:spPr>
          <a:xfrm>
            <a:off x="1075172" y="1735513"/>
            <a:ext cx="669798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500" dirty="0"/>
              <a:t>Пишем свой </a:t>
            </a:r>
            <a:r>
              <a:rPr lang="en" sz="2500" dirty="0" err="1">
                <a:effectLst/>
              </a:rPr>
              <a:t>CreateTableExecutor</a:t>
            </a:r>
            <a:r>
              <a:rPr lang="en" sz="2500" dirty="0">
                <a:effectLst/>
              </a:rPr>
              <a:t> </a:t>
            </a:r>
            <a:r>
              <a:rPr lang="en" sz="2500" dirty="0" err="1">
                <a:effectLst/>
              </a:rPr>
              <a:t>по</a:t>
            </a:r>
            <a:r>
              <a:rPr lang="ru-RU" sz="2500" dirty="0">
                <a:effectLst/>
              </a:rPr>
              <a:t> контракту:</a:t>
            </a:r>
            <a:endParaRPr lang="en" sz="2500" dirty="0">
              <a:effectLst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287BFEC-B3AD-881C-0682-759BA7C82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353" y="3032041"/>
            <a:ext cx="9911293" cy="208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55718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AF42F2-89CD-3CE7-AF28-AE3C12E83C6B}"/>
              </a:ext>
            </a:extLst>
          </p:cNvPr>
          <p:cNvSpPr txBox="1"/>
          <p:nvPr/>
        </p:nvSpPr>
        <p:spPr>
          <a:xfrm>
            <a:off x="1075172" y="498737"/>
            <a:ext cx="104703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/>
              <a:t>Задание</a:t>
            </a:r>
            <a:r>
              <a:rPr lang="en-US" sz="4000" dirty="0"/>
              <a:t>. </a:t>
            </a:r>
            <a:r>
              <a:rPr lang="ru-RU" sz="4000" dirty="0"/>
              <a:t>Практика </a:t>
            </a:r>
            <a:r>
              <a:rPr lang="en-US" sz="4000" dirty="0"/>
              <a:t>#</a:t>
            </a:r>
            <a:r>
              <a:rPr lang="ru-RU" sz="4000" dirty="0"/>
              <a:t>4</a:t>
            </a:r>
            <a:endParaRPr lang="ru-RU" sz="4000" b="0" i="0" dirty="0">
              <a:effectLst/>
              <a:latin typeface="-apple-system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7D9F96-B51B-9EAF-6E29-C0355F88EA4E}"/>
              </a:ext>
            </a:extLst>
          </p:cNvPr>
          <p:cNvSpPr txBox="1"/>
          <p:nvPr/>
        </p:nvSpPr>
        <p:spPr>
          <a:xfrm>
            <a:off x="1271115" y="6174597"/>
            <a:ext cx="8726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/central-university-dev/cu-database-internals-practice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E70E4B-2608-5FB5-982E-00EDEF3187C9}"/>
              </a:ext>
            </a:extLst>
          </p:cNvPr>
          <p:cNvSpPr txBox="1"/>
          <p:nvPr/>
        </p:nvSpPr>
        <p:spPr>
          <a:xfrm>
            <a:off x="1075172" y="1735513"/>
            <a:ext cx="659385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500" dirty="0"/>
              <a:t>Пишем свой I</a:t>
            </a:r>
            <a:r>
              <a:rPr lang="en-US" sz="2500" dirty="0" err="1"/>
              <a:t>nsert</a:t>
            </a:r>
            <a:r>
              <a:rPr lang="en" sz="2500" dirty="0" err="1">
                <a:effectLst/>
              </a:rPr>
              <a:t>TableExecutor</a:t>
            </a:r>
            <a:r>
              <a:rPr lang="en" sz="2500" dirty="0">
                <a:effectLst/>
              </a:rPr>
              <a:t> </a:t>
            </a:r>
            <a:r>
              <a:rPr lang="en" sz="2500" dirty="0" err="1">
                <a:effectLst/>
              </a:rPr>
              <a:t>по</a:t>
            </a:r>
            <a:r>
              <a:rPr lang="ru-RU" sz="2500" dirty="0">
                <a:effectLst/>
              </a:rPr>
              <a:t> контракту:</a:t>
            </a:r>
            <a:endParaRPr lang="en" sz="2500" dirty="0">
              <a:effectLst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287BFEC-B3AD-881C-0682-759BA7C82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353" y="3032041"/>
            <a:ext cx="9911293" cy="208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15823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AF42F2-89CD-3CE7-AF28-AE3C12E83C6B}"/>
              </a:ext>
            </a:extLst>
          </p:cNvPr>
          <p:cNvSpPr txBox="1"/>
          <p:nvPr/>
        </p:nvSpPr>
        <p:spPr>
          <a:xfrm>
            <a:off x="1075172" y="498737"/>
            <a:ext cx="104703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/>
              <a:t>Задание</a:t>
            </a:r>
            <a:r>
              <a:rPr lang="en-US" sz="4000" dirty="0"/>
              <a:t>. </a:t>
            </a:r>
            <a:r>
              <a:rPr lang="ru-RU" sz="4000" dirty="0"/>
              <a:t>Практика </a:t>
            </a:r>
            <a:r>
              <a:rPr lang="en-US" sz="4000" dirty="0"/>
              <a:t>#5</a:t>
            </a:r>
            <a:endParaRPr lang="ru-RU" sz="4000" b="0" i="0" dirty="0">
              <a:effectLst/>
              <a:latin typeface="-apple-system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7D9F96-B51B-9EAF-6E29-C0355F88EA4E}"/>
              </a:ext>
            </a:extLst>
          </p:cNvPr>
          <p:cNvSpPr txBox="1"/>
          <p:nvPr/>
        </p:nvSpPr>
        <p:spPr>
          <a:xfrm>
            <a:off x="1271115" y="6174597"/>
            <a:ext cx="8726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/central-university-dev/cu-database-internals-practice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E70E4B-2608-5FB5-982E-00EDEF3187C9}"/>
              </a:ext>
            </a:extLst>
          </p:cNvPr>
          <p:cNvSpPr txBox="1"/>
          <p:nvPr/>
        </p:nvSpPr>
        <p:spPr>
          <a:xfrm>
            <a:off x="1075172" y="1735513"/>
            <a:ext cx="630929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500" dirty="0"/>
              <a:t>Пишем свой </a:t>
            </a:r>
            <a:r>
              <a:rPr lang="en" sz="2500" i="0" dirty="0" err="1">
                <a:effectLst/>
              </a:rPr>
              <a:t>ExecutorFactory</a:t>
            </a:r>
            <a:r>
              <a:rPr lang="en" sz="2500" dirty="0">
                <a:effectLst/>
              </a:rPr>
              <a:t> </a:t>
            </a:r>
            <a:r>
              <a:rPr lang="en" sz="2500" dirty="0" err="1">
                <a:effectLst/>
              </a:rPr>
              <a:t>по</a:t>
            </a:r>
            <a:r>
              <a:rPr lang="ru-RU" sz="2500" dirty="0">
                <a:effectLst/>
              </a:rPr>
              <a:t> контракту:</a:t>
            </a:r>
            <a:endParaRPr lang="en" sz="2500" dirty="0">
              <a:effectLst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90D6F62-B05F-68AC-E32E-DD334E92D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770" y="2647635"/>
            <a:ext cx="10630378" cy="2336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00767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>
            <a:normAutofit/>
          </a:bodyPr>
          <a:lstStyle/>
          <a:p>
            <a:r>
              <a:rPr lang="en" b="1" i="0" dirty="0" err="1">
                <a:solidFill>
                  <a:schemeClr val="tx1"/>
                </a:solidFill>
                <a:effectLst/>
                <a:latin typeface="-apple-system"/>
              </a:rPr>
              <a:t>ExecutionEngine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72998D9-B2B1-3FF6-5103-392FC7E28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737" y="2268135"/>
            <a:ext cx="10039978" cy="2948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06894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>
            <a:normAutofit/>
          </a:bodyPr>
          <a:lstStyle/>
          <a:p>
            <a:r>
              <a:rPr lang="en" b="1" i="0" dirty="0" err="1">
                <a:solidFill>
                  <a:schemeClr val="tx1"/>
                </a:solidFill>
                <a:effectLst/>
                <a:latin typeface="-apple-system"/>
              </a:rPr>
              <a:t>ExecutionEngine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5B504C7-B4E0-7190-EEAF-8ACB3CC76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026317"/>
            <a:ext cx="7628923" cy="14600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C86174D-A659-CA8C-09E7-F8D7BD8F3E36}"/>
              </a:ext>
            </a:extLst>
          </p:cNvPr>
          <p:cNvSpPr txBox="1"/>
          <p:nvPr/>
        </p:nvSpPr>
        <p:spPr>
          <a:xfrm>
            <a:off x="1371600" y="1808703"/>
            <a:ext cx="7777423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500" b="0" i="0" dirty="0">
                <a:effectLst/>
              </a:rPr>
              <a:t>получает корневой </a:t>
            </a:r>
            <a:r>
              <a:rPr lang="en" sz="2500" b="0" i="0" dirty="0">
                <a:effectLst/>
              </a:rPr>
              <a:t>Executor (</a:t>
            </a:r>
            <a:r>
              <a:rPr lang="ru-RU" sz="2500" b="0" i="0" dirty="0">
                <a:effectLst/>
              </a:rPr>
              <a:t>или цепочку исполнителей) и управляет процессом обработки данных по </a:t>
            </a:r>
            <a:r>
              <a:rPr lang="ru-RU" sz="2500" b="0" i="0" dirty="0" err="1">
                <a:effectLst/>
              </a:rPr>
              <a:t>итераторной</a:t>
            </a:r>
            <a:r>
              <a:rPr lang="ru-RU" sz="2500" b="0" i="0" dirty="0">
                <a:effectLst/>
              </a:rPr>
              <a:t> модели</a:t>
            </a:r>
            <a:endParaRPr lang="ru-RU" sz="2500" dirty="0"/>
          </a:p>
        </p:txBody>
      </p:sp>
    </p:spTree>
    <p:extLst>
      <p:ext uri="{BB962C8B-B14F-4D97-AF65-F5344CB8AC3E}">
        <p14:creationId xmlns:p14="http://schemas.microsoft.com/office/powerpoint/2010/main" val="368071261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AF42F2-89CD-3CE7-AF28-AE3C12E83C6B}"/>
              </a:ext>
            </a:extLst>
          </p:cNvPr>
          <p:cNvSpPr txBox="1"/>
          <p:nvPr/>
        </p:nvSpPr>
        <p:spPr>
          <a:xfrm>
            <a:off x="1075172" y="498737"/>
            <a:ext cx="104703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/>
              <a:t>Задание</a:t>
            </a:r>
            <a:r>
              <a:rPr lang="en-US" sz="4000" dirty="0"/>
              <a:t>. </a:t>
            </a:r>
            <a:r>
              <a:rPr lang="ru-RU" sz="4000" dirty="0"/>
              <a:t>Практика </a:t>
            </a:r>
            <a:r>
              <a:rPr lang="en-US" sz="4000" dirty="0"/>
              <a:t>#6</a:t>
            </a:r>
            <a:endParaRPr lang="ru-RU" sz="4000" b="0" i="0" dirty="0">
              <a:effectLst/>
              <a:latin typeface="-apple-system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7D9F96-B51B-9EAF-6E29-C0355F88EA4E}"/>
              </a:ext>
            </a:extLst>
          </p:cNvPr>
          <p:cNvSpPr txBox="1"/>
          <p:nvPr/>
        </p:nvSpPr>
        <p:spPr>
          <a:xfrm>
            <a:off x="1271115" y="6174597"/>
            <a:ext cx="8726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/central-university-dev/cu-database-internals-practice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E70E4B-2608-5FB5-982E-00EDEF3187C9}"/>
              </a:ext>
            </a:extLst>
          </p:cNvPr>
          <p:cNvSpPr txBox="1"/>
          <p:nvPr/>
        </p:nvSpPr>
        <p:spPr>
          <a:xfrm>
            <a:off x="1075172" y="2026097"/>
            <a:ext cx="875566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500" dirty="0"/>
              <a:t>Пишем свой </a:t>
            </a:r>
            <a:r>
              <a:rPr lang="en" sz="2500" i="0" dirty="0" err="1">
                <a:effectLst/>
              </a:rPr>
              <a:t>ExecutionEngine</a:t>
            </a:r>
            <a:r>
              <a:rPr lang="ru-RU" sz="2500" i="0" dirty="0">
                <a:effectLst/>
              </a:rPr>
              <a:t> для запуска верхнего </a:t>
            </a:r>
            <a:r>
              <a:rPr lang="en-US" sz="2500" dirty="0" err="1"/>
              <a:t>Executor’а</a:t>
            </a:r>
            <a:endParaRPr lang="en" sz="2500" dirty="0"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321C61-EB56-2BF0-D7FF-87742BA3A2E6}"/>
              </a:ext>
            </a:extLst>
          </p:cNvPr>
          <p:cNvSpPr txBox="1"/>
          <p:nvPr/>
        </p:nvSpPr>
        <p:spPr>
          <a:xfrm>
            <a:off x="1271115" y="4628294"/>
            <a:ext cx="868224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500" dirty="0"/>
              <a:t>С</a:t>
            </a:r>
            <a:r>
              <a:rPr lang="ru-RU" sz="2500" dirty="0">
                <a:effectLst/>
              </a:rPr>
              <a:t>корее всего наполнение </a:t>
            </a:r>
            <a:r>
              <a:rPr lang="en" sz="2500" i="0" dirty="0" err="1">
                <a:effectLst/>
              </a:rPr>
              <a:t>ExecutionEngine</a:t>
            </a:r>
            <a:r>
              <a:rPr lang="ru-RU" sz="2500" i="0" dirty="0">
                <a:effectLst/>
              </a:rPr>
              <a:t> вы уже написали, </a:t>
            </a:r>
          </a:p>
          <a:p>
            <a:r>
              <a:rPr lang="ru-RU" sz="2500" i="0" dirty="0">
                <a:effectLst/>
              </a:rPr>
              <a:t>осталось вынести его в отдельный класс</a:t>
            </a:r>
            <a:endParaRPr lang="en" sz="2500" dirty="0">
              <a:effectLst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E7321D3-3778-184F-2BFC-C43CB7CA9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55" y="2894769"/>
            <a:ext cx="7628923" cy="1460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58828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 descr="Мем: &quot;Финиш&quot; - Все шаблоны - Meme-arsenal.com">
            <a:extLst>
              <a:ext uri="{FF2B5EF4-FFF2-40B4-BE49-F238E27FC236}">
                <a16:creationId xmlns:a16="http://schemas.microsoft.com/office/drawing/2014/main" id="{2988033E-FBF1-1028-7F91-D15EA53F17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3850" y="0"/>
            <a:ext cx="64627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166978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en-US" dirty="0" err="1"/>
              <a:t>Н</a:t>
            </a:r>
            <a:r>
              <a:rPr lang="ru-RU" dirty="0"/>
              <a:t>о нет)</a:t>
            </a:r>
            <a:endParaRPr lang="en-US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56D91A6-7678-DC8D-66ED-937BE65D0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2040" y="1402080"/>
            <a:ext cx="831836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51247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После ЛР5 у вас будет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F59EE1-022F-84D4-DBA5-5B7420B284DB}"/>
              </a:ext>
            </a:extLst>
          </p:cNvPr>
          <p:cNvSpPr txBox="1"/>
          <p:nvPr/>
        </p:nvSpPr>
        <p:spPr>
          <a:xfrm>
            <a:off x="1371601" y="1937045"/>
            <a:ext cx="960119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500" b="0" i="0" dirty="0">
                <a:effectLst/>
              </a:rPr>
              <a:t>По итогу для </a:t>
            </a:r>
            <a:r>
              <a:rPr lang="en" sz="2500" b="0" i="0" dirty="0">
                <a:effectLst/>
              </a:rPr>
              <a:t>CREATE TABLE, INSERT, SELECT </a:t>
            </a:r>
            <a:r>
              <a:rPr lang="ru-RU" sz="2500" b="0" i="0" dirty="0">
                <a:effectLst/>
              </a:rPr>
              <a:t>должно быть реализована цепочка исполнения от </a:t>
            </a:r>
            <a:r>
              <a:rPr lang="en" sz="2500" b="0" i="0" dirty="0">
                <a:effectLst/>
              </a:rPr>
              <a:t>SQL-</a:t>
            </a:r>
            <a:r>
              <a:rPr lang="ru-RU" sz="2500" b="0" i="0" dirty="0">
                <a:effectLst/>
              </a:rPr>
              <a:t>строки: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8ABC8F4-9171-3D65-1AA4-2D43A2CDB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599" y="3130549"/>
            <a:ext cx="3960489" cy="8617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9D62CA-E17A-7596-2F7C-E8CDF14120B3}"/>
              </a:ext>
            </a:extLst>
          </p:cNvPr>
          <p:cNvSpPr txBox="1"/>
          <p:nvPr/>
        </p:nvSpPr>
        <p:spPr>
          <a:xfrm>
            <a:off x="1371599" y="4209906"/>
            <a:ext cx="609934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500" b="0" i="0" dirty="0">
                <a:effectLst/>
                <a:latin typeface="-apple-system"/>
              </a:rPr>
              <a:t>до результата выполнения: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02AEB56-3DB2-24C1-3754-6B361FC94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256" y="4867965"/>
            <a:ext cx="1549959" cy="153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31051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pPr algn="l"/>
            <a:r>
              <a:rPr lang="ru-RU" b="1" dirty="0">
                <a:solidFill>
                  <a:schemeClr val="tx1"/>
                </a:solidFill>
              </a:rPr>
              <a:t>С</a:t>
            </a:r>
            <a:r>
              <a:rPr lang="ru-RU" b="1" i="0" dirty="0">
                <a:solidFill>
                  <a:schemeClr val="tx1"/>
                </a:solidFill>
                <a:effectLst/>
              </a:rPr>
              <a:t>обрать все компоненты воедино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85F97E7-4C9D-03A2-0DB1-191B76A94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674396"/>
            <a:ext cx="10083777" cy="218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155542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6279</TotalTime>
  <Words>741</Words>
  <Application>Microsoft Macintosh PowerPoint</Application>
  <PresentationFormat>Широкоэкранный</PresentationFormat>
  <Paragraphs>138</Paragraphs>
  <Slides>66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66</vt:i4>
      </vt:variant>
    </vt:vector>
  </HeadingPairs>
  <TitlesOfParts>
    <vt:vector size="71" baseType="lpstr">
      <vt:lpstr>-apple-system</vt:lpstr>
      <vt:lpstr>-webkit-standard</vt:lpstr>
      <vt:lpstr>Arial</vt:lpstr>
      <vt:lpstr>Franklin Gothic Book</vt:lpstr>
      <vt:lpstr>Crop</vt:lpstr>
      <vt:lpstr>Каталоги в СУБД</vt:lpstr>
      <vt:lpstr>Цель занятия</vt:lpstr>
      <vt:lpstr>План занятия</vt:lpstr>
      <vt:lpstr>Повторение</vt:lpstr>
      <vt:lpstr>Повторение</vt:lpstr>
      <vt:lpstr>Повторение</vt:lpstr>
      <vt:lpstr>Повторение</vt:lpstr>
      <vt:lpstr>Повторение</vt:lpstr>
      <vt:lpstr>Помним про ..?</vt:lpstr>
      <vt:lpstr>А что такое каталог ?</vt:lpstr>
      <vt:lpstr>В итоге: что такое каталог?</vt:lpstr>
      <vt:lpstr>Повторение</vt:lpstr>
      <vt:lpstr>Повторение</vt:lpstr>
      <vt:lpstr>Что дальше</vt:lpstr>
      <vt:lpstr>Planner</vt:lpstr>
      <vt:lpstr>Построение логического плана — ответ на вопрос «что нужно сделать»</vt:lpstr>
      <vt:lpstr>Не отвечаем на вопрос как будем это делать !</vt:lpstr>
      <vt:lpstr>Planner</vt:lpstr>
      <vt:lpstr>Planner</vt:lpstr>
      <vt:lpstr>Презентация PowerPoint</vt:lpstr>
      <vt:lpstr>Наследники</vt:lpstr>
      <vt:lpstr>Пример:</vt:lpstr>
      <vt:lpstr>Пример:</vt:lpstr>
      <vt:lpstr>Презентация PowerPoint</vt:lpstr>
      <vt:lpstr>Презентация PowerPoint</vt:lpstr>
      <vt:lpstr>Optimizer</vt:lpstr>
      <vt:lpstr>PhysicalPlanNode</vt:lpstr>
      <vt:lpstr>Презентация PowerPoint</vt:lpstr>
      <vt:lpstr>LogicalPlan</vt:lpstr>
      <vt:lpstr>LogicalPlanNode VS PhysicalPlanNode</vt:lpstr>
      <vt:lpstr>Зачем нужен Optimizer ?</vt:lpstr>
      <vt:lpstr>Зачем нужен Optimizer</vt:lpstr>
      <vt:lpstr>Презентация PowerPoint</vt:lpstr>
      <vt:lpstr>По сути происходит…</vt:lpstr>
      <vt:lpstr>Презентация PowerPoint</vt:lpstr>
      <vt:lpstr>Вы слышали про Iterator ?</vt:lpstr>
      <vt:lpstr>Идея №1</vt:lpstr>
      <vt:lpstr>Идея №2</vt:lpstr>
      <vt:lpstr>Идея №3</vt:lpstr>
      <vt:lpstr>Пример</vt:lpstr>
      <vt:lpstr>Пример</vt:lpstr>
      <vt:lpstr>Вы слышали про Decorator ?</vt:lpstr>
      <vt:lpstr>Пример из java.io</vt:lpstr>
      <vt:lpstr>Перекладывая на SELECT</vt:lpstr>
      <vt:lpstr>Пример цепочки</vt:lpstr>
      <vt:lpstr>Соединяя оба подхода</vt:lpstr>
      <vt:lpstr>Volcano/Iterator model</vt:lpstr>
      <vt:lpstr>Пример</vt:lpstr>
      <vt:lpstr>Пример</vt:lpstr>
      <vt:lpstr>Почему «Volcano»?</vt:lpstr>
      <vt:lpstr>ExecutorFactory</vt:lpstr>
      <vt:lpstr>ExecutorFactory</vt:lpstr>
      <vt:lpstr>ExecutorFactory</vt:lpstr>
      <vt:lpstr>Презентация PowerPoint</vt:lpstr>
      <vt:lpstr>Наследники</vt:lpstr>
      <vt:lpstr>Executors</vt:lpstr>
      <vt:lpstr>Презентация PowerPoint</vt:lpstr>
      <vt:lpstr>Презентация PowerPoint</vt:lpstr>
      <vt:lpstr>Презентация PowerPoint</vt:lpstr>
      <vt:lpstr>ExecutionEngine</vt:lpstr>
      <vt:lpstr>ExecutionEngine</vt:lpstr>
      <vt:lpstr>Презентация PowerPoint</vt:lpstr>
      <vt:lpstr>Презентация PowerPoint</vt:lpstr>
      <vt:lpstr>Но нет)</vt:lpstr>
      <vt:lpstr>После ЛР5 у вас будет</vt:lpstr>
      <vt:lpstr>Собрать все компоненты воедино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Буфферный менеджер в СУБД</dc:title>
  <dc:creator>e gulyakin</dc:creator>
  <cp:lastModifiedBy>Danila Sharudin</cp:lastModifiedBy>
  <cp:revision>177</cp:revision>
  <dcterms:created xsi:type="dcterms:W3CDTF">2025-09-15T11:53:13Z</dcterms:created>
  <dcterms:modified xsi:type="dcterms:W3CDTF">2025-10-07T04:57:40Z</dcterms:modified>
</cp:coreProperties>
</file>