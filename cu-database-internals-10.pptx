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47" r:id="rId4"/>
    <p:sldId id="258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7" r:id="rId24"/>
    <p:sldId id="366" r:id="rId25"/>
    <p:sldId id="368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6" r:id="rId34"/>
    <p:sldId id="378" r:id="rId35"/>
    <p:sldId id="377" r:id="rId36"/>
    <p:sldId id="379" r:id="rId37"/>
    <p:sldId id="380" r:id="rId38"/>
    <p:sldId id="381" r:id="rId39"/>
    <p:sldId id="382" r:id="rId40"/>
    <p:sldId id="383" r:id="rId41"/>
    <p:sldId id="384" r:id="rId42"/>
    <p:sldId id="385" r:id="rId43"/>
    <p:sldId id="386" r:id="rId44"/>
    <p:sldId id="388" r:id="rId45"/>
    <p:sldId id="387" r:id="rId46"/>
    <p:sldId id="389" r:id="rId47"/>
    <p:sldId id="390" r:id="rId48"/>
    <p:sldId id="391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86A"/>
    <a:srgbClr val="FFD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/>
    <p:restoredTop sz="96405"/>
  </p:normalViewPr>
  <p:slideViewPr>
    <p:cSldViewPr snapToGrid="0" showGuides="1">
      <p:cViewPr varScale="1">
        <p:scale>
          <a:sx n="131" d="100"/>
          <a:sy n="131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F1CFB-1DED-71E7-5407-6EB108BFD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Т</a:t>
            </a:r>
            <a:r>
              <a:rPr lang="ru-RU" dirty="0" err="1">
                <a:solidFill>
                  <a:schemeClr val="tx1"/>
                </a:solidFill>
              </a:rPr>
              <a:t>ранзакции</a:t>
            </a:r>
            <a:r>
              <a:rPr lang="ru-RU" dirty="0">
                <a:solidFill>
                  <a:schemeClr val="tx1"/>
                </a:solidFill>
              </a:rPr>
              <a:t> в СУБД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B81CC-D5FA-4BB2-3BAB-8D4894EAC5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</a:t>
            </a:r>
            <a:r>
              <a:rPr lang="en-US" dirty="0" err="1">
                <a:solidFill>
                  <a:schemeClr val="tx1"/>
                </a:solidFill>
              </a:rPr>
              <a:t>entral</a:t>
            </a:r>
            <a:r>
              <a:rPr lang="en-US" dirty="0">
                <a:solidFill>
                  <a:schemeClr val="tx1"/>
                </a:solidFill>
              </a:rPr>
              <a:t> University Database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962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7D32E-3D4F-329E-BE9D-45873602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>
                <a:solidFill>
                  <a:schemeClr val="tx1"/>
                </a:solidFill>
              </a:rPr>
              <a:t>Цель занятия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A7F92-01B7-041D-E195-EAE0DCC70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Чётко формулировать, что такое транзакция и зачем она нужна</a:t>
            </a:r>
          </a:p>
          <a:p>
            <a:r>
              <a:rPr lang="ru-RU" dirty="0"/>
              <a:t>Понимать, какие компоненты СУБД участвуют в реализации транзакций</a:t>
            </a:r>
          </a:p>
          <a:p>
            <a:r>
              <a:rPr lang="ru-RU" dirty="0"/>
              <a:t>Понимать связь между логической моделью транзакций и физическими структурами</a:t>
            </a:r>
          </a:p>
          <a:p>
            <a:r>
              <a:rPr lang="ru-RU" dirty="0">
                <a:solidFill>
                  <a:schemeClr val="tx1"/>
                </a:solidFill>
              </a:rPr>
              <a:t>Пояснять, как реализуются уровни изоляции в </a:t>
            </a:r>
            <a:r>
              <a:rPr lang="en-US" dirty="0">
                <a:solidFill>
                  <a:schemeClr val="tx1"/>
                </a:solidFill>
              </a:rPr>
              <a:t>PostgreSQL (Read Committed, Repeatable Read, Serializable)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/>
              <a:t>Читать базовые диагностические представления </a:t>
            </a:r>
            <a:r>
              <a:rPr lang="en-US" dirty="0"/>
              <a:t>Postgres, </a:t>
            </a:r>
            <a:r>
              <a:rPr lang="ru-RU" dirty="0"/>
              <a:t>связанные с транзакциями, блокировками и </a:t>
            </a:r>
            <a:r>
              <a:rPr lang="en-US" dirty="0"/>
              <a:t>MVCC (</a:t>
            </a:r>
            <a:r>
              <a:rPr lang="en-US" dirty="0" err="1"/>
              <a:t>pg_locks</a:t>
            </a:r>
            <a:r>
              <a:rPr lang="en-US" dirty="0"/>
              <a:t>, </a:t>
            </a:r>
            <a:r>
              <a:rPr lang="en-US" dirty="0" err="1"/>
              <a:t>pg_stat_activity</a:t>
            </a:r>
            <a:r>
              <a:rPr lang="en-US" dirty="0"/>
              <a:t>, </a:t>
            </a:r>
            <a:r>
              <a:rPr lang="en-US" dirty="0" err="1"/>
              <a:t>pg_xact_commit</a:t>
            </a:r>
            <a:r>
              <a:rPr lang="en-US" dirty="0"/>
              <a:t>/rollback </a:t>
            </a:r>
            <a:r>
              <a:rPr lang="ru-RU" dirty="0"/>
              <a:t>и т.п.)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3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7A1E0C92-0CD5-71C4-BD2B-7AB7974BB485}"/>
              </a:ext>
            </a:extLst>
          </p:cNvPr>
          <p:cNvSpPr/>
          <p:nvPr/>
        </p:nvSpPr>
        <p:spPr>
          <a:xfrm>
            <a:off x="1143000" y="1702713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B3B20DD-1983-A834-D957-758650AD5C59}"/>
              </a:ext>
            </a:extLst>
          </p:cNvPr>
          <p:cNvSpPr/>
          <p:nvPr/>
        </p:nvSpPr>
        <p:spPr>
          <a:xfrm>
            <a:off x="1143000" y="2017038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EB8FE3-71BE-377B-375F-ADF484A68826}"/>
              </a:ext>
            </a:extLst>
          </p:cNvPr>
          <p:cNvSpPr/>
          <p:nvPr/>
        </p:nvSpPr>
        <p:spPr>
          <a:xfrm>
            <a:off x="1143000" y="2161937"/>
            <a:ext cx="24073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ea typeface="Mona Sans Semi Bold" pitchFamily="34" charset="-122"/>
                <a:cs typeface="Mona Sans Semi Bold" pitchFamily="34" charset="-120"/>
              </a:rPr>
              <a:t>Зачем вообще нужны транзакции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3E44619-AAFD-6468-589E-4B94A73CC6F7}"/>
              </a:ext>
            </a:extLst>
          </p:cNvPr>
          <p:cNvSpPr/>
          <p:nvPr/>
        </p:nvSpPr>
        <p:spPr>
          <a:xfrm>
            <a:off x="6563439" y="1636395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80C1C88A-1521-98DB-0385-3EB72113771B}"/>
              </a:ext>
            </a:extLst>
          </p:cNvPr>
          <p:cNvSpPr/>
          <p:nvPr/>
        </p:nvSpPr>
        <p:spPr>
          <a:xfrm>
            <a:off x="6563439" y="1950720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76A7608-8CCF-0506-79D4-14D5BE32DD59}"/>
              </a:ext>
            </a:extLst>
          </p:cNvPr>
          <p:cNvSpPr/>
          <p:nvPr/>
        </p:nvSpPr>
        <p:spPr>
          <a:xfrm>
            <a:off x="6563439" y="2095619"/>
            <a:ext cx="21712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ea typeface="Mona Sans Semi Bold" pitchFamily="34" charset="-122"/>
                <a:cs typeface="Mona Sans Semi Bold" pitchFamily="34" charset="-120"/>
              </a:rPr>
              <a:t>Модель транзакции и </a:t>
            </a:r>
            <a:r>
              <a:rPr lang="ru-RU" sz="1950" dirty="0" err="1">
                <a:ea typeface="Mona Sans Semi Bold" pitchFamily="34" charset="-122"/>
                <a:cs typeface="Mona Sans Semi Bold" pitchFamily="34" charset="-120"/>
              </a:rPr>
              <a:t>A</a:t>
            </a:r>
            <a:r>
              <a:rPr lang="en-US" sz="1950" dirty="0">
                <a:ea typeface="Mona Sans Semi Bold" pitchFamily="34" charset="-122"/>
                <a:cs typeface="Mona Sans Semi Bold" pitchFamily="34" charset="-120"/>
              </a:rPr>
              <a:t>CID</a:t>
            </a:r>
            <a:r>
              <a:rPr lang="ru-RU" sz="1950" dirty="0">
                <a:ea typeface="Mona Sans Semi Bold" pitchFamily="34" charset="-122"/>
                <a:cs typeface="Mona Sans Semi Bold" pitchFamily="34" charset="-120"/>
              </a:rPr>
              <a:t>,</a:t>
            </a:r>
            <a:r>
              <a:rPr lang="en-US" sz="1950" dirty="0">
                <a:ea typeface="Mona Sans Semi Bold" pitchFamily="34" charset="-122"/>
                <a:cs typeface="Mona Sans Semi Bold" pitchFamily="34" charset="-120"/>
              </a:rPr>
              <a:t> </a:t>
            </a:r>
            <a:endParaRPr lang="ru-RU" sz="1950" dirty="0">
              <a:ea typeface="Mona Sans Semi Bold" pitchFamily="34" charset="-122"/>
              <a:cs typeface="Mona Sans Semi Bold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1950" dirty="0" err="1">
                <a:ea typeface="Mona Sans Semi Bold" pitchFamily="34" charset="-122"/>
                <a:cs typeface="Mona Sans Semi Bold" pitchFamily="34" charset="-120"/>
              </a:rPr>
              <a:t>у</a:t>
            </a:r>
            <a:r>
              <a:rPr lang="ru-RU" sz="1950" dirty="0">
                <a:ea typeface="Mona Sans Semi Bold" pitchFamily="34" charset="-122"/>
                <a:cs typeface="Mona Sans Semi Bold" pitchFamily="34" charset="-120"/>
              </a:rPr>
              <a:t>ровни изоляции</a:t>
            </a:r>
            <a:endParaRPr lang="en-US" sz="19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579D484-ACA2-83CD-66A0-4CE9AAF20E50}"/>
              </a:ext>
            </a:extLst>
          </p:cNvPr>
          <p:cNvSpPr/>
          <p:nvPr/>
        </p:nvSpPr>
        <p:spPr>
          <a:xfrm>
            <a:off x="1143000" y="3255883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230EB38E-3674-27EC-6538-01D26FF44539}"/>
              </a:ext>
            </a:extLst>
          </p:cNvPr>
          <p:cNvSpPr/>
          <p:nvPr/>
        </p:nvSpPr>
        <p:spPr>
          <a:xfrm>
            <a:off x="1143000" y="3570208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ADB216E4-CFFC-1A6D-2193-086BA140943E}"/>
              </a:ext>
            </a:extLst>
          </p:cNvPr>
          <p:cNvSpPr/>
          <p:nvPr/>
        </p:nvSpPr>
        <p:spPr>
          <a:xfrm>
            <a:off x="1143000" y="3715107"/>
            <a:ext cx="166612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ea typeface="Mona Sans Semi Bold" pitchFamily="34" charset="-122"/>
                <a:cs typeface="Mona Sans Semi Bold" pitchFamily="34" charset="-120"/>
              </a:rPr>
              <a:t>Какие компоненты СУБД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ea typeface="Mona Sans Semi Bold" pitchFamily="34" charset="-122"/>
                <a:cs typeface="Mona Sans Semi Bold" pitchFamily="34" charset="-120"/>
              </a:rPr>
              <a:t> участвуют в транзакциях?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2080516-5B84-579E-BEEE-77FF84A7D0F8}"/>
              </a:ext>
            </a:extLst>
          </p:cNvPr>
          <p:cNvSpPr/>
          <p:nvPr/>
        </p:nvSpPr>
        <p:spPr>
          <a:xfrm>
            <a:off x="6563439" y="3189565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8F118DD5-4BF2-A8F6-7858-F4FE01B1B491}"/>
              </a:ext>
            </a:extLst>
          </p:cNvPr>
          <p:cNvSpPr/>
          <p:nvPr/>
        </p:nvSpPr>
        <p:spPr>
          <a:xfrm>
            <a:off x="6563439" y="3503890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2302672-A7B1-FA7C-9F86-035CB9AF29C4}"/>
              </a:ext>
            </a:extLst>
          </p:cNvPr>
          <p:cNvSpPr/>
          <p:nvPr/>
        </p:nvSpPr>
        <p:spPr>
          <a:xfrm>
            <a:off x="6563440" y="3648789"/>
            <a:ext cx="15399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ea typeface="Mona Sans Semi Bold" pitchFamily="34" charset="-122"/>
                <a:cs typeface="Mona Sans Semi Bold" pitchFamily="34" charset="-120"/>
              </a:rPr>
              <a:t>MVCC </a:t>
            </a:r>
            <a:r>
              <a:rPr lang="ru-RU" sz="1950" dirty="0">
                <a:ea typeface="Mona Sans Semi Bold" pitchFamily="34" charset="-122"/>
                <a:cs typeface="Mona Sans Semi Bold" pitchFamily="34" charset="-120"/>
              </a:rPr>
              <a:t>и физические структуры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ea typeface="Mona Sans Semi Bold" pitchFamily="34" charset="-122"/>
                <a:cs typeface="Mona Sans Semi Bold" pitchFamily="34" charset="-120"/>
              </a:rPr>
              <a:t>(страницы, версии строк)</a:t>
            </a: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4AE802C-5068-C740-8651-26397950F46B}"/>
              </a:ext>
            </a:extLst>
          </p:cNvPr>
          <p:cNvSpPr/>
          <p:nvPr/>
        </p:nvSpPr>
        <p:spPr>
          <a:xfrm>
            <a:off x="1143000" y="4809054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8592D741-8A48-C042-360B-75CE2D3DFD20}"/>
              </a:ext>
            </a:extLst>
          </p:cNvPr>
          <p:cNvSpPr/>
          <p:nvPr/>
        </p:nvSpPr>
        <p:spPr>
          <a:xfrm>
            <a:off x="1143000" y="5123379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F890F090-D461-459F-3997-4F37A394F0D7}"/>
              </a:ext>
            </a:extLst>
          </p:cNvPr>
          <p:cNvSpPr/>
          <p:nvPr/>
        </p:nvSpPr>
        <p:spPr>
          <a:xfrm>
            <a:off x="1143001" y="5268278"/>
            <a:ext cx="15399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/>
              <a:t>Реализация уровней изоляции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ru-RU" sz="1950" dirty="0"/>
              <a:t>в </a:t>
            </a:r>
            <a:r>
              <a:rPr lang="en-US" sz="1950" dirty="0"/>
              <a:t>PostgreSQL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76234F40-8670-8FD2-82CE-9BA416804FC7}"/>
              </a:ext>
            </a:extLst>
          </p:cNvPr>
          <p:cNvSpPr/>
          <p:nvPr/>
        </p:nvSpPr>
        <p:spPr>
          <a:xfrm>
            <a:off x="6563439" y="4742736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65F50606-4B57-6D4B-D8F1-B674DE74ED49}"/>
              </a:ext>
            </a:extLst>
          </p:cNvPr>
          <p:cNvSpPr/>
          <p:nvPr/>
        </p:nvSpPr>
        <p:spPr>
          <a:xfrm>
            <a:off x="6563439" y="5057061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2835C125-B156-8C8E-897D-EBE1C0A5F75D}"/>
              </a:ext>
            </a:extLst>
          </p:cNvPr>
          <p:cNvSpPr/>
          <p:nvPr/>
        </p:nvSpPr>
        <p:spPr>
          <a:xfrm>
            <a:off x="6563439" y="5201960"/>
            <a:ext cx="197075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2000" dirty="0"/>
              <a:t>Блокировки, </a:t>
            </a:r>
            <a:r>
              <a:rPr lang="ru-RU" sz="2000" dirty="0" err="1"/>
              <a:t>дедлоки</a:t>
            </a:r>
            <a:r>
              <a:rPr lang="ru-RU" sz="2000" dirty="0"/>
              <a:t>, диагностика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FD48842-65CE-5794-BB9F-356E06EA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70" y="466249"/>
            <a:ext cx="4320540" cy="767595"/>
          </a:xfrm>
        </p:spPr>
        <p:txBody>
          <a:bodyPr>
            <a:normAutofit fontScale="90000"/>
          </a:bodyPr>
          <a:lstStyle/>
          <a:p>
            <a:r>
              <a:rPr lang="ru-RU" sz="5400" dirty="0">
                <a:solidFill>
                  <a:schemeClr val="tx1"/>
                </a:solidFill>
              </a:rPr>
              <a:t>План занятия</a:t>
            </a:r>
            <a:endParaRPr 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00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785" y="1022229"/>
            <a:ext cx="5796951" cy="746185"/>
          </a:xfrm>
        </p:spPr>
        <p:txBody>
          <a:bodyPr/>
          <a:lstStyle/>
          <a:p>
            <a:r>
              <a:rPr lang="ru-RU" dirty="0"/>
              <a:t>Что такое транзакция?</a:t>
            </a:r>
            <a:endParaRPr lang="en-US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664539E-ED50-0DDE-1203-88C994956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156" y="2639683"/>
            <a:ext cx="4070208" cy="208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13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785" y="1022229"/>
            <a:ext cx="5796951" cy="746185"/>
          </a:xfrm>
        </p:spPr>
        <p:txBody>
          <a:bodyPr/>
          <a:lstStyle/>
          <a:p>
            <a:r>
              <a:rPr lang="ru-RU" dirty="0"/>
              <a:t>Транзакция это -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D99BAE-4167-05EA-D59B-63B88C8C2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223" y="2171700"/>
            <a:ext cx="359648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770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785" y="2592238"/>
            <a:ext cx="5796951" cy="1289650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Что такое </a:t>
            </a:r>
            <a:r>
              <a:rPr lang="en-US" dirty="0"/>
              <a:t>ACID </a:t>
            </a:r>
            <a:r>
              <a:rPr lang="en-US" dirty="0" err="1"/>
              <a:t>и</a:t>
            </a:r>
            <a:r>
              <a:rPr lang="ru-RU" dirty="0"/>
              <a:t> зачем он нужен?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713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3AD2458B-2D6E-7B70-E2FF-F6D598643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740" y="841075"/>
            <a:ext cx="792480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950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7D0544-860F-2D3C-5B26-2966824AD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282" y="1798964"/>
            <a:ext cx="4020418" cy="24672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312707"/>
            <a:ext cx="5796951" cy="746185"/>
          </a:xfrm>
        </p:spPr>
        <p:txBody>
          <a:bodyPr/>
          <a:lstStyle/>
          <a:p>
            <a:r>
              <a:rPr lang="ru-RU" dirty="0"/>
              <a:t>Атомарность</a:t>
            </a: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4039929-9A68-A6B6-9CA9-10798AE47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281" y="1368845"/>
            <a:ext cx="4087608" cy="412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53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312707"/>
            <a:ext cx="5796951" cy="746185"/>
          </a:xfrm>
        </p:spPr>
        <p:txBody>
          <a:bodyPr/>
          <a:lstStyle/>
          <a:p>
            <a:r>
              <a:rPr lang="ru-RU" dirty="0"/>
              <a:t>Согласованность</a:t>
            </a:r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9A16B84-1B18-CE6A-EFD7-0965F4D19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731" y="1676950"/>
            <a:ext cx="3817651" cy="386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B09E151-CF86-71D0-723D-B0C56657D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853" y="1409700"/>
            <a:ext cx="4074874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692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312707"/>
            <a:ext cx="5796951" cy="746185"/>
          </a:xfrm>
        </p:spPr>
        <p:txBody>
          <a:bodyPr/>
          <a:lstStyle/>
          <a:p>
            <a:r>
              <a:rPr lang="ru-RU" dirty="0"/>
              <a:t>Изоляция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7B176D2-DFD8-80B1-EFBD-86EB3A9FB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951" y="1155164"/>
            <a:ext cx="5002374" cy="4712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634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312707"/>
            <a:ext cx="5796951" cy="746185"/>
          </a:xfrm>
        </p:spPr>
        <p:txBody>
          <a:bodyPr/>
          <a:lstStyle/>
          <a:p>
            <a:r>
              <a:rPr lang="ru-RU" dirty="0"/>
              <a:t>Надежность</a:t>
            </a:r>
            <a:endParaRPr lang="en-US" dirty="0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E89B8C35-BC5E-122E-2BD4-934F19598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483" y="1718631"/>
            <a:ext cx="6414265" cy="360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129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выглядят транзакции в современных СУБД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393B24-2914-381C-294A-FEC1CC3E8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864" y="1427792"/>
            <a:ext cx="4704511" cy="433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76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выглядят </a:t>
            </a:r>
            <a:r>
              <a:rPr lang="ru-RU" dirty="0" err="1"/>
              <a:t>транза</a:t>
            </a:r>
            <a:r>
              <a:rPr lang="en-US" dirty="0" err="1"/>
              <a:t>к</a:t>
            </a:r>
            <a:r>
              <a:rPr lang="ru-RU" dirty="0" err="1"/>
              <a:t>ции</a:t>
            </a:r>
            <a:r>
              <a:rPr lang="ru-RU" dirty="0"/>
              <a:t> в современных СУБД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393B24-2914-381C-294A-FEC1CC3E8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840" y="2107062"/>
            <a:ext cx="3097441" cy="285091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BF721B0-18BD-DB50-2D37-3AD1B7C87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044" y="2107062"/>
            <a:ext cx="3097441" cy="285091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0F0FFC0-FBCC-6CCA-B1E6-FEB2C2286EC4}"/>
              </a:ext>
            </a:extLst>
          </p:cNvPr>
          <p:cNvSpPr txBox="1">
            <a:spLocks/>
          </p:cNvSpPr>
          <p:nvPr/>
        </p:nvSpPr>
        <p:spPr>
          <a:xfrm>
            <a:off x="5831457" y="3159424"/>
            <a:ext cx="684362" cy="7461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869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ru-RU" dirty="0"/>
              <a:t>Уровни изоляции транзакций СУБД</a:t>
            </a:r>
            <a:endParaRPr lang="en-US" dirty="0"/>
          </a:p>
        </p:txBody>
      </p:sp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46C8A368-B5AF-DC47-3D35-1652E313E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828" y="1849483"/>
            <a:ext cx="7124344" cy="372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35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ru-RU" dirty="0"/>
              <a:t>Уровни изоляции транзакций СУБД</a:t>
            </a:r>
            <a:endParaRPr lang="en-US" dirty="0"/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8A76A03F-A46A-9C10-338B-47FEE556C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271" y="1762946"/>
            <a:ext cx="7101016" cy="3908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689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en-US" dirty="0"/>
              <a:t>Read </a:t>
            </a:r>
            <a:r>
              <a:rPr lang="en-US" dirty="0" err="1"/>
              <a:t>Uncommited</a:t>
            </a:r>
            <a:r>
              <a:rPr lang="ru-RU" dirty="0"/>
              <a:t> (</a:t>
            </a:r>
            <a:r>
              <a:rPr lang="ru-RU" dirty="0" err="1"/>
              <a:t>D</a:t>
            </a:r>
            <a:r>
              <a:rPr lang="en-US" dirty="0" err="1"/>
              <a:t>irty</a:t>
            </a:r>
            <a:r>
              <a:rPr lang="en-US" dirty="0"/>
              <a:t> Read</a:t>
            </a:r>
            <a:r>
              <a:rPr lang="ru-RU" dirty="0"/>
              <a:t>)</a:t>
            </a:r>
            <a:endParaRPr 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E72A6EEA-078B-A771-BC85-44436C468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359" y="1529967"/>
            <a:ext cx="6974443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6279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en-US" dirty="0"/>
              <a:t>Read </a:t>
            </a:r>
            <a:r>
              <a:rPr lang="en-US" dirty="0" err="1"/>
              <a:t>Uncommited</a:t>
            </a:r>
            <a:r>
              <a:rPr lang="ru-RU" dirty="0"/>
              <a:t> </a:t>
            </a:r>
            <a:r>
              <a:rPr lang="en-US" dirty="0"/>
              <a:t>(Non‑repeatable Read</a:t>
            </a:r>
            <a:r>
              <a:rPr lang="ru-RU" dirty="0"/>
              <a:t>)</a:t>
            </a:r>
            <a:endParaRPr 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E72A6EEA-078B-A771-BC85-44436C468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359" y="1529967"/>
            <a:ext cx="6974443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774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en-US" dirty="0"/>
              <a:t>Read </a:t>
            </a:r>
            <a:r>
              <a:rPr lang="en-US" dirty="0" err="1"/>
              <a:t>Uncommited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 err="1"/>
              <a:t>P</a:t>
            </a:r>
            <a:r>
              <a:rPr lang="en-US" dirty="0" err="1"/>
              <a:t>hantom</a:t>
            </a:r>
            <a:r>
              <a:rPr lang="en-US" dirty="0"/>
              <a:t> Read</a:t>
            </a:r>
            <a:r>
              <a:rPr lang="ru-RU" dirty="0"/>
              <a:t>)</a:t>
            </a:r>
            <a:endParaRPr lang="en-US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19EBF1B8-90DB-4282-46A5-FA06482EB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335" y="1565179"/>
            <a:ext cx="6911439" cy="430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583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en-US" dirty="0"/>
              <a:t>Read </a:t>
            </a:r>
            <a:r>
              <a:rPr lang="en-US" dirty="0" err="1"/>
              <a:t>commited</a:t>
            </a:r>
            <a:r>
              <a:rPr lang="ru-RU" dirty="0"/>
              <a:t> </a:t>
            </a:r>
            <a:r>
              <a:rPr lang="en-US" dirty="0"/>
              <a:t>(Dirty Read</a:t>
            </a:r>
            <a:r>
              <a:rPr lang="ru-RU" dirty="0"/>
              <a:t>)</a:t>
            </a:r>
            <a:endParaRPr lang="en-US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C513B51A-D61E-E46F-249B-79EDF9A6E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788" y="1652531"/>
            <a:ext cx="6561689" cy="409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946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en-US" dirty="0"/>
              <a:t>Repeatable read</a:t>
            </a:r>
            <a:r>
              <a:rPr lang="ru-RU" dirty="0"/>
              <a:t> </a:t>
            </a:r>
            <a:r>
              <a:rPr lang="en-US" dirty="0"/>
              <a:t>(Non‑repeatable Read</a:t>
            </a:r>
            <a:r>
              <a:rPr lang="ru-RU" dirty="0"/>
              <a:t>)</a:t>
            </a:r>
            <a:endParaRPr lang="en-US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F01D2DDA-22E4-4656-67DE-8D6EF53F8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0831" y="1347019"/>
            <a:ext cx="7159325" cy="4764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670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en-US" dirty="0"/>
              <a:t>Serializable (Phantom Read</a:t>
            </a:r>
            <a:r>
              <a:rPr lang="ru-RU" dirty="0"/>
              <a:t>)</a:t>
            </a:r>
            <a:endParaRPr lang="en-US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5C3294D1-BB64-B20F-A365-CEF872567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066" y="1288974"/>
            <a:ext cx="6957875" cy="500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873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ru-RU" dirty="0"/>
              <a:t>Уровни изоляции транзакций СУБД</a:t>
            </a:r>
            <a:endParaRPr lang="en-US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3DB4F851-198D-4F77-9554-52D97C90B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355" y="2677126"/>
            <a:ext cx="8314063" cy="2361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1366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2915" y="2682815"/>
            <a:ext cx="2993808" cy="746185"/>
          </a:xfrm>
        </p:spPr>
        <p:txBody>
          <a:bodyPr>
            <a:normAutofit/>
          </a:bodyPr>
          <a:lstStyle/>
          <a:p>
            <a:r>
              <a:rPr lang="ru-RU" dirty="0"/>
              <a:t>Повторим?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06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Какие компоненты появляются для обеспечения транзакций?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6E52A1-44E4-B177-798C-EEFAF1236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619" y="2880911"/>
            <a:ext cx="2380761" cy="2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40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Какие компоненты появляются для обеспечения транзакций?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6CF41E-B997-1338-3F15-B78F56DC7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9" y="2697756"/>
            <a:ext cx="6313581" cy="227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95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Какие компоненты появляются для обеспечения транзакций?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6DC671-1C28-35E9-F74A-99CB9A57D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952" y="1932036"/>
            <a:ext cx="7772400" cy="33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60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Какие компоненты появляются для обеспечения транзакций?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F497EC-5D75-D421-F6DF-5212477E5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867" y="2043378"/>
            <a:ext cx="8454164" cy="316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710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Какие компоненты появляются для обеспечения транзакций?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DF92D-1EE7-4C5F-4BB6-2DDDDBF2A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920" y="1979694"/>
            <a:ext cx="7772400" cy="411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782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Какие компоненты появляются для обеспечения транзакций?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7DC618-5210-1C6A-BE19-009416E67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854" y="2058777"/>
            <a:ext cx="6002501" cy="414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28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en-US" dirty="0" err="1"/>
              <a:t>М</a:t>
            </a:r>
            <a:r>
              <a:rPr lang="ru-RU" dirty="0" err="1"/>
              <a:t>енеджер</a:t>
            </a:r>
            <a:r>
              <a:rPr lang="ru-RU" dirty="0"/>
              <a:t> транзакций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7E4D5-0F8F-4B05-83FA-D44F8BCC1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461" y="1642336"/>
            <a:ext cx="9805177" cy="399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5648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ru-RU" dirty="0" err="1"/>
              <a:t>W</a:t>
            </a:r>
            <a:r>
              <a:rPr lang="en-US" dirty="0"/>
              <a:t>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DFCCE5-A60E-0D28-6704-7295DB7E0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496" y="2061667"/>
            <a:ext cx="9117098" cy="325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44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en-US" dirty="0"/>
              <a:t>Lock Manager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77C73-A259-F88D-ABCC-BAE3969A333E}"/>
              </a:ext>
            </a:extLst>
          </p:cNvPr>
          <p:cNvSpPr txBox="1"/>
          <p:nvPr/>
        </p:nvSpPr>
        <p:spPr>
          <a:xfrm>
            <a:off x="1485900" y="1674807"/>
            <a:ext cx="38145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Объекты блокировок</a:t>
            </a:r>
          </a:p>
          <a:p>
            <a:endParaRPr lang="en-US" b="1" dirty="0"/>
          </a:p>
          <a:p>
            <a:r>
              <a:rPr lang="en-US" b="1" dirty="0"/>
              <a:t>Row-level</a:t>
            </a:r>
            <a:r>
              <a:rPr lang="en-US" dirty="0"/>
              <a:t> — </a:t>
            </a:r>
            <a:r>
              <a:rPr lang="ru-RU" dirty="0"/>
              <a:t>отдельные версии строк.</a:t>
            </a:r>
          </a:p>
          <a:p>
            <a:r>
              <a:rPr lang="en-US" b="1" dirty="0"/>
              <a:t>Page-level</a:t>
            </a:r>
            <a:r>
              <a:rPr lang="en-US" dirty="0"/>
              <a:t> — </a:t>
            </a:r>
            <a:r>
              <a:rPr lang="ru-RU" dirty="0"/>
              <a:t>страница таблицы или индекса.</a:t>
            </a:r>
          </a:p>
          <a:p>
            <a:r>
              <a:rPr lang="en-US" b="1" dirty="0"/>
              <a:t>Table-level</a:t>
            </a:r>
            <a:r>
              <a:rPr lang="en-US" dirty="0"/>
              <a:t> — </a:t>
            </a:r>
            <a:r>
              <a:rPr lang="ru-RU" dirty="0"/>
              <a:t>сама таблица (</a:t>
            </a:r>
            <a:r>
              <a:rPr lang="en-US" dirty="0"/>
              <a:t>DDL, </a:t>
            </a:r>
            <a:r>
              <a:rPr lang="ru-RU" dirty="0"/>
              <a:t>эксклюзивные операции).</a:t>
            </a:r>
          </a:p>
          <a:p>
            <a:r>
              <a:rPr lang="en-US" b="1" dirty="0"/>
              <a:t>Database-level</a:t>
            </a:r>
            <a:r>
              <a:rPr lang="en-US" dirty="0"/>
              <a:t> — </a:t>
            </a:r>
            <a:r>
              <a:rPr lang="ru-RU" dirty="0"/>
              <a:t>операции над БД (</a:t>
            </a:r>
            <a:r>
              <a:rPr lang="en-US" dirty="0"/>
              <a:t>DROP DATABASE </a:t>
            </a:r>
            <a:r>
              <a:rPr lang="ru-RU" dirty="0"/>
              <a:t>и др.).</a:t>
            </a:r>
          </a:p>
          <a:p>
            <a:r>
              <a:rPr lang="en-US" b="1" dirty="0"/>
              <a:t>Advisory locks</a:t>
            </a:r>
            <a:r>
              <a:rPr lang="en-US" dirty="0"/>
              <a:t> — </a:t>
            </a:r>
            <a:r>
              <a:rPr lang="ru-RU" dirty="0"/>
              <a:t>произвольные пользовательские блокировки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B8B4B3-ACD1-DD17-E8D8-7629C9E0FBCD}"/>
              </a:ext>
            </a:extLst>
          </p:cNvPr>
          <p:cNvSpPr txBox="1"/>
          <p:nvPr/>
        </p:nvSpPr>
        <p:spPr>
          <a:xfrm>
            <a:off x="5854361" y="1674807"/>
            <a:ext cx="60978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Типы блокировок (на примере таблиц в </a:t>
            </a:r>
            <a:r>
              <a:rPr lang="en-US" b="1" dirty="0"/>
              <a:t>PostgreSQL)</a:t>
            </a:r>
          </a:p>
          <a:p>
            <a:r>
              <a:rPr lang="ru-RU" dirty="0"/>
              <a:t>Можно перечислить несколько основных режимов:</a:t>
            </a:r>
          </a:p>
          <a:p>
            <a:endParaRPr lang="en-US" dirty="0"/>
          </a:p>
          <a:p>
            <a:r>
              <a:rPr lang="en-US" dirty="0"/>
              <a:t>ACCESS SHARE — </a:t>
            </a:r>
            <a:r>
              <a:rPr lang="ru-RU" dirty="0"/>
              <a:t>для обычных </a:t>
            </a:r>
            <a:r>
              <a:rPr lang="en-US" dirty="0"/>
              <a:t>SELECT; </a:t>
            </a:r>
            <a:r>
              <a:rPr lang="ru-RU" dirty="0"/>
              <a:t>совместима почти со всем.</a:t>
            </a:r>
          </a:p>
          <a:p>
            <a:r>
              <a:rPr lang="en-US" dirty="0"/>
              <a:t>ROW SHARE — SELECT FOR UPDATE/SHARE.</a:t>
            </a:r>
          </a:p>
          <a:p>
            <a:r>
              <a:rPr lang="en-US" dirty="0"/>
              <a:t>ROW EXCLUSIVE — INSERT/UPDATE/DELETE.</a:t>
            </a:r>
          </a:p>
          <a:p>
            <a:r>
              <a:rPr lang="en-US" dirty="0"/>
              <a:t>SHARE UPDATE EXCLUSIVE — VACUUM </a:t>
            </a:r>
            <a:r>
              <a:rPr lang="ru-RU" dirty="0"/>
              <a:t>и некоторые </a:t>
            </a:r>
            <a:r>
              <a:rPr lang="en-US" dirty="0"/>
              <a:t>DDL.</a:t>
            </a:r>
          </a:p>
          <a:p>
            <a:r>
              <a:rPr lang="en-US" dirty="0"/>
              <a:t>SHARE — </a:t>
            </a:r>
            <a:r>
              <a:rPr lang="ru-RU" dirty="0"/>
              <a:t>операции, требующие стабильности структуры.</a:t>
            </a:r>
          </a:p>
          <a:p>
            <a:r>
              <a:rPr lang="en-US" dirty="0"/>
              <a:t>EXCLUSIVE — </a:t>
            </a:r>
            <a:r>
              <a:rPr lang="ru-RU" dirty="0"/>
              <a:t>редкие тяжёлые операции.</a:t>
            </a:r>
          </a:p>
          <a:p>
            <a:r>
              <a:rPr lang="en-US" dirty="0"/>
              <a:t>ACCESS EXCLUSIVE — ALTER TABLE, DROP TABLE </a:t>
            </a:r>
            <a:r>
              <a:rPr lang="ru-RU" dirty="0"/>
              <a:t>и др.; конфликтует почти со всеми.</a:t>
            </a:r>
          </a:p>
        </p:txBody>
      </p:sp>
    </p:spTree>
    <p:extLst>
      <p:ext uri="{BB962C8B-B14F-4D97-AF65-F5344CB8AC3E}">
        <p14:creationId xmlns:p14="http://schemas.microsoft.com/office/powerpoint/2010/main" val="3997261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en-US" dirty="0"/>
              <a:t>Lock Manager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83B150-1156-CF99-2809-25E8954C8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186" y="2010037"/>
            <a:ext cx="8993313" cy="307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10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2915" y="2682815"/>
            <a:ext cx="2993808" cy="746185"/>
          </a:xfrm>
        </p:spPr>
        <p:txBody>
          <a:bodyPr>
            <a:normAutofit/>
          </a:bodyPr>
          <a:lstStyle/>
          <a:p>
            <a:r>
              <a:rPr lang="ru-RU" dirty="0"/>
              <a:t>Повторим?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57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en-US" dirty="0"/>
              <a:t>MVCC </a:t>
            </a:r>
            <a:r>
              <a:rPr lang="ru-RU" dirty="0"/>
              <a:t>и физические структуры</a:t>
            </a:r>
            <a:br>
              <a:rPr lang="ru-RU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DE9CF-333F-C819-2A63-83BAB5BEC1D5}"/>
              </a:ext>
            </a:extLst>
          </p:cNvPr>
          <p:cNvSpPr txBox="1"/>
          <p:nvPr/>
        </p:nvSpPr>
        <p:spPr>
          <a:xfrm>
            <a:off x="1485900" y="1501679"/>
            <a:ext cx="827642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PostgreSQL </a:t>
            </a:r>
            <a:r>
              <a:rPr lang="ru-RU" dirty="0"/>
              <a:t>использует </a:t>
            </a:r>
            <a:r>
              <a:rPr lang="ru-RU" b="1" dirty="0" err="1"/>
              <a:t>многоверсионность</a:t>
            </a:r>
            <a:r>
              <a:rPr lang="ru-RU" b="1" dirty="0"/>
              <a:t> строк (</a:t>
            </a:r>
            <a:r>
              <a:rPr lang="en-US" b="1" dirty="0"/>
              <a:t>tuple </a:t>
            </a:r>
            <a:r>
              <a:rPr lang="en-US" b="1" dirty="0" err="1"/>
              <a:t>multiversioning</a:t>
            </a:r>
            <a:r>
              <a:rPr lang="en-US" b="1" dirty="0"/>
              <a:t>)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каждая операция изменения данных </a:t>
            </a:r>
            <a:r>
              <a:rPr lang="ru-RU" b="1" dirty="0"/>
              <a:t>не перезаписывает строку</a:t>
            </a:r>
            <a:r>
              <a:rPr lang="ru-RU" dirty="0"/>
              <a:t>, а создает </a:t>
            </a:r>
            <a:r>
              <a:rPr lang="ru-RU" b="1" dirty="0"/>
              <a:t>новую версию </a:t>
            </a:r>
            <a:r>
              <a:rPr lang="en-US" b="1" dirty="0"/>
              <a:t>tuple</a:t>
            </a:r>
            <a:r>
              <a:rPr lang="en-US" dirty="0"/>
              <a:t> </a:t>
            </a:r>
            <a:r>
              <a:rPr lang="ru-RU" dirty="0"/>
              <a:t>в таблице. Старые версии остаются до тех пор, пока они могут быть видимы каким-то активным транзакциям.</a:t>
            </a:r>
          </a:p>
          <a:p>
            <a:endParaRPr lang="en-US" dirty="0"/>
          </a:p>
          <a:p>
            <a:r>
              <a:rPr lang="ru-RU" dirty="0"/>
              <a:t>Ключевые поля каждого </a:t>
            </a:r>
            <a:r>
              <a:rPr lang="en-US" dirty="0"/>
              <a:t>tuple:</a:t>
            </a:r>
          </a:p>
          <a:p>
            <a:r>
              <a:rPr lang="en-US" b="1" dirty="0" err="1"/>
              <a:t>xmin</a:t>
            </a:r>
            <a:r>
              <a:rPr lang="en-US" dirty="0"/>
              <a:t> — ID </a:t>
            </a:r>
            <a:r>
              <a:rPr lang="ru-RU" dirty="0"/>
              <a:t>транзакции, создавшей строку.</a:t>
            </a:r>
          </a:p>
          <a:p>
            <a:r>
              <a:rPr lang="en-US" b="1" dirty="0" err="1"/>
              <a:t>xmax</a:t>
            </a:r>
            <a:r>
              <a:rPr lang="en-US" dirty="0"/>
              <a:t> — ID </a:t>
            </a:r>
            <a:r>
              <a:rPr lang="ru-RU" dirty="0"/>
              <a:t>транзакции, которая строку "удалила" или обновила (</a:t>
            </a:r>
            <a:r>
              <a:rPr lang="en-US" dirty="0"/>
              <a:t>UPDATE = DELETE + INSERT).</a:t>
            </a:r>
          </a:p>
          <a:p>
            <a:endParaRPr lang="en-US" dirty="0"/>
          </a:p>
          <a:p>
            <a:r>
              <a:rPr lang="ru-RU" dirty="0"/>
              <a:t>Дополнительно есть флаги:</a:t>
            </a:r>
          </a:p>
          <a:p>
            <a:r>
              <a:rPr lang="en-US" b="1" dirty="0"/>
              <a:t>hint bits</a:t>
            </a:r>
            <a:r>
              <a:rPr lang="en-US" dirty="0"/>
              <a:t> (HEAP_XMIN_COMMITTED, HEAP_XMAX_INVALID…)</a:t>
            </a:r>
          </a:p>
          <a:p>
            <a:r>
              <a:rPr lang="en-US" b="1" dirty="0"/>
              <a:t>CID</a:t>
            </a:r>
            <a:r>
              <a:rPr lang="en-US" dirty="0"/>
              <a:t> — </a:t>
            </a:r>
            <a:r>
              <a:rPr lang="ru-RU" dirty="0"/>
              <a:t>в рамках одной транзакции определяет порядок команд.</a:t>
            </a:r>
          </a:p>
        </p:txBody>
      </p:sp>
    </p:spTree>
    <p:extLst>
      <p:ext uri="{BB962C8B-B14F-4D97-AF65-F5344CB8AC3E}">
        <p14:creationId xmlns:p14="http://schemas.microsoft.com/office/powerpoint/2010/main" val="3920306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en-US" dirty="0"/>
              <a:t>MVCC </a:t>
            </a:r>
            <a:r>
              <a:rPr lang="ru-RU" dirty="0"/>
              <a:t>и физические структуры</a:t>
            </a:r>
            <a:br>
              <a:rPr lang="ru-RU" dirty="0"/>
            </a:br>
            <a:endParaRPr lang="en-US" dirty="0"/>
          </a:p>
        </p:txBody>
      </p:sp>
      <p:pic>
        <p:nvPicPr>
          <p:cNvPr id="34818" name="Picture 2" descr="A Deeper Look Inside PostgreSQL Visibility Check Mechanism - Highgo  Software Inc.">
            <a:extLst>
              <a:ext uri="{FF2B5EF4-FFF2-40B4-BE49-F238E27FC236}">
                <a16:creationId xmlns:a16="http://schemas.microsoft.com/office/drawing/2014/main" id="{6C8C2E99-243E-5708-245F-38BCD2423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719167"/>
            <a:ext cx="9878584" cy="414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3467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en-US" dirty="0"/>
              <a:t>MVCC </a:t>
            </a:r>
            <a:r>
              <a:rPr lang="ru-RU" dirty="0"/>
              <a:t>и физические структуры</a:t>
            </a:r>
            <a:br>
              <a:rPr lang="ru-RU" dirty="0"/>
            </a:b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21765E-54D2-DE75-AF8D-94AE7073D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96" y="2218728"/>
            <a:ext cx="10136642" cy="280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73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en-US" dirty="0"/>
              <a:t>MVCC </a:t>
            </a:r>
            <a:r>
              <a:rPr lang="ru-RU" dirty="0"/>
              <a:t>и физические структуры</a:t>
            </a:r>
            <a:br>
              <a:rPr lang="ru-RU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B354AD-C0CF-B9B8-F7EB-721E5B0C4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576" y="1446422"/>
            <a:ext cx="7772400" cy="462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34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en-US" dirty="0"/>
              <a:t>VACUUM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EC9329-DEA6-54F1-E9A8-5A4A44BA7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46053"/>
            <a:ext cx="8763000" cy="402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697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уровней изоляции в </a:t>
            </a:r>
            <a:r>
              <a:rPr lang="en-US" dirty="0"/>
              <a:t>PostgreSQL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9896E-1447-0FE2-CE91-F39B57C449D6}"/>
              </a:ext>
            </a:extLst>
          </p:cNvPr>
          <p:cNvSpPr txBox="1"/>
          <p:nvPr/>
        </p:nvSpPr>
        <p:spPr>
          <a:xfrm>
            <a:off x="3395490" y="2400300"/>
            <a:ext cx="70315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/>
              <a:t>Снапшот</a:t>
            </a:r>
            <a:r>
              <a:rPr lang="ru-RU" b="1" dirty="0"/>
              <a:t> содержит:</a:t>
            </a:r>
            <a:endParaRPr lang="en-US" b="1" dirty="0"/>
          </a:p>
          <a:p>
            <a:endParaRPr lang="ru-RU" dirty="0"/>
          </a:p>
          <a:p>
            <a:r>
              <a:rPr lang="en-US" dirty="0" err="1"/>
              <a:t>xmin</a:t>
            </a:r>
            <a:r>
              <a:rPr lang="en-US" dirty="0"/>
              <a:t> — </a:t>
            </a:r>
            <a:r>
              <a:rPr lang="ru-RU" dirty="0"/>
              <a:t>минимальный </a:t>
            </a:r>
            <a:r>
              <a:rPr lang="en-US" dirty="0" err="1"/>
              <a:t>xid</a:t>
            </a:r>
            <a:r>
              <a:rPr lang="en-US" dirty="0"/>
              <a:t>, </a:t>
            </a:r>
            <a:r>
              <a:rPr lang="ru-RU" dirty="0"/>
              <a:t>который может быть видим;</a:t>
            </a:r>
          </a:p>
          <a:p>
            <a:r>
              <a:rPr lang="en-US" dirty="0" err="1"/>
              <a:t>xmax</a:t>
            </a:r>
            <a:r>
              <a:rPr lang="en-US" dirty="0"/>
              <a:t> — </a:t>
            </a:r>
            <a:r>
              <a:rPr lang="ru-RU" dirty="0"/>
              <a:t>первое зарезервированное </a:t>
            </a:r>
            <a:r>
              <a:rPr lang="en-US" dirty="0" err="1"/>
              <a:t>xid</a:t>
            </a:r>
            <a:r>
              <a:rPr lang="en-US" dirty="0"/>
              <a:t> </a:t>
            </a:r>
            <a:r>
              <a:rPr lang="ru-RU" dirty="0"/>
              <a:t>после старта </a:t>
            </a:r>
            <a:r>
              <a:rPr lang="en-US" dirty="0"/>
              <a:t>T;</a:t>
            </a:r>
          </a:p>
          <a:p>
            <a:r>
              <a:rPr lang="ru-RU" dirty="0"/>
              <a:t>список всех активных транзакций на момент старта;</a:t>
            </a:r>
          </a:p>
          <a:p>
            <a:r>
              <a:rPr lang="ru-RU" dirty="0"/>
              <a:t>правила: «видимо всё, что: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меньше </a:t>
            </a:r>
            <a:r>
              <a:rPr lang="en-US" dirty="0" err="1"/>
              <a:t>xmin</a:t>
            </a:r>
            <a:r>
              <a:rPr lang="en-US" dirty="0"/>
              <a:t> (</a:t>
            </a:r>
            <a:r>
              <a:rPr lang="ru-RU" dirty="0" err="1"/>
              <a:t>закоммичено</a:t>
            </a:r>
            <a:r>
              <a:rPr lang="ru-RU" dirty="0"/>
              <a:t> раньше),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между </a:t>
            </a:r>
            <a:r>
              <a:rPr lang="en-US" dirty="0" err="1"/>
              <a:t>xmin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xmax</a:t>
            </a:r>
            <a:r>
              <a:rPr lang="en-US" dirty="0"/>
              <a:t>, </a:t>
            </a:r>
            <a:r>
              <a:rPr lang="ru-RU" dirty="0"/>
              <a:t>но </a:t>
            </a:r>
            <a:r>
              <a:rPr lang="ru-RU" i="1" dirty="0"/>
              <a:t>не</a:t>
            </a:r>
            <a:r>
              <a:rPr lang="ru-RU" dirty="0"/>
              <a:t> в списке активных».</a:t>
            </a:r>
          </a:p>
        </p:txBody>
      </p:sp>
    </p:spTree>
    <p:extLst>
      <p:ext uri="{BB962C8B-B14F-4D97-AF65-F5344CB8AC3E}">
        <p14:creationId xmlns:p14="http://schemas.microsoft.com/office/powerpoint/2010/main" val="17389811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уровней изоляции в </a:t>
            </a:r>
            <a:r>
              <a:rPr lang="en-US" dirty="0"/>
              <a:t>PostgreSQL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0502D-E57F-0983-221D-666554AB454F}"/>
              </a:ext>
            </a:extLst>
          </p:cNvPr>
          <p:cNvSpPr txBox="1"/>
          <p:nvPr/>
        </p:nvSpPr>
        <p:spPr>
          <a:xfrm>
            <a:off x="3301202" y="1408837"/>
            <a:ext cx="60978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Read Committed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 умолчанию.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Каждый оператор (</a:t>
            </a:r>
            <a:r>
              <a:rPr lang="en-US" dirty="0"/>
              <a:t>statement) </a:t>
            </a:r>
            <a:r>
              <a:rPr lang="ru-RU" dirty="0"/>
              <a:t>берёт новый </a:t>
            </a:r>
            <a:r>
              <a:rPr lang="ru-RU" dirty="0" err="1"/>
              <a:t>снапшот</a:t>
            </a:r>
            <a:r>
              <a:rPr lang="ru-R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Т.е. разные </a:t>
            </a:r>
            <a:r>
              <a:rPr lang="en-US" dirty="0"/>
              <a:t>SELECT </a:t>
            </a:r>
            <a:r>
              <a:rPr lang="ru-RU" dirty="0"/>
              <a:t>внутри одной транзакции могут видеть разные коммиты других транзакций.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Non-repeatable read </a:t>
            </a:r>
            <a:r>
              <a:rPr lang="ru-RU" dirty="0"/>
              <a:t>и </a:t>
            </a:r>
            <a:r>
              <a:rPr lang="en-US" dirty="0"/>
              <a:t>phantom read </a:t>
            </a:r>
            <a:r>
              <a:rPr lang="ru-RU" dirty="0"/>
              <a:t>возможны.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B08E5D-7D08-1857-8AD5-E454A88A8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985" y="3429000"/>
            <a:ext cx="7772400" cy="251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0883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уровней изоляции в </a:t>
            </a:r>
            <a:r>
              <a:rPr lang="en-US" dirty="0"/>
              <a:t>PostgreSQL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0502D-E57F-0983-221D-666554AB454F}"/>
              </a:ext>
            </a:extLst>
          </p:cNvPr>
          <p:cNvSpPr txBox="1"/>
          <p:nvPr/>
        </p:nvSpPr>
        <p:spPr>
          <a:xfrm>
            <a:off x="3301202" y="1674674"/>
            <a:ext cx="60978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Repeatable Read (Snapshot Isolation)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Снапшот</a:t>
            </a:r>
            <a:r>
              <a:rPr lang="ru-RU" dirty="0"/>
              <a:t> фиксируется в начале транзакции.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Все операторы в транзакции видят одну и ту же картину данных (по видимости коммитов).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Нет </a:t>
            </a:r>
            <a:r>
              <a:rPr lang="en-US" dirty="0"/>
              <a:t>non-repeatable read </a:t>
            </a:r>
            <a:r>
              <a:rPr lang="ru-RU" dirty="0"/>
              <a:t>по отношению к уже прочитанным данным.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2E2528-9942-8FAB-61AD-86E37D648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920" y="3896458"/>
            <a:ext cx="7772400" cy="173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79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Реализация уровней изоляции в </a:t>
            </a:r>
            <a:r>
              <a:rPr lang="en-US" dirty="0"/>
              <a:t>PostgreSQL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0502D-E57F-0983-221D-666554AB454F}"/>
              </a:ext>
            </a:extLst>
          </p:cNvPr>
          <p:cNvSpPr txBox="1"/>
          <p:nvPr/>
        </p:nvSpPr>
        <p:spPr>
          <a:xfrm>
            <a:off x="3301202" y="1674674"/>
            <a:ext cx="60978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Serializable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PostgreSQL </a:t>
            </a:r>
            <a:r>
              <a:rPr lang="ru-RU" dirty="0"/>
              <a:t>использует </a:t>
            </a:r>
            <a:r>
              <a:rPr lang="en-US" dirty="0"/>
              <a:t>Serializable Snapshot Isolation (SSI).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Помимо </a:t>
            </a:r>
            <a:r>
              <a:rPr lang="ru-RU" dirty="0" err="1"/>
              <a:t>снапшотов</a:t>
            </a:r>
            <a:r>
              <a:rPr lang="ru-RU" dirty="0"/>
              <a:t>, отслеживаются конфликты между транзакциями.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обнаружении невозможности </a:t>
            </a:r>
            <a:r>
              <a:rPr lang="ru-RU" dirty="0" err="1"/>
              <a:t>сериализовать</a:t>
            </a:r>
            <a:r>
              <a:rPr lang="ru-RU" dirty="0"/>
              <a:t> операции одна из транзакций откатывается с ошибкой </a:t>
            </a:r>
            <a:r>
              <a:rPr lang="en-US" dirty="0" err="1"/>
              <a:t>serialization_failure</a:t>
            </a:r>
            <a:r>
              <a:rPr lang="en-US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E75C55-9124-C0FC-68C0-AE1D0C1C3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962" y="4317743"/>
            <a:ext cx="7772400" cy="173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265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2915" y="2682815"/>
            <a:ext cx="2993808" cy="746185"/>
          </a:xfrm>
        </p:spPr>
        <p:txBody>
          <a:bodyPr>
            <a:normAutofit/>
          </a:bodyPr>
          <a:lstStyle/>
          <a:p>
            <a:r>
              <a:rPr lang="ru-RU" dirty="0"/>
              <a:t>Повторим?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9466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 fontScale="90000"/>
          </a:bodyPr>
          <a:lstStyle/>
          <a:p>
            <a:r>
              <a:rPr lang="ru-RU" dirty="0"/>
              <a:t>Зачем нужны блокировки, если есть </a:t>
            </a:r>
            <a:r>
              <a:rPr lang="en-US" dirty="0"/>
              <a:t>MVCC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07C15-B80D-368D-606C-7F535490B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2131599"/>
            <a:ext cx="8993097" cy="25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474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en-US" dirty="0" err="1"/>
              <a:t>О</a:t>
            </a:r>
            <a:r>
              <a:rPr lang="ru-RU" dirty="0" err="1"/>
              <a:t>сновные</a:t>
            </a:r>
            <a:r>
              <a:rPr lang="ru-RU" dirty="0"/>
              <a:t> структуры блокировок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49FF8D-0840-48FC-8421-476DEA6D1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055" y="1487053"/>
            <a:ext cx="9085745" cy="388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824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ru-RU" dirty="0"/>
              <a:t>Как возникает </a:t>
            </a:r>
            <a:r>
              <a:rPr lang="ru-RU" dirty="0" err="1"/>
              <a:t>дедлок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BDD07-75CB-4F28-6414-15CAE35CC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328" y="1504968"/>
            <a:ext cx="9523164" cy="414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5078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921108-BE5A-1FA9-D973-00BCCF36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02" y="312707"/>
            <a:ext cx="10315036" cy="746185"/>
          </a:xfrm>
        </p:spPr>
        <p:txBody>
          <a:bodyPr>
            <a:normAutofit/>
          </a:bodyPr>
          <a:lstStyle/>
          <a:p>
            <a:r>
              <a:rPr lang="ru-RU" dirty="0"/>
              <a:t>Практика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71A2D-781B-4C8D-6886-73A82BF4226D}"/>
              </a:ext>
            </a:extLst>
          </p:cNvPr>
          <p:cNvSpPr txBox="1"/>
          <p:nvPr/>
        </p:nvSpPr>
        <p:spPr>
          <a:xfrm>
            <a:off x="3269254" y="2551837"/>
            <a:ext cx="67891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https://</a:t>
            </a:r>
            <a:r>
              <a:rPr lang="en-US" sz="3600" dirty="0" err="1"/>
              <a:t>github.com</a:t>
            </a:r>
            <a:r>
              <a:rPr lang="en-US" sz="3600" dirty="0"/>
              <a:t>/central-university-dev/cu-database-internals-practice/</a:t>
            </a:r>
          </a:p>
        </p:txBody>
      </p:sp>
    </p:spTree>
    <p:extLst>
      <p:ext uri="{BB962C8B-B14F-4D97-AF65-F5344CB8AC3E}">
        <p14:creationId xmlns:p14="http://schemas.microsoft.com/office/powerpoint/2010/main" val="197643322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4456</TotalTime>
  <Words>742</Words>
  <Application>Microsoft Macintosh PowerPoint</Application>
  <PresentationFormat>Widescreen</PresentationFormat>
  <Paragraphs>118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Franklin Gothic Book</vt:lpstr>
      <vt:lpstr>Crop</vt:lpstr>
      <vt:lpstr>Транзакции в СУБД</vt:lpstr>
      <vt:lpstr>Цель занятия</vt:lpstr>
      <vt:lpstr>План занятия</vt:lpstr>
      <vt:lpstr>Что такое транзакция?</vt:lpstr>
      <vt:lpstr>Транзакция это -</vt:lpstr>
      <vt:lpstr>Что такое ACID и зачем он нужен?</vt:lpstr>
      <vt:lpstr>PowerPoint Presentation</vt:lpstr>
      <vt:lpstr>Атомарность</vt:lpstr>
      <vt:lpstr>Согласованность</vt:lpstr>
      <vt:lpstr>Изоляция</vt:lpstr>
      <vt:lpstr>Надежность</vt:lpstr>
      <vt:lpstr>Как выглядят транзакции в современных СУБД</vt:lpstr>
      <vt:lpstr>Как выглядят транзакции в современных СУБД</vt:lpstr>
      <vt:lpstr>Уровни изоляции транзакций СУБД</vt:lpstr>
      <vt:lpstr>Уровни изоляции транзакций СУБД</vt:lpstr>
      <vt:lpstr>Read Uncommited (Dirty Read)</vt:lpstr>
      <vt:lpstr>Read Uncommited (Non‑repeatable Read)</vt:lpstr>
      <vt:lpstr>Read Uncommited (Phantom Read)</vt:lpstr>
      <vt:lpstr>Read commited (Dirty Read)</vt:lpstr>
      <vt:lpstr>Repeatable read (Non‑repeatable Read)</vt:lpstr>
      <vt:lpstr>Serializable (Phantom Read)</vt:lpstr>
      <vt:lpstr>Уровни изоляции транзакций СУБД</vt:lpstr>
      <vt:lpstr>Повторим?</vt:lpstr>
      <vt:lpstr>Какие компоненты появляются для обеспечения транзакций?</vt:lpstr>
      <vt:lpstr>Какие компоненты появляются для обеспечения транзакций?</vt:lpstr>
      <vt:lpstr>Какие компоненты появляются для обеспечения транзакций?</vt:lpstr>
      <vt:lpstr>Какие компоненты появляются для обеспечения транзакций?</vt:lpstr>
      <vt:lpstr>Какие компоненты появляются для обеспечения транзакций?</vt:lpstr>
      <vt:lpstr>Какие компоненты появляются для обеспечения транзакций?</vt:lpstr>
      <vt:lpstr>Менеджер транзакций</vt:lpstr>
      <vt:lpstr>WAL</vt:lpstr>
      <vt:lpstr>Lock Manager</vt:lpstr>
      <vt:lpstr>Lock Manager</vt:lpstr>
      <vt:lpstr>Повторим?</vt:lpstr>
      <vt:lpstr>MVCC и физические структуры </vt:lpstr>
      <vt:lpstr>MVCC и физические структуры </vt:lpstr>
      <vt:lpstr>MVCC и физические структуры </vt:lpstr>
      <vt:lpstr>MVCC и физические структуры </vt:lpstr>
      <vt:lpstr>VACUUM</vt:lpstr>
      <vt:lpstr>Реализация уровней изоляции в PostgreSQL</vt:lpstr>
      <vt:lpstr>Реализация уровней изоляции в PostgreSQL</vt:lpstr>
      <vt:lpstr>Реализация уровней изоляции в PostgreSQL</vt:lpstr>
      <vt:lpstr>Реализация уровней изоляции в PostgreSQL</vt:lpstr>
      <vt:lpstr>Повторим?</vt:lpstr>
      <vt:lpstr>Зачем нужны блокировки, если есть MVCC </vt:lpstr>
      <vt:lpstr>Основные структуры блокировок</vt:lpstr>
      <vt:lpstr>Как возникает дедлок</vt:lpstr>
      <vt:lpstr>Практика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Буфферный менеджер в СУБД</dc:title>
  <dc:creator>e gulyakin</dc:creator>
  <cp:lastModifiedBy>e gulyakin</cp:lastModifiedBy>
  <cp:revision>237</cp:revision>
  <dcterms:created xsi:type="dcterms:W3CDTF">2025-09-15T11:53:13Z</dcterms:created>
  <dcterms:modified xsi:type="dcterms:W3CDTF">2025-12-02T06:47:45Z</dcterms:modified>
</cp:coreProperties>
</file>