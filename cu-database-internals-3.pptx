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347" r:id="rId4"/>
    <p:sldId id="258" r:id="rId5"/>
    <p:sldId id="351" r:id="rId6"/>
    <p:sldId id="349" r:id="rId7"/>
    <p:sldId id="276" r:id="rId8"/>
    <p:sldId id="296" r:id="rId9"/>
    <p:sldId id="297" r:id="rId10"/>
    <p:sldId id="298" r:id="rId11"/>
    <p:sldId id="259" r:id="rId12"/>
    <p:sldId id="352" r:id="rId13"/>
    <p:sldId id="353" r:id="rId14"/>
    <p:sldId id="354" r:id="rId15"/>
    <p:sldId id="360" r:id="rId16"/>
    <p:sldId id="361" r:id="rId17"/>
    <p:sldId id="362" r:id="rId18"/>
    <p:sldId id="363" r:id="rId19"/>
    <p:sldId id="364" r:id="rId20"/>
    <p:sldId id="356" r:id="rId21"/>
    <p:sldId id="358" r:id="rId22"/>
    <p:sldId id="357" r:id="rId23"/>
    <p:sldId id="359" r:id="rId24"/>
    <p:sldId id="367" r:id="rId25"/>
    <p:sldId id="283" r:id="rId26"/>
    <p:sldId id="286" r:id="rId27"/>
    <p:sldId id="366" r:id="rId28"/>
    <p:sldId id="368" r:id="rId29"/>
    <p:sldId id="373" r:id="rId30"/>
    <p:sldId id="369" r:id="rId31"/>
    <p:sldId id="370" r:id="rId32"/>
    <p:sldId id="372" r:id="rId33"/>
    <p:sldId id="371" r:id="rId34"/>
    <p:sldId id="378" r:id="rId35"/>
    <p:sldId id="374" r:id="rId36"/>
    <p:sldId id="376" r:id="rId37"/>
    <p:sldId id="375" r:id="rId38"/>
    <p:sldId id="377" r:id="rId39"/>
    <p:sldId id="379" r:id="rId40"/>
    <p:sldId id="380" r:id="rId41"/>
    <p:sldId id="381" r:id="rId42"/>
    <p:sldId id="384" r:id="rId43"/>
    <p:sldId id="382" r:id="rId44"/>
    <p:sldId id="383" r:id="rId45"/>
    <p:sldId id="385" r:id="rId46"/>
    <p:sldId id="365" r:id="rId47"/>
    <p:sldId id="386" r:id="rId48"/>
    <p:sldId id="355" r:id="rId49"/>
    <p:sldId id="388" r:id="rId50"/>
    <p:sldId id="389" r:id="rId51"/>
    <p:sldId id="392" r:id="rId52"/>
    <p:sldId id="393" r:id="rId53"/>
    <p:sldId id="390" r:id="rId54"/>
    <p:sldId id="391" r:id="rId55"/>
    <p:sldId id="394" r:id="rId56"/>
    <p:sldId id="395" r:id="rId57"/>
    <p:sldId id="396" r:id="rId58"/>
    <p:sldId id="397" r:id="rId59"/>
    <p:sldId id="398" r:id="rId60"/>
    <p:sldId id="399" r:id="rId61"/>
    <p:sldId id="400" r:id="rId62"/>
    <p:sldId id="401" r:id="rId63"/>
    <p:sldId id="402" r:id="rId64"/>
    <p:sldId id="403" r:id="rId65"/>
    <p:sldId id="404" r:id="rId66"/>
    <p:sldId id="405" r:id="rId67"/>
    <p:sldId id="406" r:id="rId68"/>
    <p:sldId id="407" r:id="rId69"/>
    <p:sldId id="408" r:id="rId70"/>
    <p:sldId id="409" r:id="rId71"/>
    <p:sldId id="410" r:id="rId72"/>
    <p:sldId id="411" r:id="rId73"/>
    <p:sldId id="412" r:id="rId74"/>
    <p:sldId id="413" r:id="rId75"/>
    <p:sldId id="414" r:id="rId7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86A"/>
    <a:srgbClr val="FFD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31"/>
    <p:restoredTop sz="96405"/>
  </p:normalViewPr>
  <p:slideViewPr>
    <p:cSldViewPr snapToGrid="0" showGuides="1">
      <p:cViewPr>
        <p:scale>
          <a:sx n="100" d="100"/>
          <a:sy n="100" d="100"/>
        </p:scale>
        <p:origin x="728" y="1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F1CFB-1DED-71E7-5407-6EB108BFD3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Каталоги в СУБД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B81CC-D5FA-4BB2-3BAB-8D4894EAC5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С</a:t>
            </a:r>
            <a:r>
              <a:rPr lang="en-US" dirty="0" err="1">
                <a:solidFill>
                  <a:schemeClr val="tx1"/>
                </a:solidFill>
              </a:rPr>
              <a:t>entral</a:t>
            </a:r>
            <a:r>
              <a:rPr lang="en-US" dirty="0">
                <a:solidFill>
                  <a:schemeClr val="tx1"/>
                </a:solidFill>
              </a:rPr>
              <a:t> University Database Engineering</a:t>
            </a:r>
          </a:p>
        </p:txBody>
      </p:sp>
    </p:spTree>
    <p:extLst>
      <p:ext uri="{BB962C8B-B14F-4D97-AF65-F5344CB8AC3E}">
        <p14:creationId xmlns:p14="http://schemas.microsoft.com/office/powerpoint/2010/main" val="187962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7D32E-3D4F-329E-BE9D-45873602B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dirty="0">
                <a:solidFill>
                  <a:schemeClr val="tx1"/>
                </a:solidFill>
              </a:rPr>
              <a:t>Цель занятия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A7F92-01B7-041D-E195-EAE0DCC70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tx1"/>
                </a:solidFill>
                <a:latin typeface="-apple-system"/>
              </a:rPr>
              <a:t>П</a:t>
            </a:r>
            <a:r>
              <a:rPr lang="ru-RU" b="0" i="0" dirty="0">
                <a:solidFill>
                  <a:schemeClr val="tx1"/>
                </a:solidFill>
                <a:effectLst/>
                <a:latin typeface="-apple-system"/>
              </a:rPr>
              <a:t>онять, зачем СУБД нужны системные каталоги</a:t>
            </a:r>
          </a:p>
          <a:p>
            <a:r>
              <a:rPr lang="ru-RU" dirty="0">
                <a:solidFill>
                  <a:schemeClr val="tx1"/>
                </a:solidFill>
                <a:latin typeface="-apple-system"/>
              </a:rPr>
              <a:t>Узнать</a:t>
            </a:r>
            <a:r>
              <a:rPr lang="ru-RU" b="0" i="0" dirty="0">
                <a:solidFill>
                  <a:schemeClr val="tx1"/>
                </a:solidFill>
                <a:effectLst/>
                <a:latin typeface="-apple-system"/>
              </a:rPr>
              <a:t> какие сущности описывают каталоги (таблицы, колонки, типы, схемы)</a:t>
            </a:r>
          </a:p>
          <a:p>
            <a:r>
              <a:rPr lang="ru-RU" dirty="0">
                <a:solidFill>
                  <a:schemeClr val="tx1"/>
                </a:solidFill>
                <a:latin typeface="-apple-system"/>
              </a:rPr>
              <a:t>Реализовать минимальный менеджер каталогов с сохранением в память и интроспекцией</a:t>
            </a:r>
          </a:p>
          <a:p>
            <a:r>
              <a:rPr lang="ru-RU" dirty="0">
                <a:solidFill>
                  <a:schemeClr val="tx1"/>
                </a:solidFill>
                <a:latin typeface="-apple-system"/>
              </a:rPr>
              <a:t>Связать менеджер каталогов с чтением и записью данных на страницах базы данных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132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7A1E0C92-0CD5-71C4-BD2B-7AB7974BB485}"/>
              </a:ext>
            </a:extLst>
          </p:cNvPr>
          <p:cNvSpPr/>
          <p:nvPr/>
        </p:nvSpPr>
        <p:spPr>
          <a:xfrm>
            <a:off x="1143000" y="1702713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2B3B20DD-1983-A834-D957-758650AD5C59}"/>
              </a:ext>
            </a:extLst>
          </p:cNvPr>
          <p:cNvSpPr/>
          <p:nvPr/>
        </p:nvSpPr>
        <p:spPr>
          <a:xfrm>
            <a:off x="1143000" y="2017038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EB8FE3-71BE-377B-375F-ADF484A68826}"/>
              </a:ext>
            </a:extLst>
          </p:cNvPr>
          <p:cNvSpPr/>
          <p:nvPr/>
        </p:nvSpPr>
        <p:spPr>
          <a:xfrm>
            <a:off x="1143000" y="2161937"/>
            <a:ext cx="24073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ea typeface="Mona Sans Semi Bold" pitchFamily="34" charset="-122"/>
                <a:cs typeface="Mona Sans Semi Bold" pitchFamily="34" charset="-120"/>
              </a:rPr>
              <a:t>Введение в системные каталоги</a:t>
            </a:r>
            <a:endParaRPr lang="en-US" sz="19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9AF89F0-E53C-1EE6-6470-2B1E3876CFAF}"/>
              </a:ext>
            </a:extLst>
          </p:cNvPr>
          <p:cNvSpPr/>
          <p:nvPr/>
        </p:nvSpPr>
        <p:spPr>
          <a:xfrm>
            <a:off x="1143000" y="2591157"/>
            <a:ext cx="39864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Funnel Sans" pitchFamily="34" charset="-122"/>
                <a:cs typeface="Funnel Sans" pitchFamily="34" charset="-120"/>
              </a:rPr>
              <a:t>Понятие системного каталога и его назначение в СУБД</a:t>
            </a:r>
            <a:endParaRPr lang="en-US" sz="155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3E44619-AAFD-6468-589E-4B94A73CC6F7}"/>
              </a:ext>
            </a:extLst>
          </p:cNvPr>
          <p:cNvSpPr/>
          <p:nvPr/>
        </p:nvSpPr>
        <p:spPr>
          <a:xfrm>
            <a:off x="6563439" y="1636395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80C1C88A-1521-98DB-0385-3EB72113771B}"/>
              </a:ext>
            </a:extLst>
          </p:cNvPr>
          <p:cNvSpPr/>
          <p:nvPr/>
        </p:nvSpPr>
        <p:spPr>
          <a:xfrm>
            <a:off x="6563439" y="1950720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76A7608-8CCF-0506-79D4-14D5BE32DD59}"/>
              </a:ext>
            </a:extLst>
          </p:cNvPr>
          <p:cNvSpPr/>
          <p:nvPr/>
        </p:nvSpPr>
        <p:spPr>
          <a:xfrm>
            <a:off x="6563439" y="2095619"/>
            <a:ext cx="217126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ea typeface="Mona Sans Semi Bold" pitchFamily="34" charset="-122"/>
                <a:cs typeface="Mona Sans Semi Bold" pitchFamily="34" charset="-120"/>
              </a:rPr>
              <a:t>Структура каталогов и схемы</a:t>
            </a:r>
            <a:endParaRPr lang="en-US" sz="19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DA801B8-0129-E9F9-1A86-2CB162F96CFC}"/>
              </a:ext>
            </a:extLst>
          </p:cNvPr>
          <p:cNvSpPr/>
          <p:nvPr/>
        </p:nvSpPr>
        <p:spPr>
          <a:xfrm>
            <a:off x="6563439" y="2524839"/>
            <a:ext cx="39864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Funnel Sans" pitchFamily="34" charset="-122"/>
                <a:cs typeface="Funnel Sans" pitchFamily="34" charset="-120"/>
              </a:rPr>
              <a:t>Пространства имён и организация метаданных</a:t>
            </a:r>
            <a:endParaRPr lang="en-US" sz="15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579D484-ACA2-83CD-66A0-4CE9AAF20E50}"/>
              </a:ext>
            </a:extLst>
          </p:cNvPr>
          <p:cNvSpPr/>
          <p:nvPr/>
        </p:nvSpPr>
        <p:spPr>
          <a:xfrm>
            <a:off x="1143000" y="3255883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230EB38E-3674-27EC-6538-01D26FF44539}"/>
              </a:ext>
            </a:extLst>
          </p:cNvPr>
          <p:cNvSpPr/>
          <p:nvPr/>
        </p:nvSpPr>
        <p:spPr>
          <a:xfrm>
            <a:off x="1143000" y="3570208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ADB216E4-CFFC-1A6D-2193-086BA140943E}"/>
              </a:ext>
            </a:extLst>
          </p:cNvPr>
          <p:cNvSpPr/>
          <p:nvPr/>
        </p:nvSpPr>
        <p:spPr>
          <a:xfrm>
            <a:off x="1143000" y="3715107"/>
            <a:ext cx="166612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 err="1">
                <a:ea typeface="Mona Sans Semi Bold" pitchFamily="34" charset="-122"/>
                <a:cs typeface="Mona Sans Semi Bold" pitchFamily="34" charset="-120"/>
              </a:rPr>
              <a:t>Каталог</a:t>
            </a:r>
            <a:r>
              <a:rPr lang="en-US" sz="1950" dirty="0">
                <a:ea typeface="Mona Sans Semi Bold" pitchFamily="34" charset="-122"/>
                <a:cs typeface="Mona Sans Semi Bold" pitchFamily="34" charset="-120"/>
              </a:rPr>
              <a:t> типов данных</a:t>
            </a:r>
            <a:endParaRPr lang="en-US" sz="19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030AA19F-6BF4-ACC8-01CE-CD3FFF47D68E}"/>
              </a:ext>
            </a:extLst>
          </p:cNvPr>
          <p:cNvSpPr/>
          <p:nvPr/>
        </p:nvSpPr>
        <p:spPr>
          <a:xfrm>
            <a:off x="1143000" y="4144328"/>
            <a:ext cx="39864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Funnel Sans" pitchFamily="34" charset="-122"/>
                <a:cs typeface="Funnel Sans" pitchFamily="34" charset="-120"/>
              </a:rPr>
              <a:t>Управление типами данных и их регистрация</a:t>
            </a:r>
            <a:endParaRPr lang="en-US" sz="155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2080516-5B84-579E-BEEE-77FF84A7D0F8}"/>
              </a:ext>
            </a:extLst>
          </p:cNvPr>
          <p:cNvSpPr/>
          <p:nvPr/>
        </p:nvSpPr>
        <p:spPr>
          <a:xfrm>
            <a:off x="6563439" y="3189565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8F118DD5-4BF2-A8F6-7858-F4FE01B1B491}"/>
              </a:ext>
            </a:extLst>
          </p:cNvPr>
          <p:cNvSpPr/>
          <p:nvPr/>
        </p:nvSpPr>
        <p:spPr>
          <a:xfrm>
            <a:off x="6563439" y="3503890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2302672-A7B1-FA7C-9F86-035CB9AF29C4}"/>
              </a:ext>
            </a:extLst>
          </p:cNvPr>
          <p:cNvSpPr/>
          <p:nvPr/>
        </p:nvSpPr>
        <p:spPr>
          <a:xfrm>
            <a:off x="6563440" y="3648789"/>
            <a:ext cx="15399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 err="1">
                <a:ea typeface="Mona Sans Semi Bold" pitchFamily="34" charset="-122"/>
                <a:cs typeface="Mona Sans Semi Bold" pitchFamily="34" charset="-120"/>
              </a:rPr>
              <a:t>Каталог</a:t>
            </a:r>
            <a:r>
              <a:rPr lang="en-US" sz="1950" dirty="0">
                <a:ea typeface="Mona Sans Semi Bold" pitchFamily="34" charset="-122"/>
                <a:cs typeface="Mona Sans Semi Bold" pitchFamily="34" charset="-120"/>
              </a:rPr>
              <a:t> </a:t>
            </a:r>
            <a:r>
              <a:rPr lang="en-US" sz="1950" dirty="0" err="1">
                <a:ea typeface="Mona Sans Semi Bold" pitchFamily="34" charset="-122"/>
                <a:cs typeface="Mona Sans Semi Bold" pitchFamily="34" charset="-120"/>
              </a:rPr>
              <a:t>атрибутов</a:t>
            </a:r>
            <a:r>
              <a:rPr lang="ru-RU" sz="1950" dirty="0">
                <a:ea typeface="Mona Sans Semi Bold" pitchFamily="34" charset="-122"/>
                <a:cs typeface="Mona Sans Semi Bold" pitchFamily="34" charset="-120"/>
              </a:rPr>
              <a:t> и таблиц</a:t>
            </a:r>
            <a:endParaRPr lang="en-US" sz="195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D19D8555-099C-EA22-D034-AA535E73F6C1}"/>
              </a:ext>
            </a:extLst>
          </p:cNvPr>
          <p:cNvSpPr/>
          <p:nvPr/>
        </p:nvSpPr>
        <p:spPr>
          <a:xfrm>
            <a:off x="6563439" y="4078010"/>
            <a:ext cx="39864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 err="1">
                <a:ea typeface="Funnel Sans" pitchFamily="34" charset="-122"/>
                <a:cs typeface="Funnel Sans" pitchFamily="34" charset="-120"/>
              </a:rPr>
              <a:t>Описание</a:t>
            </a:r>
            <a:r>
              <a:rPr lang="en-US" sz="1550" dirty="0"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550" dirty="0" err="1">
                <a:ea typeface="Funnel Sans" pitchFamily="34" charset="-122"/>
                <a:cs typeface="Funnel Sans" pitchFamily="34" charset="-120"/>
              </a:rPr>
              <a:t>столбцов</a:t>
            </a:r>
            <a:r>
              <a:rPr lang="en-US" sz="1550" dirty="0">
                <a:ea typeface="Funnel Sans" pitchFamily="34" charset="-122"/>
                <a:cs typeface="Funnel Sans" pitchFamily="34" charset="-120"/>
              </a:rPr>
              <a:t>, таблиц и </a:t>
            </a:r>
            <a:r>
              <a:rPr lang="en-US" sz="1550" dirty="0" err="1">
                <a:ea typeface="Funnel Sans" pitchFamily="34" charset="-122"/>
                <a:cs typeface="Funnel Sans" pitchFamily="34" charset="-120"/>
              </a:rPr>
              <a:t>их</a:t>
            </a:r>
            <a:r>
              <a:rPr lang="en-US" sz="1550" dirty="0">
                <a:ea typeface="Funnel Sans" pitchFamily="34" charset="-122"/>
                <a:cs typeface="Funnel Sans" pitchFamily="34" charset="-120"/>
              </a:rPr>
              <a:t> </a:t>
            </a:r>
            <a:r>
              <a:rPr lang="en-US" sz="1550" dirty="0" err="1">
                <a:ea typeface="Funnel Sans" pitchFamily="34" charset="-122"/>
                <a:cs typeface="Funnel Sans" pitchFamily="34" charset="-120"/>
              </a:rPr>
              <a:t>свойств</a:t>
            </a:r>
            <a:endParaRPr lang="en-US" sz="155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A4AE802C-5068-C740-8651-26397950F46B}"/>
              </a:ext>
            </a:extLst>
          </p:cNvPr>
          <p:cNvSpPr/>
          <p:nvPr/>
        </p:nvSpPr>
        <p:spPr>
          <a:xfrm>
            <a:off x="1143000" y="4809054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8592D741-8A48-C042-360B-75CE2D3DFD20}"/>
              </a:ext>
            </a:extLst>
          </p:cNvPr>
          <p:cNvSpPr/>
          <p:nvPr/>
        </p:nvSpPr>
        <p:spPr>
          <a:xfrm>
            <a:off x="1143000" y="5123379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F890F090-D461-459F-3997-4F37A394F0D7}"/>
              </a:ext>
            </a:extLst>
          </p:cNvPr>
          <p:cNvSpPr/>
          <p:nvPr/>
        </p:nvSpPr>
        <p:spPr>
          <a:xfrm>
            <a:off x="1143001" y="5268278"/>
            <a:ext cx="15399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950" dirty="0"/>
              <a:t>Регистрация и интроспекция</a:t>
            </a:r>
            <a:endParaRPr lang="en-US" sz="195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3D87A397-B79A-8021-8919-741FBA0287C1}"/>
              </a:ext>
            </a:extLst>
          </p:cNvPr>
          <p:cNvSpPr/>
          <p:nvPr/>
        </p:nvSpPr>
        <p:spPr>
          <a:xfrm>
            <a:off x="1143000" y="5697498"/>
            <a:ext cx="39864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Funnel Sans" pitchFamily="34" charset="-122"/>
                <a:cs typeface="Funnel Sans" pitchFamily="34" charset="-120"/>
              </a:rPr>
              <a:t>Регистрация и управление таблицами базы данных</a:t>
            </a:r>
            <a:endParaRPr lang="en-US" sz="155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76234F40-8670-8FD2-82CE-9BA416804FC7}"/>
              </a:ext>
            </a:extLst>
          </p:cNvPr>
          <p:cNvSpPr/>
          <p:nvPr/>
        </p:nvSpPr>
        <p:spPr>
          <a:xfrm>
            <a:off x="6563439" y="4742736"/>
            <a:ext cx="12312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ea typeface="Mona Sans Light" pitchFamily="34" charset="-122"/>
                <a:cs typeface="Mona Sans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65F50606-4B57-6D4B-D8F1-B674DE74ED49}"/>
              </a:ext>
            </a:extLst>
          </p:cNvPr>
          <p:cNvSpPr/>
          <p:nvPr/>
        </p:nvSpPr>
        <p:spPr>
          <a:xfrm>
            <a:off x="6563439" y="5057061"/>
            <a:ext cx="3986451" cy="22860"/>
          </a:xfrm>
          <a:prstGeom prst="rect">
            <a:avLst/>
          </a:prstGeom>
          <a:solidFill>
            <a:srgbClr val="373B48"/>
          </a:solidFill>
          <a:ln/>
        </p:spPr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2835C125-B156-8C8E-897D-EBE1C0A5F75D}"/>
              </a:ext>
            </a:extLst>
          </p:cNvPr>
          <p:cNvSpPr/>
          <p:nvPr/>
        </p:nvSpPr>
        <p:spPr>
          <a:xfrm>
            <a:off x="6563439" y="5201960"/>
            <a:ext cx="197075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950" dirty="0">
                <a:ea typeface="Mona Sans Semi Bold" pitchFamily="34" charset="-122"/>
                <a:cs typeface="Mona Sans Semi Bold" pitchFamily="34" charset="-120"/>
              </a:rPr>
              <a:t>Связь каталога и данных на страницах</a:t>
            </a:r>
            <a:endParaRPr lang="en-US" sz="195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738B9BAB-A85C-6C05-2552-AB1AF4D3346A}"/>
              </a:ext>
            </a:extLst>
          </p:cNvPr>
          <p:cNvSpPr/>
          <p:nvPr/>
        </p:nvSpPr>
        <p:spPr>
          <a:xfrm>
            <a:off x="6563439" y="5631180"/>
            <a:ext cx="3986451" cy="646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1550" dirty="0">
                <a:ea typeface="Funnel Sans" pitchFamily="34" charset="-122"/>
                <a:cs typeface="Funnel Sans" pitchFamily="34" charset="-120"/>
              </a:rPr>
              <a:t>О том как можно использовать данные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ru-RU" sz="1550" dirty="0">
                <a:ea typeface="Funnel Sans" pitchFamily="34" charset="-122"/>
                <a:cs typeface="Funnel Sans" pitchFamily="34" charset="-120"/>
              </a:rPr>
              <a:t>совместно с каталогом</a:t>
            </a:r>
            <a:endParaRPr lang="en-US" sz="1550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8FD48842-65CE-5794-BB9F-356E06EAB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270" y="466249"/>
            <a:ext cx="4320540" cy="767595"/>
          </a:xfrm>
        </p:spPr>
        <p:txBody>
          <a:bodyPr>
            <a:normAutofit fontScale="90000"/>
          </a:bodyPr>
          <a:lstStyle/>
          <a:p>
            <a:r>
              <a:rPr lang="ru-RU" sz="5400" dirty="0">
                <a:solidFill>
                  <a:schemeClr val="tx1"/>
                </a:solidFill>
              </a:rPr>
              <a:t>План занятия</a:t>
            </a:r>
            <a:endParaRPr lang="en-US" sz="5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00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29CEBD-F4A8-5A64-BA66-C5AFB31A2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23271"/>
            <a:ext cx="10527030" cy="373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37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05E2B7-3912-62F9-3047-65EAF434E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914" y="1587500"/>
            <a:ext cx="77724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755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Повторение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09E763-923A-5C52-413D-8D7EB4A5A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229" y="1591045"/>
            <a:ext cx="8545285" cy="485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74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менеджер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133AC9-EDCF-F75E-7525-FCE61726F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685" y="1909163"/>
            <a:ext cx="8414657" cy="3573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776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менеджер.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ru-RU" dirty="0" err="1"/>
              <a:t>стройство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792741-206F-29F8-9A19-DA7A4EECD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684" y="1699317"/>
            <a:ext cx="8980031" cy="4298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86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менеджер.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ru-RU" dirty="0" err="1"/>
              <a:t>стройство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6CE6F2-88CE-A78E-3564-AB46DB052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314" y="1511359"/>
            <a:ext cx="8763000" cy="425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570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Б</a:t>
            </a:r>
            <a:r>
              <a:rPr lang="ru-RU" dirty="0" err="1"/>
              <a:t>уфферный</a:t>
            </a:r>
            <a:r>
              <a:rPr lang="ru-RU" dirty="0"/>
              <a:t> менеджер.</a:t>
            </a:r>
            <a:r>
              <a:rPr lang="en-US" dirty="0"/>
              <a:t> </a:t>
            </a:r>
            <a:r>
              <a:rPr lang="en-US" dirty="0" err="1"/>
              <a:t>У</a:t>
            </a:r>
            <a:r>
              <a:rPr lang="ru-RU" dirty="0" err="1"/>
              <a:t>стройство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24A4E5-6975-10FA-5940-307D2F1CC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142" y="1730335"/>
            <a:ext cx="9464763" cy="4137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756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Что мы знаем о базах данных?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FA3475-6051-FFD0-6B15-A4EFECD66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4" y="2286000"/>
            <a:ext cx="10201276" cy="286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3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Каталог БД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CB7E93-C514-A471-875C-DBC004FAE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540" y="1494742"/>
            <a:ext cx="7772400" cy="437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3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Каталог 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2DE80A-EE1F-ACBC-0FDC-53526BD9C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1666188"/>
            <a:ext cx="8991601" cy="40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15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В</a:t>
            </a:r>
            <a:r>
              <a:rPr lang="ru-RU" dirty="0"/>
              <a:t> итоге:</a:t>
            </a:r>
            <a:r>
              <a:rPr lang="en-US" dirty="0"/>
              <a:t> </a:t>
            </a:r>
            <a:r>
              <a:rPr lang="en-US" dirty="0" err="1"/>
              <a:t>ч</a:t>
            </a:r>
            <a:r>
              <a:rPr lang="ru-RU" dirty="0"/>
              <a:t>то такое каталог?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B537F7-413E-B8A8-6324-507F20D88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776" y="1562100"/>
            <a:ext cx="3043104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49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Аналогия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69FDD0-0BBD-70FC-5B9A-D9D3FCA05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924" y="1497330"/>
            <a:ext cx="8576151" cy="411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83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Аналогия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971E18-1340-F35F-3E8B-D2C0D34BC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948" y="1402080"/>
            <a:ext cx="9155852" cy="433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096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Аналогия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D974EF-3C2A-C14E-7830-26ED5E107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37587"/>
            <a:ext cx="9864090" cy="3567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571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Аналогия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5F50CC-9B2C-F06C-B098-BCC8DEC57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19" y="1599864"/>
            <a:ext cx="10004611" cy="426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345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Аналогия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F6F3A9-F9F5-4AEA-1883-F53D74771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02080"/>
            <a:ext cx="7772400" cy="464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0399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Когда СУБД использует каталоги?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EDD737-127F-14F0-7388-30FB9D111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543" y="1654133"/>
            <a:ext cx="9601200" cy="438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023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Когда СУБД использует каталоги?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4AFF15-3F26-14B2-95E2-775D31425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169" y="1751365"/>
            <a:ext cx="9601200" cy="414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355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Как СУБД использует каталоги?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69ECA5-5A96-7B81-FF5E-AF3E19094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190" y="2493154"/>
            <a:ext cx="9914171" cy="2387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56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Как СУБД использует каталоги?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BA239C-00BC-D55F-CF9E-731BD0089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13225"/>
            <a:ext cx="8957310" cy="418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423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Каталог 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2DE80A-EE1F-ACBC-0FDC-53526BD9C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1666188"/>
            <a:ext cx="8991601" cy="40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09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628" y="2901043"/>
            <a:ext cx="9601200" cy="716280"/>
          </a:xfrm>
        </p:spPr>
        <p:txBody>
          <a:bodyPr>
            <a:normAutofit/>
          </a:bodyPr>
          <a:lstStyle/>
          <a:p>
            <a:r>
              <a:rPr lang="en-US" dirty="0"/>
              <a:t>Coding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en-US" dirty="0" err="1"/>
              <a:t>п</a:t>
            </a:r>
            <a:r>
              <a:rPr lang="ru-RU" dirty="0" err="1"/>
              <a:t>ростой</a:t>
            </a:r>
            <a:r>
              <a:rPr lang="ru-RU" dirty="0"/>
              <a:t> каталог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1901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Репозиторий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8ED013-7923-279F-1AD0-90699CAE5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373" y="1709189"/>
            <a:ext cx="7772400" cy="42756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FC15A2-6743-622E-F9D6-C7B78C20F476}"/>
              </a:ext>
            </a:extLst>
          </p:cNvPr>
          <p:cNvSpPr txBox="1"/>
          <p:nvPr/>
        </p:nvSpPr>
        <p:spPr>
          <a:xfrm>
            <a:off x="1044285" y="6261748"/>
            <a:ext cx="8328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/central-university-dev/cu-database-internals-practice</a:t>
            </a:r>
          </a:p>
        </p:txBody>
      </p:sp>
    </p:spTree>
    <p:extLst>
      <p:ext uri="{BB962C8B-B14F-4D97-AF65-F5344CB8AC3E}">
        <p14:creationId xmlns:p14="http://schemas.microsoft.com/office/powerpoint/2010/main" val="3328375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Задание</a:t>
            </a:r>
            <a:r>
              <a:rPr lang="en-US" dirty="0"/>
              <a:t>. </a:t>
            </a:r>
            <a:r>
              <a:rPr lang="ru-RU" dirty="0"/>
              <a:t>Практика </a:t>
            </a:r>
            <a:r>
              <a:rPr lang="en-US" dirty="0"/>
              <a:t>#1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FC15A2-6743-622E-F9D6-C7B78C20F476}"/>
              </a:ext>
            </a:extLst>
          </p:cNvPr>
          <p:cNvSpPr txBox="1"/>
          <p:nvPr/>
        </p:nvSpPr>
        <p:spPr>
          <a:xfrm>
            <a:off x="1044285" y="6261748"/>
            <a:ext cx="8328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/central-university-dev/cu-database-internals-practice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15876E-5F4B-3CAE-422E-487823343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707" y="1409700"/>
            <a:ext cx="4354586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3261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Каталог 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2DE80A-EE1F-ACBC-0FDC-53526BD9C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1666188"/>
            <a:ext cx="8991601" cy="40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318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Каталог БД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AE54A8-A0FA-0FEA-A73A-E127A12E5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729" y="1581992"/>
            <a:ext cx="9407425" cy="4498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922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Схема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5C61E-3C13-30B5-DB4A-9DB0B0239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410" y="1488439"/>
            <a:ext cx="7470140" cy="477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305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Схема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7E87AB-3BB4-1BB0-C9E4-E7D521936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340" y="1526540"/>
            <a:ext cx="6141720" cy="491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3326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Схема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4642BE-4FCF-7198-8BD5-10167F96B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210" y="1572259"/>
            <a:ext cx="6187440" cy="498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4417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Схема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420AA4-ED12-682E-5199-528C15F71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705" y="1623060"/>
            <a:ext cx="9473265" cy="413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035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040" y="685800"/>
            <a:ext cx="9601200" cy="716280"/>
          </a:xfrm>
        </p:spPr>
        <p:txBody>
          <a:bodyPr/>
          <a:lstStyle/>
          <a:p>
            <a:r>
              <a:rPr lang="ru-RU" dirty="0"/>
              <a:t>Таблица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FD89DD-7C80-729E-AD29-FAE496AD1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110" y="1663003"/>
            <a:ext cx="7772400" cy="378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8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Таблица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959FC0-2792-2C9F-B221-BC24E7C17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700" y="1611630"/>
            <a:ext cx="6030729" cy="482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091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880360"/>
            <a:ext cx="9601200" cy="716280"/>
          </a:xfrm>
        </p:spPr>
        <p:txBody>
          <a:bodyPr/>
          <a:lstStyle/>
          <a:p>
            <a:r>
              <a:rPr lang="ru-RU" dirty="0"/>
              <a:t>Таблица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DD9028-792A-720E-4CB6-F0AABE366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0270" y="354218"/>
            <a:ext cx="4545330" cy="614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340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Таблица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EEEB4E-AD32-AF71-5A37-EF6B560DB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59" y="1680052"/>
            <a:ext cx="9601200" cy="418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4488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Атрибут таблицы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1E2071-A009-536B-3D4C-66E56019E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1490133"/>
            <a:ext cx="3352800" cy="437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7269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Атрибут таблицы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5F6D90-1324-61A1-46DD-7F1419872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719259"/>
            <a:ext cx="9676397" cy="436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0325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Атрибут таблицы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01C1FF-582E-0816-8FE9-56C1D2DD7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091" y="1748790"/>
            <a:ext cx="5770750" cy="395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504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2735580"/>
            <a:ext cx="9601200" cy="716280"/>
          </a:xfrm>
        </p:spPr>
        <p:txBody>
          <a:bodyPr/>
          <a:lstStyle/>
          <a:p>
            <a:r>
              <a:rPr lang="ru-RU" dirty="0"/>
              <a:t>Атрибут таблицы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E6E037-12DE-CC53-27EA-8F26F8710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62" y="411480"/>
            <a:ext cx="4680238" cy="545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8394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710" y="327660"/>
            <a:ext cx="9601200" cy="716280"/>
          </a:xfrm>
        </p:spPr>
        <p:txBody>
          <a:bodyPr/>
          <a:lstStyle/>
          <a:p>
            <a:r>
              <a:rPr lang="ru-RU" dirty="0"/>
              <a:t>Атрибут таблицы</a:t>
            </a:r>
            <a:r>
              <a:rPr lang="en-US" dirty="0"/>
              <a:t> </a:t>
            </a:r>
            <a:r>
              <a:rPr lang="ru-RU" dirty="0"/>
              <a:t>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33306-6110-272F-5443-188AF5C04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10" y="1733781"/>
            <a:ext cx="10287000" cy="339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934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140" y="411480"/>
            <a:ext cx="9601200" cy="716280"/>
          </a:xfrm>
        </p:spPr>
        <p:txBody>
          <a:bodyPr/>
          <a:lstStyle/>
          <a:p>
            <a:r>
              <a:rPr lang="en-US" dirty="0" err="1"/>
              <a:t>Т</a:t>
            </a:r>
            <a:r>
              <a:rPr lang="ru-RU" dirty="0" err="1"/>
              <a:t>ипы</a:t>
            </a:r>
            <a:r>
              <a:rPr lang="ru-RU" dirty="0"/>
              <a:t> данных в 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279730-0A0A-1A27-58EE-519322471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1" y="1555518"/>
            <a:ext cx="9909810" cy="36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315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140" y="411480"/>
            <a:ext cx="9601200" cy="716280"/>
          </a:xfrm>
        </p:spPr>
        <p:txBody>
          <a:bodyPr/>
          <a:lstStyle/>
          <a:p>
            <a:r>
              <a:rPr lang="en-US" dirty="0" err="1"/>
              <a:t>Т</a:t>
            </a:r>
            <a:r>
              <a:rPr lang="ru-RU" dirty="0" err="1"/>
              <a:t>ипы</a:t>
            </a:r>
            <a:r>
              <a:rPr lang="ru-RU" dirty="0"/>
              <a:t> данных в БД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89C1BC-7818-D626-BC0F-F3BA90E3E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97591"/>
            <a:ext cx="8511540" cy="46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3884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0140" y="411480"/>
            <a:ext cx="9601200" cy="716280"/>
          </a:xfrm>
        </p:spPr>
        <p:txBody>
          <a:bodyPr/>
          <a:lstStyle/>
          <a:p>
            <a:r>
              <a:rPr lang="ru-RU" dirty="0"/>
              <a:t>Связь каталогов в 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0C67CE-AF06-3633-152A-881977E70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388964"/>
            <a:ext cx="6233160" cy="471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460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628" y="2901043"/>
            <a:ext cx="9601200" cy="716280"/>
          </a:xfrm>
        </p:spPr>
        <p:txBody>
          <a:bodyPr>
            <a:normAutofit/>
          </a:bodyPr>
          <a:lstStyle/>
          <a:p>
            <a:r>
              <a:rPr lang="en-US" dirty="0"/>
              <a:t>Coding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ru-RU" dirty="0"/>
              <a:t>сложный каталог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2158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Задание</a:t>
            </a:r>
            <a:r>
              <a:rPr lang="en-US" dirty="0"/>
              <a:t>. </a:t>
            </a:r>
            <a:r>
              <a:rPr lang="ru-RU" dirty="0"/>
              <a:t>Практика </a:t>
            </a:r>
            <a:r>
              <a:rPr lang="en-US" dirty="0"/>
              <a:t>#</a:t>
            </a:r>
            <a:r>
              <a:rPr lang="ru-RU" dirty="0"/>
              <a:t>2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FC15A2-6743-622E-F9D6-C7B78C20F476}"/>
              </a:ext>
            </a:extLst>
          </p:cNvPr>
          <p:cNvSpPr txBox="1"/>
          <p:nvPr/>
        </p:nvSpPr>
        <p:spPr>
          <a:xfrm>
            <a:off x="1044285" y="6261748"/>
            <a:ext cx="8328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/central-university-dev/cu-database-internals-practice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FD92C3-1680-F17F-5F0A-8A2F4390B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90136"/>
            <a:ext cx="10071100" cy="368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5327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Где хранятся каталоги?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AB09F4-0EA4-0B8F-60AD-FBF15B83C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630" y="1299726"/>
            <a:ext cx="4886367" cy="501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44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Процесс создания таблицы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6BB5BB-AA7A-21C2-EA57-0BAC8999C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1422399"/>
            <a:ext cx="8545196" cy="428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338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Процесс создания таблицы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EDDF92-0B18-FA86-8464-96C0C6C79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0" y="1402080"/>
            <a:ext cx="75946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216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Процесс создания таблицы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EF9233-441F-FD22-9180-6D766DAE3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668" y="1498600"/>
            <a:ext cx="526081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543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Процесс создания таблицы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AB0B4-516B-64B3-47A1-BA5329766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02080"/>
            <a:ext cx="7772400" cy="497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690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Процесс создания таблицы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2E8104-7013-F844-F055-F42C25CA7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889780"/>
            <a:ext cx="9918700" cy="3831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3956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Процесс создания таблицы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DBEE5E-2FC8-D3DD-D2A4-1C3AC087A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743833"/>
            <a:ext cx="9601200" cy="416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484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Процесс создания таблицы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EA04CE-C02C-CF14-4F2A-67E81B6D3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671948"/>
            <a:ext cx="7772400" cy="473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1414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Процесс создания таблицы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D587FE-3DAA-3601-7FF0-455EFE103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799" y="1826114"/>
            <a:ext cx="8819775" cy="404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9211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Процесс создания таблицы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DFF515-84D7-A83A-9501-0B7554CC3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432" y="2077720"/>
            <a:ext cx="2664568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817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И</a:t>
            </a:r>
            <a:r>
              <a:rPr lang="ru-RU" dirty="0" err="1"/>
              <a:t>нтроспекция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610EB-44C7-FB8B-00B1-2F77020B8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0" y="1567346"/>
            <a:ext cx="6197600" cy="444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3173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И</a:t>
            </a:r>
            <a:r>
              <a:rPr lang="ru-RU" dirty="0" err="1"/>
              <a:t>нтроспекция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DF0D86-54D1-4146-2670-4EED22896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800" y="1402080"/>
            <a:ext cx="75946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848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И</a:t>
            </a:r>
            <a:r>
              <a:rPr lang="ru-RU" dirty="0" err="1"/>
              <a:t>нтроспекция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DFDA56-D06E-5340-6512-26CA669C7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743833"/>
            <a:ext cx="9601200" cy="416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483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en-US" dirty="0" err="1"/>
              <a:t>И</a:t>
            </a:r>
            <a:r>
              <a:rPr lang="ru-RU" dirty="0" err="1"/>
              <a:t>нтроспекция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C7B02E-E9F6-4732-81BC-2FC72921D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502" y="1625601"/>
            <a:ext cx="8890198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9845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628" y="2901043"/>
            <a:ext cx="9601200" cy="716280"/>
          </a:xfrm>
        </p:spPr>
        <p:txBody>
          <a:bodyPr>
            <a:normAutofit/>
          </a:bodyPr>
          <a:lstStyle/>
          <a:p>
            <a:r>
              <a:rPr lang="en-US" dirty="0"/>
              <a:t>Coding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ru-RU" dirty="0"/>
              <a:t>работа с каталогом в ФС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7785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Задание</a:t>
            </a:r>
            <a:r>
              <a:rPr lang="en-US" dirty="0"/>
              <a:t>. </a:t>
            </a:r>
            <a:r>
              <a:rPr lang="ru-RU" dirty="0"/>
              <a:t>Практика </a:t>
            </a:r>
            <a:r>
              <a:rPr lang="en-US" dirty="0"/>
              <a:t>#</a:t>
            </a:r>
            <a:r>
              <a:rPr lang="ru-RU" dirty="0"/>
              <a:t>3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FC15A2-6743-622E-F9D6-C7B78C20F476}"/>
              </a:ext>
            </a:extLst>
          </p:cNvPr>
          <p:cNvSpPr txBox="1"/>
          <p:nvPr/>
        </p:nvSpPr>
        <p:spPr>
          <a:xfrm>
            <a:off x="1044285" y="6261748"/>
            <a:ext cx="8328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/central-university-dev/cu-database-internals-practice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BE72D6-24E5-2BDF-DE82-9C072D788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26503"/>
            <a:ext cx="7772400" cy="455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558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 данными с помощью каталога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C7B02E-E9F6-4732-81BC-2FC72921D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502" y="1625601"/>
            <a:ext cx="8890198" cy="424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6886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 данными с помощью каталога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18030-2542-3E95-02BB-4440B87A2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730916"/>
            <a:ext cx="10099875" cy="398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6817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 данными с помощью каталога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D94E9C-A84C-3DF5-D3D1-7A2ED8F4B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0" y="1402080"/>
            <a:ext cx="8496300" cy="539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8891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 данными с помощью каталога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EB01E2-D6BB-69AC-F88C-10D32F5A7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050" y="2400300"/>
            <a:ext cx="6407834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016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 данными с помощью каталога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72003B-ACB5-F01B-9C6D-4C9FF2535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070100"/>
            <a:ext cx="9848685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067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 данными с помощью каталога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4D7E87-5D4C-5568-B4C9-7C60BAC6E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170" y="1895713"/>
            <a:ext cx="9850630" cy="391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59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 данными с помощью каталога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7CBF2B-536E-03D3-F484-9754FEDF6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" y="2675914"/>
            <a:ext cx="10477500" cy="2612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106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 данными с помощью каталога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F7A9C0-29CA-73B9-7544-94393C78D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160" y="2874592"/>
            <a:ext cx="9223640" cy="247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334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с данными с помощью каталога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D3C1D6-16BA-4122-B461-E7401B7F8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450" y="1814283"/>
            <a:ext cx="9391650" cy="4453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5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4628" y="2901043"/>
            <a:ext cx="9601200" cy="716280"/>
          </a:xfrm>
        </p:spPr>
        <p:txBody>
          <a:bodyPr>
            <a:normAutofit fontScale="90000"/>
          </a:bodyPr>
          <a:lstStyle/>
          <a:p>
            <a:r>
              <a:rPr lang="en-US" dirty="0"/>
              <a:t>Coding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ru-RU" dirty="0"/>
              <a:t>работа с </a:t>
            </a:r>
            <a:r>
              <a:rPr lang="en-US" dirty="0" err="1"/>
              <a:t>д</a:t>
            </a:r>
            <a:r>
              <a:rPr lang="ru-RU" dirty="0" err="1"/>
              <a:t>анными</a:t>
            </a:r>
            <a:r>
              <a:rPr lang="ru-RU" dirty="0"/>
              <a:t> при помощи каталога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8610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778329"/>
            <a:ext cx="9601200" cy="716280"/>
          </a:xfrm>
        </p:spPr>
        <p:txBody>
          <a:bodyPr/>
          <a:lstStyle/>
          <a:p>
            <a:r>
              <a:rPr lang="ru-RU" dirty="0"/>
              <a:t>Задание</a:t>
            </a:r>
            <a:r>
              <a:rPr lang="en-US" dirty="0"/>
              <a:t>. </a:t>
            </a:r>
            <a:r>
              <a:rPr lang="ru-RU" dirty="0"/>
              <a:t>Практика </a:t>
            </a:r>
            <a:r>
              <a:rPr lang="en-US" dirty="0"/>
              <a:t>#</a:t>
            </a:r>
            <a:r>
              <a:rPr lang="ru-RU" dirty="0"/>
              <a:t>4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FC15A2-6743-622E-F9D6-C7B78C20F476}"/>
              </a:ext>
            </a:extLst>
          </p:cNvPr>
          <p:cNvSpPr txBox="1"/>
          <p:nvPr/>
        </p:nvSpPr>
        <p:spPr>
          <a:xfrm>
            <a:off x="1044285" y="6261748"/>
            <a:ext cx="8328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/central-university-dev/cu-database-internals-practice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C0A263-34F0-FA26-B7B2-493660AB1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801665"/>
            <a:ext cx="9834085" cy="325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402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9D237-C5FD-2C6B-04D0-9BC509C76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16280"/>
          </a:xfrm>
        </p:spPr>
        <p:txBody>
          <a:bodyPr/>
          <a:lstStyle/>
          <a:p>
            <a:r>
              <a:rPr lang="ru-RU" dirty="0"/>
              <a:t>Каталог БД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2DE80A-EE1F-ACBC-0FDC-53526BD9C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1666188"/>
            <a:ext cx="8991601" cy="407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7187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3860</TotalTime>
  <Words>431</Words>
  <Application>Microsoft Macintosh PowerPoint</Application>
  <PresentationFormat>Widescreen</PresentationFormat>
  <Paragraphs>104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-apple-system</vt:lpstr>
      <vt:lpstr>Franklin Gothic Book</vt:lpstr>
      <vt:lpstr>Crop</vt:lpstr>
      <vt:lpstr>Каталоги в СУБД</vt:lpstr>
      <vt:lpstr>Цель занятия</vt:lpstr>
      <vt:lpstr>План занятия</vt:lpstr>
      <vt:lpstr>Повторение</vt:lpstr>
      <vt:lpstr>Повторение</vt:lpstr>
      <vt:lpstr>Повторение</vt:lpstr>
      <vt:lpstr>Буфферный менеджер</vt:lpstr>
      <vt:lpstr>Буфферный менеджер. Устройство</vt:lpstr>
      <vt:lpstr>Буфферный менеджер. Устройство</vt:lpstr>
      <vt:lpstr>Буфферный менеджер. Устройство</vt:lpstr>
      <vt:lpstr>Что мы знаем о базах данных?</vt:lpstr>
      <vt:lpstr>Каталог БД</vt:lpstr>
      <vt:lpstr>Каталог БД</vt:lpstr>
      <vt:lpstr>В итоге: что такое каталог?</vt:lpstr>
      <vt:lpstr>Аналогия</vt:lpstr>
      <vt:lpstr>Аналогия</vt:lpstr>
      <vt:lpstr>Аналогия</vt:lpstr>
      <vt:lpstr>Аналогия</vt:lpstr>
      <vt:lpstr>Аналогия</vt:lpstr>
      <vt:lpstr>Когда СУБД использует каталоги?</vt:lpstr>
      <vt:lpstr>Когда СУБД использует каталоги?</vt:lpstr>
      <vt:lpstr>Как СУБД использует каталоги?</vt:lpstr>
      <vt:lpstr>Как СУБД использует каталоги?</vt:lpstr>
      <vt:lpstr>Каталог БД</vt:lpstr>
      <vt:lpstr>Coding: простой каталог</vt:lpstr>
      <vt:lpstr>Репозиторий</vt:lpstr>
      <vt:lpstr>Задание. Практика #1</vt:lpstr>
      <vt:lpstr>Каталог БД</vt:lpstr>
      <vt:lpstr>Каталог БД</vt:lpstr>
      <vt:lpstr>Схема БД</vt:lpstr>
      <vt:lpstr>Схема БД</vt:lpstr>
      <vt:lpstr>Схема БД</vt:lpstr>
      <vt:lpstr>Схема БД</vt:lpstr>
      <vt:lpstr>Таблица БД</vt:lpstr>
      <vt:lpstr>Таблица БД</vt:lpstr>
      <vt:lpstr>Таблица БД</vt:lpstr>
      <vt:lpstr>Таблица БД</vt:lpstr>
      <vt:lpstr>Атрибут таблицы БД</vt:lpstr>
      <vt:lpstr>Атрибут таблицы БД</vt:lpstr>
      <vt:lpstr>Атрибут таблицы БД</vt:lpstr>
      <vt:lpstr>Атрибут таблицы БД</vt:lpstr>
      <vt:lpstr>Атрибут таблицы БД</vt:lpstr>
      <vt:lpstr>Типы данных в БД</vt:lpstr>
      <vt:lpstr>Типы данных в БД</vt:lpstr>
      <vt:lpstr>Связь каталогов в БД</vt:lpstr>
      <vt:lpstr>Coding: сложный каталог</vt:lpstr>
      <vt:lpstr>Задание. Практика #2</vt:lpstr>
      <vt:lpstr>Где хранятся каталоги?</vt:lpstr>
      <vt:lpstr>Процесс создания таблицы</vt:lpstr>
      <vt:lpstr>Процесс создания таблицы</vt:lpstr>
      <vt:lpstr>Процесс создания таблицы</vt:lpstr>
      <vt:lpstr>Процесс создания таблицы</vt:lpstr>
      <vt:lpstr>Процесс создания таблицы</vt:lpstr>
      <vt:lpstr>Процесс создания таблицы</vt:lpstr>
      <vt:lpstr>Процесс создания таблицы</vt:lpstr>
      <vt:lpstr>Процесс создания таблицы</vt:lpstr>
      <vt:lpstr>Процесс создания таблицы</vt:lpstr>
      <vt:lpstr>Интроспекция</vt:lpstr>
      <vt:lpstr>Интроспекция</vt:lpstr>
      <vt:lpstr>Интроспекция</vt:lpstr>
      <vt:lpstr>Интроспекция</vt:lpstr>
      <vt:lpstr>Coding: работа с каталогом в ФС</vt:lpstr>
      <vt:lpstr>Задание. Практика #3</vt:lpstr>
      <vt:lpstr>Работа с данными с помощью каталога</vt:lpstr>
      <vt:lpstr>Работа с данными с помощью каталога</vt:lpstr>
      <vt:lpstr>Работа с данными с помощью каталога</vt:lpstr>
      <vt:lpstr>Работа с данными с помощью каталога</vt:lpstr>
      <vt:lpstr>Работа с данными с помощью каталога</vt:lpstr>
      <vt:lpstr>Работа с данными с помощью каталога</vt:lpstr>
      <vt:lpstr>Работа с данными с помощью каталога</vt:lpstr>
      <vt:lpstr>Работа с данными с помощью каталога</vt:lpstr>
      <vt:lpstr>Работа с данными с помощью каталога</vt:lpstr>
      <vt:lpstr>Coding: работа с данными при помощи каталога</vt:lpstr>
      <vt:lpstr>Задание. Практика #4</vt:lpstr>
      <vt:lpstr>Каталог БД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Буфферный менеджер в СУБД</dc:title>
  <dc:creator>e gulyakin</dc:creator>
  <cp:lastModifiedBy>e gulyakin</cp:lastModifiedBy>
  <cp:revision>173</cp:revision>
  <dcterms:created xsi:type="dcterms:W3CDTF">2025-09-15T11:53:13Z</dcterms:created>
  <dcterms:modified xsi:type="dcterms:W3CDTF">2025-09-23T06:03:27Z</dcterms:modified>
</cp:coreProperties>
</file>