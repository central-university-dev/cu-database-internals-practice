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23" r:id="rId3"/>
    <p:sldId id="422" r:id="rId4"/>
    <p:sldId id="425" r:id="rId5"/>
    <p:sldId id="522" r:id="rId6"/>
    <p:sldId id="523" r:id="rId7"/>
    <p:sldId id="533" r:id="rId8"/>
    <p:sldId id="527" r:id="rId9"/>
    <p:sldId id="529" r:id="rId10"/>
    <p:sldId id="530" r:id="rId11"/>
    <p:sldId id="528" r:id="rId12"/>
    <p:sldId id="531" r:id="rId13"/>
    <p:sldId id="535" r:id="rId14"/>
    <p:sldId id="526" r:id="rId15"/>
    <p:sldId id="525" r:id="rId16"/>
    <p:sldId id="534" r:id="rId17"/>
    <p:sldId id="532" r:id="rId18"/>
    <p:sldId id="520" r:id="rId19"/>
    <p:sldId id="521" r:id="rId20"/>
    <p:sldId id="536" r:id="rId21"/>
    <p:sldId id="537" r:id="rId22"/>
    <p:sldId id="538" r:id="rId23"/>
    <p:sldId id="539" r:id="rId24"/>
    <p:sldId id="540" r:id="rId25"/>
    <p:sldId id="541" r:id="rId26"/>
    <p:sldId id="542" r:id="rId27"/>
    <p:sldId id="543" r:id="rId28"/>
    <p:sldId id="544" r:id="rId29"/>
    <p:sldId id="545" r:id="rId30"/>
    <p:sldId id="546" r:id="rId31"/>
    <p:sldId id="547" r:id="rId32"/>
    <p:sldId id="548" r:id="rId33"/>
    <p:sldId id="549" r:id="rId34"/>
    <p:sldId id="550" r:id="rId35"/>
    <p:sldId id="551" r:id="rId36"/>
    <p:sldId id="552" r:id="rId37"/>
    <p:sldId id="553" r:id="rId38"/>
    <p:sldId id="554" r:id="rId39"/>
    <p:sldId id="555" r:id="rId40"/>
    <p:sldId id="556" r:id="rId41"/>
    <p:sldId id="557" r:id="rId42"/>
    <p:sldId id="558" r:id="rId43"/>
    <p:sldId id="559" r:id="rId44"/>
    <p:sldId id="561" r:id="rId45"/>
    <p:sldId id="562" r:id="rId46"/>
    <p:sldId id="354" r:id="rId47"/>
    <p:sldId id="560" r:id="rId48"/>
    <p:sldId id="357" r:id="rId49"/>
    <p:sldId id="371" r:id="rId50"/>
    <p:sldId id="370" r:id="rId51"/>
    <p:sldId id="413" r:id="rId52"/>
    <p:sldId id="361" r:id="rId53"/>
    <p:sldId id="378" r:id="rId54"/>
    <p:sldId id="364" r:id="rId55"/>
    <p:sldId id="368" r:id="rId56"/>
    <p:sldId id="389" r:id="rId57"/>
    <p:sldId id="410" r:id="rId58"/>
    <p:sldId id="388" r:id="rId59"/>
    <p:sldId id="563" r:id="rId60"/>
    <p:sldId id="564" r:id="rId61"/>
    <p:sldId id="565" r:id="rId62"/>
    <p:sldId id="566" r:id="rId63"/>
    <p:sldId id="567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86A"/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0"/>
    <p:restoredTop sz="96405"/>
  </p:normalViewPr>
  <p:slideViewPr>
    <p:cSldViewPr snapToGrid="0" showGuides="1">
      <p:cViewPr varScale="1">
        <p:scale>
          <a:sx n="121" d="100"/>
          <a:sy n="121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ntral-university-dev/cu-database-internals-practice/tree/lec7/prac1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ntral-university-dev/cu-database-internals-practice/tree/lec7/prac2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ntral-university-dev/cu-database-internals-practice/tree/lec7/prac3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sz="6500" b="0" i="0" dirty="0">
                <a:solidFill>
                  <a:schemeClr val="tx1"/>
                </a:solidFill>
                <a:effectLst/>
              </a:rPr>
              <a:t>Hash‐index and Index Scan</a:t>
            </a:r>
            <a:endParaRPr lang="ru-RU" sz="6500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en-US" dirty="0" err="1">
                <a:solidFill>
                  <a:schemeClr val="tx1"/>
                </a:solidFill>
              </a:rPr>
              <a:t>entral</a:t>
            </a:r>
            <a:r>
              <a:rPr lang="en-US" dirty="0">
                <a:solidFill>
                  <a:schemeClr val="tx1"/>
                </a:solidFill>
              </a:rPr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DD664A8-7413-235A-7FC5-F1BAD184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Цель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CF6247D-8B17-BF7B-E63D-4C5D4BEB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Освоить идею </a:t>
            </a:r>
            <a:r>
              <a:rPr lang="en-US" sz="2800" dirty="0">
                <a:solidFill>
                  <a:schemeClr val="tx1"/>
                </a:solidFill>
              </a:rPr>
              <a:t>hash-index </a:t>
            </a:r>
            <a:r>
              <a:rPr lang="ru-RU" sz="2800" dirty="0">
                <a:solidFill>
                  <a:schemeClr val="tx1"/>
                </a:solidFill>
              </a:rPr>
              <a:t>и архитектуру его устройства в РСУБД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Освоить техники расширения </a:t>
            </a:r>
            <a:r>
              <a:rPr lang="en-US" sz="2800" b="0" i="0" dirty="0">
                <a:solidFill>
                  <a:schemeClr val="tx1"/>
                </a:solidFill>
                <a:effectLst/>
              </a:rPr>
              <a:t>hash-index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Реализовать </a:t>
            </a:r>
            <a:r>
              <a:rPr lang="en-US" sz="2800" b="0" i="0" dirty="0">
                <a:solidFill>
                  <a:schemeClr val="tx1"/>
                </a:solidFill>
                <a:effectLst/>
              </a:rPr>
              <a:t>hash-index </a:t>
            </a:r>
            <a:r>
              <a:rPr lang="ru-RU" sz="2800" b="0" i="0" dirty="0">
                <a:solidFill>
                  <a:schemeClr val="tx1"/>
                </a:solidFill>
                <a:effectLst/>
              </a:rPr>
              <a:t>и его базовые операции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</a:rPr>
              <a:t>Понять реализацию </a:t>
            </a:r>
            <a:r>
              <a:rPr lang="en-US" sz="2800" dirty="0">
                <a:solidFill>
                  <a:schemeClr val="tx1"/>
                </a:solidFill>
              </a:rPr>
              <a:t>index-scan </a:t>
            </a:r>
            <a:r>
              <a:rPr lang="ru-RU" sz="2800" dirty="0">
                <a:solidFill>
                  <a:schemeClr val="tx1"/>
                </a:solidFill>
              </a:rPr>
              <a:t>и его архитектуру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1"/>
                </a:solidFill>
              </a:rPr>
              <a:t>Реализовать </a:t>
            </a:r>
            <a:r>
              <a:rPr lang="en-US" sz="2800" dirty="0">
                <a:solidFill>
                  <a:schemeClr val="tx1"/>
                </a:solidFill>
              </a:rPr>
              <a:t>index-scan </a:t>
            </a:r>
            <a:r>
              <a:rPr lang="ru-RU" sz="2800" dirty="0">
                <a:solidFill>
                  <a:schemeClr val="tx1"/>
                </a:solidFill>
              </a:rPr>
              <a:t>и внедрить его через новый </a:t>
            </a:r>
            <a:r>
              <a:rPr lang="en-US" sz="2800" dirty="0">
                <a:solidFill>
                  <a:schemeClr val="tx1"/>
                </a:solidFill>
              </a:rPr>
              <a:t>executor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3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999E94B-574B-F990-9EDF-B1225C29B168}"/>
              </a:ext>
            </a:extLst>
          </p:cNvPr>
          <p:cNvSpPr/>
          <p:nvPr/>
        </p:nvSpPr>
        <p:spPr>
          <a:xfrm>
            <a:off x="1143000" y="170271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7E9590F-75CE-4710-16DC-BBB54944ED56}"/>
              </a:ext>
            </a:extLst>
          </p:cNvPr>
          <p:cNvSpPr/>
          <p:nvPr/>
        </p:nvSpPr>
        <p:spPr>
          <a:xfrm>
            <a:off x="1143000" y="201703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5FE0AF7-A9AE-9505-F988-4F9BB8820228}"/>
              </a:ext>
            </a:extLst>
          </p:cNvPr>
          <p:cNvSpPr/>
          <p:nvPr/>
        </p:nvSpPr>
        <p:spPr>
          <a:xfrm>
            <a:off x="1143000" y="2152578"/>
            <a:ext cx="3986451" cy="71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ru-RU" sz="2400" i="0" dirty="0">
                <a:effectLst/>
                <a:latin typeface="+mj-lt"/>
              </a:rPr>
              <a:t>Структура </a:t>
            </a:r>
            <a:r>
              <a:rPr lang="en-US" sz="2400" i="0" dirty="0">
                <a:effectLst/>
                <a:latin typeface="+mj-lt"/>
              </a:rPr>
              <a:t>hash-index </a:t>
            </a:r>
            <a:r>
              <a:rPr lang="ru-RU" sz="2400" i="0" dirty="0">
                <a:effectLst/>
                <a:latin typeface="+mj-lt"/>
              </a:rPr>
              <a:t>на диске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4DE43BC-180B-B94E-02AF-93564320991A}"/>
              </a:ext>
            </a:extLst>
          </p:cNvPr>
          <p:cNvSpPr/>
          <p:nvPr/>
        </p:nvSpPr>
        <p:spPr>
          <a:xfrm>
            <a:off x="6563439" y="163639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3BD12D2-2F73-7173-7F38-991CBCCF5B4E}"/>
              </a:ext>
            </a:extLst>
          </p:cNvPr>
          <p:cNvSpPr/>
          <p:nvPr/>
        </p:nvSpPr>
        <p:spPr>
          <a:xfrm>
            <a:off x="6563439" y="195072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1106300-7E32-5849-EC2C-B87D34A6540A}"/>
              </a:ext>
            </a:extLst>
          </p:cNvPr>
          <p:cNvSpPr/>
          <p:nvPr/>
        </p:nvSpPr>
        <p:spPr>
          <a:xfrm>
            <a:off x="1143000" y="325588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7F509C43-5E31-CDED-04DD-CD22847B0881}"/>
              </a:ext>
            </a:extLst>
          </p:cNvPr>
          <p:cNvSpPr/>
          <p:nvPr/>
        </p:nvSpPr>
        <p:spPr>
          <a:xfrm>
            <a:off x="1143000" y="357020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5BA821-CAAF-3A33-803A-61B3FC30A056}"/>
              </a:ext>
            </a:extLst>
          </p:cNvPr>
          <p:cNvSpPr/>
          <p:nvPr/>
        </p:nvSpPr>
        <p:spPr>
          <a:xfrm>
            <a:off x="6563439" y="318956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663BC8-B4C0-467A-ED08-4D4AB7FF8DE2}"/>
              </a:ext>
            </a:extLst>
          </p:cNvPr>
          <p:cNvSpPr/>
          <p:nvPr/>
        </p:nvSpPr>
        <p:spPr>
          <a:xfrm>
            <a:off x="6563439" y="350389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8B88F0-A2BC-A0A6-A5C8-A01ACB4A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466249"/>
            <a:ext cx="4320540" cy="767595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План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D2C34-EC56-F89E-336A-EFEBFE5A2DE7}"/>
              </a:ext>
            </a:extLst>
          </p:cNvPr>
          <p:cNvSpPr txBox="1"/>
          <p:nvPr/>
        </p:nvSpPr>
        <p:spPr>
          <a:xfrm>
            <a:off x="1143000" y="3816357"/>
            <a:ext cx="4742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i="0" dirty="0">
                <a:effectLst/>
                <a:latin typeface="+mj-lt"/>
              </a:rPr>
              <a:t>Lossy-index-s </a:t>
            </a:r>
            <a:r>
              <a:rPr lang="ru-RU" sz="2400" i="0" dirty="0">
                <a:effectLst/>
                <a:latin typeface="+mj-lt"/>
              </a:rPr>
              <a:t>и </a:t>
            </a:r>
            <a:r>
              <a:rPr lang="en-US" sz="2400" i="0" dirty="0">
                <a:effectLst/>
                <a:latin typeface="+mj-lt"/>
              </a:rPr>
              <a:t>recheck hash-index</a:t>
            </a:r>
            <a:endParaRPr lang="en" sz="2400" i="0" dirty="0">
              <a:effectLst/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70308D-2963-0A12-1975-8937F78D4BA6}"/>
              </a:ext>
            </a:extLst>
          </p:cNvPr>
          <p:cNvSpPr txBox="1"/>
          <p:nvPr/>
        </p:nvSpPr>
        <p:spPr>
          <a:xfrm>
            <a:off x="6489185" y="2123062"/>
            <a:ext cx="4474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i="0" dirty="0">
                <a:effectLst/>
                <a:latin typeface="+mj-lt"/>
              </a:rPr>
              <a:t>Алгоритмы операций </a:t>
            </a:r>
            <a:r>
              <a:rPr lang="en-US" sz="2400" i="0" dirty="0">
                <a:effectLst/>
                <a:latin typeface="+mj-lt"/>
              </a:rPr>
              <a:t>hash-index</a:t>
            </a:r>
            <a:endParaRPr lang="en" sz="2400" i="0" dirty="0">
              <a:effectLst/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95A802-05DE-9128-2C24-74C52676AB12}"/>
              </a:ext>
            </a:extLst>
          </p:cNvPr>
          <p:cNvSpPr txBox="1"/>
          <p:nvPr/>
        </p:nvSpPr>
        <p:spPr>
          <a:xfrm>
            <a:off x="6563439" y="3811577"/>
            <a:ext cx="4149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sz="2400" i="0" dirty="0" err="1">
                <a:effectLst/>
                <a:latin typeface="+mj-lt"/>
              </a:rPr>
              <a:t>IndexScanExecutor</a:t>
            </a:r>
            <a:endParaRPr lang="en" sz="240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168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679ED83-E690-5802-D95C-150D6F600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50" y="1584077"/>
            <a:ext cx="9988719" cy="431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4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326414" cy="71628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</a:rPr>
              <a:t>Повторение: Алгоритмы выполнения </a:t>
            </a:r>
            <a:r>
              <a:rPr lang="en" b="1" i="0" dirty="0">
                <a:solidFill>
                  <a:schemeClr val="tx1"/>
                </a:solidFill>
                <a:effectLst/>
              </a:rPr>
              <a:t>JOIN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7AFB8-59E2-5261-8599-C684B54E9DA7}"/>
              </a:ext>
            </a:extLst>
          </p:cNvPr>
          <p:cNvSpPr txBox="1"/>
          <p:nvPr/>
        </p:nvSpPr>
        <p:spPr>
          <a:xfrm>
            <a:off x="1119304" y="1894057"/>
            <a:ext cx="28561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b="1" i="0" dirty="0">
                <a:effectLst/>
                <a:latin typeface="-apple-system"/>
              </a:rPr>
              <a:t>Nested Loop Join</a:t>
            </a:r>
            <a:endParaRPr lang="ru-RU" b="1" i="0" dirty="0">
              <a:effectLst/>
              <a:latin typeface="-apple-system"/>
            </a:endParaRPr>
          </a:p>
          <a:p>
            <a:pPr algn="ctr"/>
            <a:r>
              <a:rPr lang="ru-RU" dirty="0"/>
              <a:t>перебирает каждую строку одной таблицы и сравнивает со всеми строками другой; прост, но медленно для больших наборов.</a:t>
            </a:r>
            <a:endParaRPr lang="ru-RU" b="0" i="0" dirty="0">
              <a:effectLst/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D3297-1DCA-FF45-B82B-CBCCE2A85A06}"/>
              </a:ext>
            </a:extLst>
          </p:cNvPr>
          <p:cNvSpPr txBox="1"/>
          <p:nvPr/>
        </p:nvSpPr>
        <p:spPr>
          <a:xfrm>
            <a:off x="8778335" y="1894057"/>
            <a:ext cx="30085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b="1" i="0" dirty="0">
                <a:effectLst/>
                <a:latin typeface="-apple-system"/>
              </a:rPr>
              <a:t>Hash Join</a:t>
            </a:r>
            <a:endParaRPr lang="ru-RU" b="1" i="0" dirty="0">
              <a:effectLst/>
              <a:latin typeface="-apple-system"/>
            </a:endParaRPr>
          </a:p>
          <a:p>
            <a:pPr algn="ctr"/>
            <a:r>
              <a:rPr lang="ru-RU" dirty="0"/>
              <a:t>строит хэш-таблицу для одной таблицы и ищет совпадения для другой; очень быстрый при достаточной памяти, но не работает для неравенств.</a:t>
            </a:r>
            <a:endParaRPr lang="ru-RU" b="0" i="0" dirty="0">
              <a:effectLst/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6AF67-3C68-055A-2F34-20F5595BCBFF}"/>
              </a:ext>
            </a:extLst>
          </p:cNvPr>
          <p:cNvSpPr txBox="1"/>
          <p:nvPr/>
        </p:nvSpPr>
        <p:spPr>
          <a:xfrm>
            <a:off x="4832325" y="1894057"/>
            <a:ext cx="3126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b="1" i="0" dirty="0">
                <a:effectLst/>
                <a:latin typeface="-apple-system"/>
              </a:rPr>
              <a:t>Sort-Merge Join</a:t>
            </a:r>
            <a:endParaRPr lang="ru-RU" b="1" i="0" dirty="0">
              <a:effectLst/>
              <a:latin typeface="-apple-system"/>
            </a:endParaRPr>
          </a:p>
          <a:p>
            <a:pPr algn="ctr"/>
            <a:r>
              <a:rPr lang="ru-RU" dirty="0"/>
              <a:t>сортирует обе таблицы по ключу и объединяет их одновременно; эффективен для больших и отсортированных данных, только для равенств.</a:t>
            </a:r>
            <a:endParaRPr lang="ru-RU" b="0" i="0" dirty="0">
              <a:effectLst/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61366-DA9E-93DD-798C-40F11EF37298}"/>
              </a:ext>
            </a:extLst>
          </p:cNvPr>
          <p:cNvSpPr txBox="1"/>
          <p:nvPr/>
        </p:nvSpPr>
        <p:spPr>
          <a:xfrm>
            <a:off x="1959723" y="5782127"/>
            <a:ext cx="8872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0" dirty="0">
                <a:effectLst/>
              </a:rPr>
              <a:t>Каждый из них делает одно и то же с точки зрения результата, но работает по-разному и имеет разную асимптотическую сложность и ресурсоёмкость.</a:t>
            </a:r>
            <a:endParaRPr lang="ru-RU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E2AC852-AEB4-A435-DC16-FDA42D5C8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38" y="4050629"/>
            <a:ext cx="1361636" cy="121154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8955BE-1D1C-AF5D-E7A5-C02BFB2B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048108"/>
            <a:ext cx="1361636" cy="11369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F9DC-C890-A6E5-D228-8DCD307B3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7737" y="4036910"/>
            <a:ext cx="14097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5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CC8745-A614-45AD-EDB1-0301C33E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43" y="1021459"/>
            <a:ext cx="10864148" cy="46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34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AA5B4-C586-9C61-B33F-509584F9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Идея хеш-индекса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0467B4-A296-6896-5EE7-66B2A753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41" y="2509580"/>
            <a:ext cx="10716356" cy="250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5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026" name="Picture 2" descr="T-ID (Tinkoff ID) — единый вход в приложения и на сайты партнеров">
            <a:extLst>
              <a:ext uri="{FF2B5EF4-FFF2-40B4-BE49-F238E27FC236}">
                <a16:creationId xmlns:a16="http://schemas.microsoft.com/office/drawing/2014/main" id="{FD23A594-597B-A39D-7543-FD1318A37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740" y="1584077"/>
            <a:ext cx="9204758" cy="483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33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Запущена авторизация T⁠-⁠ID для бизнеса">
            <a:extLst>
              <a:ext uri="{FF2B5EF4-FFF2-40B4-BE49-F238E27FC236}">
                <a16:creationId xmlns:a16="http://schemas.microsoft.com/office/drawing/2014/main" id="{3E0D0FA4-4D65-70AE-6694-1AE8E188B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698" y="1499017"/>
            <a:ext cx="9255719" cy="485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171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122" name="Picture 2" descr="Подключить T-ID (Tinkoff ID) | Идентификация ID на сайтах, сервисах и в  приложениях">
            <a:extLst>
              <a:ext uri="{FF2B5EF4-FFF2-40B4-BE49-F238E27FC236}">
                <a16:creationId xmlns:a16="http://schemas.microsoft.com/office/drawing/2014/main" id="{59BD9537-CA03-A21C-9777-4811BE39B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237" y="1584077"/>
            <a:ext cx="9601200" cy="504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04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F5E348-5C91-A0AF-BD70-1D95EEF34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495" y="2374751"/>
            <a:ext cx="8527010" cy="327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08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D18720-F1BD-4CD0-C001-B9537388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87" y="2223238"/>
            <a:ext cx="9366063" cy="339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2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648CE4-515C-DC2E-30B6-7A0C4357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55" y="2266212"/>
            <a:ext cx="9165265" cy="348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1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/>
              <a:t>TID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EEF5A2-73EC-8D9C-FD9B-916737176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94" y="2003055"/>
            <a:ext cx="8159388" cy="406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118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 err="1"/>
              <a:t>ctid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postgres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3480F2-579D-061D-951B-43B44FAE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17" y="1842237"/>
            <a:ext cx="8305249" cy="42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9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Колонка </a:t>
            </a:r>
            <a:r>
              <a:rPr lang="en-US" dirty="0" err="1"/>
              <a:t>ctid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 err="1"/>
              <a:t>postgres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3480F2-579D-061D-951B-43B44FAE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17" y="1842237"/>
            <a:ext cx="8305249" cy="42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82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Адресация в таблице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4A19B5-A811-5169-8382-8D82F74E0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2" y="2314206"/>
            <a:ext cx="9361311" cy="374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12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26641" name="Picture 17">
            <a:extLst>
              <a:ext uri="{FF2B5EF4-FFF2-40B4-BE49-F238E27FC236}">
                <a16:creationId xmlns:a16="http://schemas.microsoft.com/office/drawing/2014/main" id="{4D7126E1-EB1F-BFEE-418C-3998D1359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36" y="1801647"/>
            <a:ext cx="2817506" cy="325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42" name="Picture 18">
            <a:extLst>
              <a:ext uri="{FF2B5EF4-FFF2-40B4-BE49-F238E27FC236}">
                <a16:creationId xmlns:a16="http://schemas.microsoft.com/office/drawing/2014/main" id="{C681A7F4-CE61-6CA4-5BEE-695EA2E44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301" y="821806"/>
            <a:ext cx="5660839" cy="527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43" name="Picture 19">
            <a:extLst>
              <a:ext uri="{FF2B5EF4-FFF2-40B4-BE49-F238E27FC236}">
                <a16:creationId xmlns:a16="http://schemas.microsoft.com/office/drawing/2014/main" id="{B8A400B7-740E-9474-A47F-714470BB0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691" y="3110042"/>
            <a:ext cx="2365610" cy="31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130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A64B3246-2D92-519D-57DD-610FF417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268" y="1510105"/>
            <a:ext cx="7899046" cy="48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33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7E2CAA-687E-A76B-781F-AFF11DB30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670" y="1697074"/>
            <a:ext cx="8122660" cy="447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5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2A9E3A-F682-7768-B877-5BFB65DD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919" y="1584077"/>
            <a:ext cx="7772400" cy="496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02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CC3704-D883-AF34-68D7-C2A4A85ED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22" y="1660071"/>
            <a:ext cx="8670556" cy="49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47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562745-E4DD-7C7E-6A6C-0AB93132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26" y="1773865"/>
            <a:ext cx="10491985" cy="45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4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563" y="134471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03678F-09BF-F639-5A99-990A1DC7B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69" y="984249"/>
            <a:ext cx="1538068" cy="566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11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563" y="134471"/>
            <a:ext cx="9601200" cy="716280"/>
          </a:xfrm>
        </p:spPr>
        <p:txBody>
          <a:bodyPr/>
          <a:lstStyle/>
          <a:p>
            <a:r>
              <a:rPr lang="ru-RU" dirty="0"/>
              <a:t>Структура хеш-индекса на диске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D10EFF-9A4B-76C3-EFC6-269F78B71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445" y="850751"/>
            <a:ext cx="5825348" cy="57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28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Алгоритм поиска по хэшу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B8ABB9-7F01-5954-094A-4D299335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82" y="3253709"/>
            <a:ext cx="11211765" cy="141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97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Алгоритм вставки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521657-15B7-8470-04F3-9EC7B631E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300" y="1397169"/>
            <a:ext cx="6185638" cy="5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9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А что там в обычное </a:t>
            </a:r>
            <a:r>
              <a:rPr lang="ru-RU" dirty="0" err="1"/>
              <a:t>хэшмапе</a:t>
            </a:r>
            <a:r>
              <a:rPr lang="ru-RU" dirty="0"/>
              <a:t>?...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55DD43-8E13-19CE-2FF9-48EF7698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638" y="1440329"/>
            <a:ext cx="48895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94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Алгоритм вставки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23049-D3A8-85BB-5D08-F02DD3912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976" y="1403644"/>
            <a:ext cx="5773922" cy="510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9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 err="1"/>
              <a:t>Созжание</a:t>
            </a:r>
            <a:r>
              <a:rPr lang="ru-RU" dirty="0"/>
              <a:t> нового </a:t>
            </a:r>
            <a:r>
              <a:rPr lang="ru-RU" dirty="0" err="1"/>
              <a:t>бакета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14B7B3-43C8-0F09-FC2F-54959DDA6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439" y="1569181"/>
            <a:ext cx="7525897" cy="515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34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Алгоритм вставки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C240E7-BEA3-375E-4897-3A878E06C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71" y="1403644"/>
            <a:ext cx="8046233" cy="521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86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Раскол </a:t>
            </a:r>
            <a:r>
              <a:rPr lang="ru-RU" dirty="0" err="1"/>
              <a:t>бакета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BB2E8A-0CD0-ECA3-399B-78A9AC054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279" y="1403644"/>
            <a:ext cx="7631711" cy="508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82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Раскол </a:t>
            </a:r>
            <a:r>
              <a:rPr lang="ru-RU" dirty="0" err="1"/>
              <a:t>бакета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7A8BA8-64B5-260A-4288-CD0FE4CEB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00" y="2066616"/>
            <a:ext cx="9760913" cy="410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182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Раскол </a:t>
            </a:r>
            <a:r>
              <a:rPr lang="ru-RU" dirty="0" err="1"/>
              <a:t>бакета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D4910F-98BA-EAC4-902B-4D47952D7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8" y="1587205"/>
            <a:ext cx="4635795" cy="198335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3349F88-8159-126C-C3E9-18C1297D5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454" y="2468500"/>
            <a:ext cx="6826546" cy="42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24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en-US" dirty="0" err="1"/>
              <a:t>Highmask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Lowmask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0B26E1-4346-67FD-74BB-E0E559489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72" y="2512977"/>
            <a:ext cx="10137672" cy="305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58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790" y="3070860"/>
            <a:ext cx="7017489" cy="716280"/>
          </a:xfrm>
        </p:spPr>
        <p:txBody>
          <a:bodyPr>
            <a:normAutofit/>
          </a:bodyPr>
          <a:lstStyle/>
          <a:p>
            <a:r>
              <a:rPr lang="ru-RU" dirty="0"/>
              <a:t>Практикуемся на доске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8255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При добавлении новой корзины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6E7155-757C-4D6F-360A-6C5B0889D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77" y="2964859"/>
            <a:ext cx="10512337" cy="191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18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При добавлении новой корзины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B62DAD-B216-30C8-73C4-B2B51448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383" y="1854200"/>
            <a:ext cx="7101233" cy="431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591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Операции вставки и поиска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2DC454-EC2F-6D8D-DE47-D89146572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06" y="2957912"/>
            <a:ext cx="11392794" cy="20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61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Операция вставки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610862-6936-9C68-D4F1-CF7D57227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553" y="1613529"/>
            <a:ext cx="7772400" cy="455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29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Операция поиска по равенству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C7AC35-774A-EE83-1DDD-AF386EE6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96" y="3207635"/>
            <a:ext cx="10997774" cy="181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801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9601200" cy="716280"/>
          </a:xfrm>
        </p:spPr>
        <p:txBody>
          <a:bodyPr/>
          <a:lstStyle/>
          <a:p>
            <a:r>
              <a:rPr lang="ru-RU" dirty="0"/>
              <a:t>Операция поиска по равенству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F67825-8468-AC91-E946-8DF40E93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277" y="1424652"/>
            <a:ext cx="4947684" cy="529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217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10855841" cy="716280"/>
          </a:xfrm>
        </p:spPr>
        <p:txBody>
          <a:bodyPr>
            <a:normAutofit/>
          </a:bodyPr>
          <a:lstStyle/>
          <a:p>
            <a:r>
              <a:rPr lang="ru-RU" dirty="0"/>
              <a:t>Практика: Реализация </a:t>
            </a:r>
            <a:r>
              <a:rPr lang="en" dirty="0" err="1"/>
              <a:t>HashIndexMetaPage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60F8598-1284-5651-40A1-0CDE5113F816}"/>
              </a:ext>
            </a:extLst>
          </p:cNvPr>
          <p:cNvSpPr txBox="1">
            <a:spLocks/>
          </p:cNvSpPr>
          <p:nvPr/>
        </p:nvSpPr>
        <p:spPr>
          <a:xfrm>
            <a:off x="1336159" y="3710555"/>
            <a:ext cx="10855841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0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>
                <a:hlinkClick r:id="rId2"/>
              </a:rPr>
              <a:t>https://github.com/central-university-dev/cu-database-internals-practice/tree/lec7/prac1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162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10855841" cy="716280"/>
          </a:xfrm>
        </p:spPr>
        <p:txBody>
          <a:bodyPr>
            <a:normAutofit/>
          </a:bodyPr>
          <a:lstStyle/>
          <a:p>
            <a:r>
              <a:rPr lang="ru-RU" dirty="0"/>
              <a:t>Практика: Реализация </a:t>
            </a:r>
            <a:r>
              <a:rPr lang="en" dirty="0" err="1"/>
              <a:t>HashIndexPage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60F8598-1284-5651-40A1-0CDE5113F816}"/>
              </a:ext>
            </a:extLst>
          </p:cNvPr>
          <p:cNvSpPr txBox="1">
            <a:spLocks/>
          </p:cNvSpPr>
          <p:nvPr/>
        </p:nvSpPr>
        <p:spPr>
          <a:xfrm>
            <a:off x="1336159" y="3710555"/>
            <a:ext cx="10855841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0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>
                <a:hlinkClick r:id="rId2"/>
              </a:rPr>
              <a:t>https://github.com/central-university-dev/cu-database-internals-practice/tree/lec7/prac2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9463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96" y="687364"/>
            <a:ext cx="10855841" cy="716280"/>
          </a:xfrm>
        </p:spPr>
        <p:txBody>
          <a:bodyPr>
            <a:normAutofit/>
          </a:bodyPr>
          <a:lstStyle/>
          <a:p>
            <a:r>
              <a:rPr lang="ru-RU" dirty="0"/>
              <a:t>Практика: Реализация </a:t>
            </a:r>
            <a:r>
              <a:rPr lang="en" dirty="0"/>
              <a:t>insert() </a:t>
            </a:r>
            <a:r>
              <a:rPr lang="ru-RU" dirty="0"/>
              <a:t>и </a:t>
            </a:r>
            <a:r>
              <a:rPr lang="en" dirty="0"/>
              <a:t>search()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FDF5E-9EA6-F17A-5CD5-CAABF9FE7907}"/>
              </a:ext>
            </a:extLst>
          </p:cNvPr>
          <p:cNvSpPr txBox="1"/>
          <p:nvPr/>
        </p:nvSpPr>
        <p:spPr>
          <a:xfrm>
            <a:off x="5997388" y="1344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60F8598-1284-5651-40A1-0CDE5113F816}"/>
              </a:ext>
            </a:extLst>
          </p:cNvPr>
          <p:cNvSpPr txBox="1">
            <a:spLocks/>
          </p:cNvSpPr>
          <p:nvPr/>
        </p:nvSpPr>
        <p:spPr>
          <a:xfrm>
            <a:off x="1336159" y="3710555"/>
            <a:ext cx="10855841" cy="7162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0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dirty="0">
                <a:hlinkClick r:id="rId2"/>
              </a:rPr>
              <a:t>https://github.com/central-university-dev/cu-database-internals-practice/tree/lec7/prac3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444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7F59A3-643E-3AB7-9BC1-3FEEE8A9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3191"/>
            <a:ext cx="7772400" cy="3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50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7F59A3-643E-3AB7-9BC1-3FEEE8A91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3191"/>
            <a:ext cx="7772400" cy="34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72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Повторение </a:t>
            </a:r>
            <a:r>
              <a:rPr lang="en" dirty="0">
                <a:solidFill>
                  <a:schemeClr val="tx1"/>
                </a:solidFill>
                <a:effectLst/>
              </a:rPr>
              <a:t>Planner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2A127B-C4EF-4B72-729C-69B26E3AE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0" y="2387600"/>
            <a:ext cx="68707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17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9872505" cy="716280"/>
          </a:xfrm>
        </p:spPr>
        <p:txBody>
          <a:bodyPr>
            <a:normAutofit/>
          </a:bodyPr>
          <a:lstStyle/>
          <a:p>
            <a:r>
              <a:rPr lang="ru-RU" dirty="0"/>
              <a:t>Повторение</a:t>
            </a:r>
            <a:endParaRPr lang="ru-RU" sz="4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C84D2F-C742-7CED-8970-D322C11BA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94" y="2297524"/>
            <a:ext cx="10780047" cy="31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93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Повторение </a:t>
            </a:r>
            <a:r>
              <a:rPr lang="en" i="0" dirty="0">
                <a:solidFill>
                  <a:schemeClr val="tx1"/>
                </a:solidFill>
                <a:effectLst/>
              </a:rPr>
              <a:t>Planner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4C06AFC-2FA6-BFC5-FB3B-05A60C0EA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05" y="1494774"/>
            <a:ext cx="9102390" cy="443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90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r>
              <a:rPr lang="ru-RU" dirty="0"/>
              <a:t>Повторение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3762AD-DEC0-059C-F42C-C75BA0B6F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01" y="1668199"/>
            <a:ext cx="9601201" cy="48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1225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 </a:t>
            </a:r>
            <a:r>
              <a:rPr lang="en" i="0" dirty="0">
                <a:solidFill>
                  <a:schemeClr val="tx1"/>
                </a:solidFill>
                <a:effectLst/>
                <a:latin typeface="-apple-system"/>
              </a:rPr>
              <a:t>Optimizer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6225AB-4A35-358C-3B4A-1D061B20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2388577"/>
            <a:ext cx="72644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537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 </a:t>
            </a:r>
            <a:r>
              <a:rPr lang="e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PhysicalPlanNode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069985-41D8-3934-C1E7-9377B5CF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59" y="2059912"/>
            <a:ext cx="11036106" cy="394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475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DC887FE-4F3C-CF26-353A-B670C4AF7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A3D914-D8F8-A266-1054-00C53AEC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85" y="1688124"/>
            <a:ext cx="11275326" cy="456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8420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Повторение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384F41-FC39-3042-F8E3-3F57F83B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38" y="1402080"/>
            <a:ext cx="8629371" cy="525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201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Повторение </a:t>
            </a:r>
            <a:r>
              <a:rPr lang="en" i="0" dirty="0">
                <a:solidFill>
                  <a:schemeClr val="tx1"/>
                </a:solidFill>
                <a:effectLst/>
              </a:rPr>
              <a:t>Executor</a:t>
            </a:r>
            <a:r>
              <a:rPr lang="en-US" i="0" dirty="0">
                <a:solidFill>
                  <a:schemeClr val="tx1"/>
                </a:solidFill>
                <a:effectLst/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actory</a:t>
            </a:r>
            <a:endParaRPr lang="en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0413297-210A-AB11-1E54-DC8DD88E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487" y="2655276"/>
            <a:ext cx="8351313" cy="246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43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/>
          </a:bodyPr>
          <a:lstStyle/>
          <a:p>
            <a:pPr algn="l"/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Повторение </a:t>
            </a:r>
            <a:r>
              <a:rPr lang="en" i="0" dirty="0">
                <a:solidFill>
                  <a:schemeClr val="tx1"/>
                </a:solidFill>
                <a:effectLst/>
              </a:rPr>
              <a:t>Executor</a:t>
            </a:r>
            <a:r>
              <a:rPr lang="en-US" i="0" dirty="0">
                <a:solidFill>
                  <a:schemeClr val="tx1"/>
                </a:solidFill>
                <a:effectLst/>
              </a:rPr>
              <a:t>F</a:t>
            </a:r>
            <a:r>
              <a:rPr lang="en-US" dirty="0">
                <a:solidFill>
                  <a:schemeClr val="tx1"/>
                </a:solidFill>
              </a:rPr>
              <a:t>actory</a:t>
            </a:r>
            <a:endParaRPr lang="en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D1B791-9919-5AD8-0DD4-3ECC4F42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36" y="2500042"/>
            <a:ext cx="8856651" cy="330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510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/>
              <a:t>Executors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12220-2CF9-F0D7-6019-5111411DDD52}"/>
              </a:ext>
            </a:extLst>
          </p:cNvPr>
          <p:cNvSpPr txBox="1"/>
          <p:nvPr/>
        </p:nvSpPr>
        <p:spPr>
          <a:xfrm>
            <a:off x="1371599" y="2113560"/>
            <a:ext cx="95993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Каждый исполнитель (</a:t>
            </a:r>
            <a:r>
              <a:rPr lang="ru-RU" sz="2500" dirty="0" err="1"/>
              <a:t>Executor</a:t>
            </a:r>
            <a:r>
              <a:rPr lang="ru-RU" sz="2500" dirty="0"/>
              <a:t>) реализует </a:t>
            </a:r>
            <a:r>
              <a:rPr lang="ru-RU" sz="2500" dirty="0" err="1"/>
              <a:t>итераторный</a:t>
            </a:r>
            <a:r>
              <a:rPr lang="ru-RU" sz="2500" dirty="0"/>
              <a:t> интерфейс: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750913-1540-B47A-38C5-B991DB71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3298767"/>
            <a:ext cx="9227375" cy="193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37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96E2B6-60FF-EA5B-A3AD-860BBE5DAB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4936" t="-612" r="34936" b="612"/>
          <a:stretch/>
        </p:blipFill>
        <p:spPr>
          <a:xfrm>
            <a:off x="-1319051" y="1712967"/>
            <a:ext cx="10740208" cy="343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64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796E2B6-60FF-EA5B-A3AD-860BBE5DAB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4936" t="-612" r="34936" b="612"/>
          <a:stretch/>
        </p:blipFill>
        <p:spPr>
          <a:xfrm>
            <a:off x="-1319051" y="1712967"/>
            <a:ext cx="10740208" cy="343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87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0A8AC6-84FA-14A7-C94B-156D4E45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49" y="2493580"/>
            <a:ext cx="7048500" cy="2057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281C7F-3816-EED0-41BB-DBC4914555DE}"/>
              </a:ext>
            </a:extLst>
          </p:cNvPr>
          <p:cNvSpPr txBox="1"/>
          <p:nvPr/>
        </p:nvSpPr>
        <p:spPr>
          <a:xfrm>
            <a:off x="3087412" y="1560787"/>
            <a:ext cx="60171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500" dirty="0"/>
              <a:t>SELECT name FROM users WHERE id = 42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22984641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736B6D-99AF-E1F1-E052-1E436114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271" y="1998716"/>
            <a:ext cx="7417458" cy="4470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31BD8-D849-4121-CFA7-1E93DE0D7A28}"/>
              </a:ext>
            </a:extLst>
          </p:cNvPr>
          <p:cNvSpPr txBox="1"/>
          <p:nvPr/>
        </p:nvSpPr>
        <p:spPr>
          <a:xfrm>
            <a:off x="2940267" y="751490"/>
            <a:ext cx="68644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Основная идея </a:t>
            </a:r>
            <a:r>
              <a:rPr lang="en-US" sz="2500" dirty="0" err="1"/>
              <a:t>IndexScanExecutor</a:t>
            </a:r>
            <a:r>
              <a:rPr lang="en-US" sz="2500" dirty="0"/>
              <a:t> </a:t>
            </a:r>
            <a:r>
              <a:rPr lang="ru-RU" sz="2500" dirty="0"/>
              <a:t>по </a:t>
            </a:r>
            <a:r>
              <a:rPr lang="en-US" sz="2500" dirty="0"/>
              <a:t>Volcano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725827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B31BD8-D849-4121-CFA7-1E93DE0D7A28}"/>
              </a:ext>
            </a:extLst>
          </p:cNvPr>
          <p:cNvSpPr txBox="1"/>
          <p:nvPr/>
        </p:nvSpPr>
        <p:spPr>
          <a:xfrm>
            <a:off x="2663769" y="719959"/>
            <a:ext cx="68644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Интеграция нового </a:t>
            </a:r>
            <a:r>
              <a:rPr lang="en-US" sz="2500" dirty="0" err="1"/>
              <a:t>IndexScanExecutor</a:t>
            </a:r>
            <a:r>
              <a:rPr lang="en-US" sz="2500" dirty="0"/>
              <a:t> </a:t>
            </a:r>
            <a:r>
              <a:rPr lang="ru-RU" sz="2500" dirty="0"/>
              <a:t>в цепочку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FC6F08-2927-6AD0-B1EF-7E83CD7AD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29407"/>
            <a:ext cx="7772400" cy="484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801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9997</TotalTime>
  <Words>381</Words>
  <Application>Microsoft Macintosh PowerPoint</Application>
  <PresentationFormat>Широкоэкранный</PresentationFormat>
  <Paragraphs>85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8" baseType="lpstr">
      <vt:lpstr>-apple-system</vt:lpstr>
      <vt:lpstr>-webkit-standard</vt:lpstr>
      <vt:lpstr>Arial</vt:lpstr>
      <vt:lpstr>Franklin Gothic Book</vt:lpstr>
      <vt:lpstr>Crop</vt:lpstr>
      <vt:lpstr>Hash‐index and Index Scan</vt:lpstr>
      <vt:lpstr>Цель занятия</vt:lpstr>
      <vt:lpstr>План занятия</vt:lpstr>
      <vt:lpstr>Повторение</vt:lpstr>
      <vt:lpstr>Повторение: Алгоритмы выполнения JOIN</vt:lpstr>
      <vt:lpstr>Презентация PowerPoint</vt:lpstr>
      <vt:lpstr>Идея хеш-индекса</vt:lpstr>
      <vt:lpstr>Колонка TID</vt:lpstr>
      <vt:lpstr>Колонка TID</vt:lpstr>
      <vt:lpstr>Колонка TID</vt:lpstr>
      <vt:lpstr>Колонка TID</vt:lpstr>
      <vt:lpstr>Колонка TID</vt:lpstr>
      <vt:lpstr>Колонка TID</vt:lpstr>
      <vt:lpstr>Колонка TID</vt:lpstr>
      <vt:lpstr>Колонка ctid в postgres</vt:lpstr>
      <vt:lpstr>Колонка ctid в postgres</vt:lpstr>
      <vt:lpstr>Адресация в таблице</vt:lpstr>
      <vt:lpstr>Повторение</vt:lpstr>
      <vt:lpstr>Повторение</vt:lpstr>
      <vt:lpstr>Структура хеш-индекса на диске</vt:lpstr>
      <vt:lpstr>Структура хеш-индекса на диске</vt:lpstr>
      <vt:lpstr>Структура хеш-индекса на диске</vt:lpstr>
      <vt:lpstr>Структура хеш-индекса на диске</vt:lpstr>
      <vt:lpstr>Структура хеш-индекса на диске</vt:lpstr>
      <vt:lpstr>Структура хеш-индекса на диске</vt:lpstr>
      <vt:lpstr>Алгоритм поиска по хэшу</vt:lpstr>
      <vt:lpstr>Алгоритм вставки</vt:lpstr>
      <vt:lpstr>А что там в обычное хэшмапе?...</vt:lpstr>
      <vt:lpstr>Алгоритм вставки</vt:lpstr>
      <vt:lpstr>Созжание нового бакета</vt:lpstr>
      <vt:lpstr>Алгоритм вставки</vt:lpstr>
      <vt:lpstr>Раскол бакета</vt:lpstr>
      <vt:lpstr>Раскол бакета</vt:lpstr>
      <vt:lpstr>Раскол бакета</vt:lpstr>
      <vt:lpstr>Highmask и Lowmask</vt:lpstr>
      <vt:lpstr>Практикуемся на доске</vt:lpstr>
      <vt:lpstr>При добавлении новой корзины</vt:lpstr>
      <vt:lpstr>При добавлении новой корзины</vt:lpstr>
      <vt:lpstr>Операции вставки и поиска</vt:lpstr>
      <vt:lpstr>Операция вставки</vt:lpstr>
      <vt:lpstr>Операция поиска по равенству</vt:lpstr>
      <vt:lpstr>Операция поиска по равенству</vt:lpstr>
      <vt:lpstr>Практика: Реализация HashIndexMetaPage</vt:lpstr>
      <vt:lpstr>Практика: Реализация HashIndexPage</vt:lpstr>
      <vt:lpstr>Практика: Реализация insert() и search()</vt:lpstr>
      <vt:lpstr>Повторение</vt:lpstr>
      <vt:lpstr>Повторение</vt:lpstr>
      <vt:lpstr>Повторение Planner</vt:lpstr>
      <vt:lpstr>Повторение</vt:lpstr>
      <vt:lpstr>Повторение Planner</vt:lpstr>
      <vt:lpstr>Повторение</vt:lpstr>
      <vt:lpstr>Повторение Optimizer</vt:lpstr>
      <vt:lpstr>Повторение PhysicalPlanNode</vt:lpstr>
      <vt:lpstr>Повторение</vt:lpstr>
      <vt:lpstr>Повторение</vt:lpstr>
      <vt:lpstr>Повторение ExecutorFactory</vt:lpstr>
      <vt:lpstr>Повторение ExecutorFactory</vt:lpstr>
      <vt:lpstr>Executors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Aleksey Shkel</cp:lastModifiedBy>
  <cp:revision>199</cp:revision>
  <dcterms:created xsi:type="dcterms:W3CDTF">2025-09-15T11:53:13Z</dcterms:created>
  <dcterms:modified xsi:type="dcterms:W3CDTF">2025-11-11T11:03:13Z</dcterms:modified>
</cp:coreProperties>
</file>